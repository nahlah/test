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4.svg" ContentType="image/svg+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1" r:id="rId1"/>
    <p:sldMasterId id="2147483708" r:id="rId2"/>
    <p:sldMasterId id="2147483713" r:id="rId3"/>
  </p:sldMasterIdLst>
  <p:notesMasterIdLst>
    <p:notesMasterId r:id="rId10"/>
  </p:notesMasterIdLst>
  <p:handoutMasterIdLst>
    <p:handoutMasterId r:id="rId11"/>
  </p:handoutMasterIdLst>
  <p:sldIdLst>
    <p:sldId id="528" r:id="rId4"/>
    <p:sldId id="538" r:id="rId5"/>
    <p:sldId id="539" r:id="rId18"/>
    <p:sldId id="540" r:id="rId19"/>
    <p:sldId id="541" r:id="rId20"/>
    <p:sldId id="542" r:id="rId21"/>
    <p:sldId id="543" r:id="rId22"/>
    <p:sldId id="544" r:id="rId23"/>
    <p:sldId id="545" r:id="rId24"/>
    <p:sldId id="546" r:id="rId25"/>
    <p:sldId id="367" r:id="rId9"/>
  </p:sldIdLst>
  <p:sldSz cx="12192000" cy="6858000"/>
  <p:notesSz cx="12192000" cy="6858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F30337A-B9F3-A276-BB6C-70E4EE651C05}" name="Lama Khoshaim" initials="LK" userId="8775e288c220f1a9"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u" initials="s" lastIdx="1" clrIdx="0">
    <p:extLst>
      <p:ext uri="{19B8F6BF-5375-455C-9EA6-DF929625EA0E}">
        <p15:presenceInfo xmlns:p15="http://schemas.microsoft.com/office/powerpoint/2012/main" userId="se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9BD5"/>
    <a:srgbClr val="CBCBCB"/>
    <a:srgbClr val="ED7D31"/>
    <a:srgbClr val="2FBEC5"/>
    <a:srgbClr val="D9D9D9"/>
    <a:srgbClr val="648EBF"/>
    <a:srgbClr val="A5A5A5"/>
    <a:srgbClr val="FFC000"/>
    <a:srgbClr val="4472C4"/>
    <a:srgbClr val="6FAD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30" autoAdjust="0"/>
    <p:restoredTop sz="87982" autoAdjust="0"/>
  </p:normalViewPr>
  <p:slideViewPr>
    <p:cSldViewPr>
      <p:cViewPr varScale="1">
        <p:scale>
          <a:sx n="98" d="100"/>
          <a:sy n="98" d="100"/>
        </p:scale>
        <p:origin x="600" y="184"/>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p:cViewPr varScale="1">
        <p:scale>
          <a:sx n="136" d="100"/>
          <a:sy n="136" d="100"/>
        </p:scale>
        <p:origin x="880" y="20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9" Type="http://schemas.openxmlformats.org/officeDocument/2006/relationships/slide" Target="slides/slide1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2E6863-BAD5-78BF-4C62-4FF59E3EBA07}"/>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SA"/>
          </a:p>
        </p:txBody>
      </p:sp>
      <p:sp>
        <p:nvSpPr>
          <p:cNvPr id="3" name="Date Placeholder 2">
            <a:extLst>
              <a:ext uri="{FF2B5EF4-FFF2-40B4-BE49-F238E27FC236}">
                <a16:creationId xmlns:a16="http://schemas.microsoft.com/office/drawing/2014/main" id="{BBF70E4D-A46D-40FC-97C8-193EE9CC9CBC}"/>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ECECE296-7976-724A-9BCA-FDACD69A0B1C}" type="datetimeFigureOut">
              <a:rPr lang="en-SA" smtClean="0"/>
              <a:t>26/10/2026 R</a:t>
            </a:fld>
            <a:endParaRPr lang="en-SA"/>
          </a:p>
        </p:txBody>
      </p:sp>
      <p:sp>
        <p:nvSpPr>
          <p:cNvPr id="4" name="Footer Placeholder 3">
            <a:extLst>
              <a:ext uri="{FF2B5EF4-FFF2-40B4-BE49-F238E27FC236}">
                <a16:creationId xmlns:a16="http://schemas.microsoft.com/office/drawing/2014/main" id="{8E8C0479-02D2-98A3-1A8D-B79E8B01889D}"/>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r>
              <a:rPr lang="ar-SA"/>
              <a:t>كلية الحوسبة</a:t>
            </a:r>
            <a:endParaRPr lang="en-SA"/>
          </a:p>
        </p:txBody>
      </p:sp>
      <p:sp>
        <p:nvSpPr>
          <p:cNvPr id="5" name="Slide Number Placeholder 4">
            <a:extLst>
              <a:ext uri="{FF2B5EF4-FFF2-40B4-BE49-F238E27FC236}">
                <a16:creationId xmlns:a16="http://schemas.microsoft.com/office/drawing/2014/main" id="{DFB252CB-AE50-98B4-66E4-2E604BAF298F}"/>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B7659499-D10F-DC49-85D8-9C9B1CF379C1}" type="slidenum">
              <a:rPr lang="en-SA" smtClean="0"/>
              <a:t>‹#›</a:t>
            </a:fld>
            <a:endParaRPr lang="en-SA"/>
          </a:p>
        </p:txBody>
      </p:sp>
    </p:spTree>
    <p:extLst>
      <p:ext uri="{BB962C8B-B14F-4D97-AF65-F5344CB8AC3E}">
        <p14:creationId xmlns:p14="http://schemas.microsoft.com/office/powerpoint/2010/main" val="56515497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BB2C17C-6E27-4E9B-9542-315ADBAC24AC}" type="datetimeFigureOut">
              <a:rPr lang="en-US" smtClean="0"/>
              <a:t>10/26/26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r>
              <a:rPr lang="ar-SA"/>
              <a:t>كلية الحوسبة</a:t>
            </a:r>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A2D4E40-AEA1-4AA2-B806-D6F5E3E17B11}" type="slidenum">
              <a:rPr lang="en-US" smtClean="0"/>
              <a:t>‹#›</a:t>
            </a:fld>
            <a:endParaRPr lang="en-US"/>
          </a:p>
        </p:txBody>
      </p:sp>
    </p:spTree>
    <p:extLst>
      <p:ext uri="{BB962C8B-B14F-4D97-AF65-F5344CB8AC3E}">
        <p14:creationId xmlns:p14="http://schemas.microsoft.com/office/powerpoint/2010/main" val="1780634026"/>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السلام عليكم ورحمة الله وبركاته، وأهلاً وسهلاً بكم جميعاً.</a:t>
            </a:r>
          </a:p>
          <a:p>
            <a:r>
              <a:t>أشكركم على حضوركم وعلى قبولكم المشاركة في لجنة الاعتماد البرامجي.</a:t>
            </a:r>
          </a:p>
          <a:p>
            <a:r>
              <a:t>هذا اجتماع قصير لا يتجاوز نصف ساعة، هدفه أن نتعرف على الخطة وطريقة العمل والأدوات التي سنستخدمها، قبل أن نبدأ فعلياً بجمع الأدلة الأسبوع القادم.</a:t>
            </a:r>
          </a:p>
          <a:p>
            <a:r>
              <a:t>ونعمل على ثلاثة برامج: بكالوريوس علوم الحاسب، وبكالوريوس علوم البيانات، وماجستير علوم البيانات.</a:t>
            </a:r>
          </a:p>
        </p:txBody>
      </p:sp>
      <p:sp>
        <p:nvSpPr>
          <p:cNvPr id="4" name="Slide Number Placeholder 3"/>
          <p:cNvSpPr>
            <a:spLocks noGrp="1"/>
          </p:cNvSpPr>
          <p:nvPr>
            <p:ph type="sldNum" sz="quarter" idx="5"/>
          </p:nvPr>
        </p:nvSpPr>
        <p:spPr/>
        <p:txBody>
          <a:bodyPr/>
          <a:lstStyle/>
          <a:p>
            <a:fld id="{1A2D4E40-AEA1-4AA2-B806-D6F5E3E17B11}" type="slidenum">
              <a:rPr lang="en-US" smtClean="0"/>
              <a:t>1</a:t>
            </a:fld>
            <a:endParaRPr lang="en-US" dirty="0"/>
          </a:p>
        </p:txBody>
      </p:sp>
      <p:sp>
        <p:nvSpPr>
          <p:cNvPr id="5" name="Footer Placeholder 4">
            <a:extLst>
              <a:ext uri="{FF2B5EF4-FFF2-40B4-BE49-F238E27FC236}">
                <a16:creationId xmlns:a16="http://schemas.microsoft.com/office/drawing/2014/main" id="{19E713F3-B7E3-B82A-F519-4BDD8AAF99D0}"/>
              </a:ext>
            </a:extLst>
          </p:cNvPr>
          <p:cNvSpPr>
            <a:spLocks noGrp="1"/>
          </p:cNvSpPr>
          <p:nvPr>
            <p:ph type="ftr" sz="quarter" idx="4"/>
          </p:nvPr>
        </p:nvSpPr>
        <p:spPr/>
        <p:txBody>
          <a:bodyPr/>
          <a:lstStyle/>
          <a:p>
            <a:r>
              <a:rPr lang="ar-SA"/>
              <a:t>كلية الحوسبة</a:t>
            </a:r>
            <a:endParaRPr lang="en-US"/>
          </a:p>
        </p:txBody>
      </p:sp>
    </p:spTree>
    <p:extLst>
      <p:ext uri="{BB962C8B-B14F-4D97-AF65-F5344CB8AC3E}">
        <p14:creationId xmlns:p14="http://schemas.microsoft.com/office/powerpoint/2010/main" val="3099050716"/>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لماذا نحن هنا؟</a:t>
            </a:r>
          </a:p>
          <a:p>
            <a:r>
              <a:t>نحن نبدأ رحلة الاعتماد البرامجي، وأول خطوة فيها أن نعرف بدقة أين يقف كل برنامج: ما الأدلة الموجودة، وما الناقص، وما الذي يحتاج تحسيناً.</a:t>
            </a:r>
          </a:p>
          <a:p>
            <a:r>
              <a:t>عندنا ثلاثة برامج، واللجنة من تسعة أعضاء، ومدة المرحلة الأولى ثمانية أسابيع، وسنفحص فيها ما يقارب ستمئة وأربعة وثلاثين دليلاً.</a:t>
            </a:r>
          </a:p>
          <a:p>
            <a:r>
              <a:t>الرقم كبير، لكنه موزع بشكل متوازن على الأعضاء، ومع أداة واضحة سيكون العمل منظماً وسهلاً بإذن الله.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صدر قرار تشكيل اللجنة من سعادة العميد.</a:t>
            </a:r>
          </a:p>
          <a:p>
            <a:r>
              <a:t>أنا بصفتي رئيسة اللجنة أتولى القيادة والمتابعة، وأراجع بنفسي كفاية أدلة المحكات الأساسية، لأنها الأكثر تأثيراً في قرار الاعتماد.</a:t>
            </a:r>
          </a:p>
          <a:p>
            <a:r>
              <a:t>الدكتورة عبير، رئيسة الجودة، تتابع متطلبات التقدم للاعتماد مع لجنة الجودة، مثل التوصيفات والتقارير السنوية ومؤشرات الأداء.</a:t>
            </a:r>
          </a:p>
          <a:p>
            <a:r>
              <a:t>الأستاذة فاطمة أمينة اللجنة، وهي التي تراجع الأدلة التي نرفعها أسبوعياً، وتتابع لوحة الإنجاز، وترسل لنا الرسالة الأسبوعية.</a:t>
            </a:r>
          </a:p>
          <a:p>
            <a:r>
              <a:t>والأعضاء الستة، كل عضو مسؤول عن معيار للبرامج الثلاثة، والتوزيع موجود في ملف العمل. والدكتور عبدالله البركاتي إضافة إلى معياره مسؤول عن نظام ترميز الأدلة وفهرستها.</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رحلة الاعتماد البرامجي تمر بأربع مراحل:</a:t>
            </a:r>
          </a:p>
          <a:p>
            <a:r>
              <a:t>الأولى توفير البنية الأساسية، ومخرجها فريق وخطة تنفيذ، وهذا ما نحن فيه الآن.</a:t>
            </a:r>
          </a:p>
          <a:p>
            <a:r>
              <a:t>الثانية مراجعة البرنامج الأكاديمي وتقويمه، مثل نواتج التعلم وأساليب التقييم، وجمع الأدلة وفق المعايير، ومخرجها برنامج مراجَع.</a:t>
            </a:r>
          </a:p>
          <a:p>
            <a:r>
              <a:t>الثالثة إعداد الأدلة وتنظيمها في مستودع مرمّز، ووضع خطة لاستكمال الناقص، ومخرجها مستودع أدلة مكتمل.</a:t>
            </a:r>
          </a:p>
          <a:p>
            <a:r>
              <a:t>والرابعة ترتيب زيارة فريق المراجعة، ومخرجها جاهزية كاملة للزيارة.</a:t>
            </a:r>
          </a:p>
          <a:p>
            <a:r>
              <a:t>هذه المراحل ليست منفصلة تماماً، فبعض خطواتها تسير معاً، وخطتنا تأخذ منها بشكل عملي كما سنرى الآن.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خطتنا العامة، وهي ثلاث مراحل.</a:t>
            </a:r>
          </a:p>
          <a:p>
            <a:r>
              <a:t>نحن الآن في المرحلة الأولى: تقييم الجاهزية وفحص الأدلة، ومدتها ثمانية أسابيع. مخرجها تقرير جاهزية لكل برنامج، وفهرس للأدلة، وخطة لاستكمال الناقص.</a:t>
            </a:r>
          </a:p>
          <a:p>
            <a:r>
              <a:t>بعدها المرحلة الثانية: إعداد الدراسة الذاتية واستكمال ملف الأدلة، ونبدأها عندما تصل البرامج لمستوى مناسب من الجاهزية.</a:t>
            </a:r>
          </a:p>
          <a:p>
            <a:r>
              <a:t>ثم المرحلة الثالثة: المراجعة النهائية والتقديم والاستعداد للزيارة.</a:t>
            </a:r>
          </a:p>
          <a:p>
            <a:r>
              <a:t>وبالتوازي معنا، القسم العلمي يراجع الجوانب الأكاديمية مثل الرسالة والأهداف ونواتج التعلم.</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الخطة التنفيذية للمرحلة الأولى، وهي ثمانية أسابيع بدأت يوم الأحد 25 أكتوبر.</a:t>
            </a:r>
          </a:p>
          <a:p>
            <a:r>
              <a:t>في الأسبوع الأول: اجتماعنا اليوم، والدكتور عبدالله يعتمد نظام ترميز الأدلة، وأنشئ أنا المستودع والملف المشترك وأعطي الصلاحيات.</a:t>
            </a:r>
          </a:p>
          <a:p>
            <a:r>
              <a:t>من الأسبوع الثاني إلى السادس: كل عضو يجمع أدلة معياره ويقيّمها، ويسجل الفجوات والإجراء المطلوب لكل دليل ناقص في الوقت نفسه. والأستاذة فاطمة تراجع ما يُرفع أسبوعياً.</a:t>
            </a:r>
          </a:p>
          <a:p>
            <a:r>
              <a:t>الدكتورة عبير تتابع متطلبات التقدم مع لجنة الجودة طوال الفترة، وتطلعنا على حالتها في الأسبوعين الرابع والسابع.</a:t>
            </a:r>
          </a:p>
          <a:p>
            <a:r>
              <a:t>في الأسبوع الرابع نجتمع في منتصف الخطة، وفي السادس أراجع كفاية أدلة المحكات الأساسية.</a:t>
            </a:r>
          </a:p>
          <a:p>
            <a:r>
              <a:t>في السابع نعتمد خطة الاستكمال، ويُعد الدكتور عبدالله فهرس الأدلة.</a:t>
            </a:r>
          </a:p>
          <a:p>
            <a:r>
              <a:t>وفي الثامن نُعد تقرير الجاهزية لكل برنامج ونعرضه على إدارة الكلية.</a:t>
            </a:r>
          </a:p>
          <a:p>
            <a:r>
              <a:t>وبالنسبة لمراجعة رسالة البرنامج وأهدافه، فهي من اختصاص القسم العلمي، وتسير بالتوازي مع عملنا. دورنا في اللجنة أن نتأكد من وجود أدلتها في المحك 1-1-1، مثل مصفوفة الاتساق والنشر على الموقع. وأي تحديث يعتمده القسم خلال فترة عملنا، نأخذ أحدث نسخة معتمدة منه في المستودع.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كيف نفحص الدليل؟ كل عضو يراجع أدلة معياره وفق خمسة بنود:</a:t>
            </a:r>
          </a:p>
          <a:p>
            <a:r>
              <a:t>أولاً، هل الدليل موجود؟ ثانياً، هل هو معتمد من الجهة المختصة؟ ثالثاً، هل هو حديث ويعكس الوضع الحالي؟ رابعاً، هل يغطي متطلبات المحك مباشرة؟ وخامساً، هل يثبت التطبيق الفعلي، وأن النتائج استُخدمت في التحسين؟ فلا يكفي وجود سياسة أو نموذج فقط.</a:t>
            </a:r>
          </a:p>
          <a:p>
            <a:r>
              <a:t>بعدها نختار حالة الدليل: متوفر ومكتمل إذا استوفى البنود، أو متوفر ويحتاج تحسين، أو غير متوفر.</a:t>
            </a:r>
          </a:p>
          <a:p>
            <a:r>
              <a:t>وإذا كان ناقصاً، نحدد نوع الفجوة بسؤال واحد: هل العمل يتم فعلاً؟ إذا كان يتم لكن الورقة ناقصة فهي فجوة توثيق، وعلاجها سريع. وإذا كان العمل لا يتم أو يتم جزئياً فهي فجوة تطبيق، وتحتاج وقتاً أطول.</a:t>
            </a:r>
          </a:p>
          <a:p>
            <a:r>
              <a:t>ومثال ذلك: إذا وُزعت استبانة رضا الطلاب ولا يوجد تقرير، فهي فجوة توثيق. وإذا لم تُوزع أصلاً، فهي فجوة تطبيق.</a:t>
            </a:r>
          </a:p>
          <a:p>
            <a:r>
              <a:t>وفي ملف العمل ورقة كاملة بأمثلة من المحكات للرجوع إليها.</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هذا ملف العمل، وسأشاركه معكم الآن على الشاشة.</a:t>
            </a:r>
          </a:p>
          <a:p>
            <a:r>
              <a:t>الأهم لكم أوراق الفحص الثلاث، ورقة لكل برنامج. كل عضو يصفّي عمود المسؤول على اسمه فتظهر أدلته فقط.</a:t>
            </a:r>
          </a:p>
          <a:p>
            <a:r>
              <a:t>لكل دليل يختار حالة الدليل، وإن كان ناقصاً يختار نوع الفجوة ويكتب الإجراء المطلوب والموعد، ويضع رابط الدليل في المستودع. والأولوية تظهر تلقائياً.</a:t>
            </a:r>
          </a:p>
          <a:p>
            <a:r>
              <a:t>إذا كان الدليل مكتملاً تتلون بقية الخانات بالرمادي، ولو كُتب فيها بالخطأ تتلون بالأحمر.</a:t>
            </a:r>
          </a:p>
          <a:p>
            <a:r>
              <a:t>لوحة المتابعة تتحدث تلقائياً مع كل إدخال، وورقة تقرير الأدلة تعرض قائمة الأدلة حسب البرنامج والحالة.</a:t>
            </a:r>
          </a:p>
          <a:p>
            <a:r>
              <a:t>وورقة أمثلة التصنيف أنصحكم بالاطلاع عليها قبل البدء.</a:t>
            </a:r>
          </a:p>
          <a:p>
            <a:r>
              <a:t>(الآن أعرض الملف وأوضح ورقة فحص واحدة كمثال.)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لن يكون عندنا اجتماع أسبوعي، حتى لا نثقل عليكم.</a:t>
            </a:r>
          </a:p>
          <a:p>
            <a:r>
              <a:t>المتابعة تتم بثلاث طرق: الملف المشترك الذي يعبّئه كل عضو مباشرة ولوحة المتابعة تعرض الإنجاز أولاً بأول.</a:t>
            </a:r>
          </a:p>
          <a:p>
            <a:r>
              <a:t>والرسالة الأسبوعية كل خميس من الأستاذة فاطمة، توضح نسبة الإنجاز لكل برنامج ومعالجة أي تحديات.</a:t>
            </a:r>
          </a:p>
          <a:p>
            <a:r>
              <a:t>وثلاثة اجتماعات فقط: اليوم، ثم في منتصف الخطة في الأسبوع الرابع، ثم لمناقشة الفجوات في الأسبوع السابع.</a:t>
            </a:r>
          </a:p>
          <a:p>
            <a:r>
              <a:t>ومن عنده أي استفسار أو تردد في دليل، يتواصل معي أو مع الأستاذة فاطمة مباشرة.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الخطوات القادمة:</a:t>
            </a:r>
          </a:p>
          <a:p>
            <a:r>
              <a:t>هذا الأسبوع ستصلكم روابط الملف المشترك والمستودع.</a:t>
            </a:r>
          </a:p>
          <a:p>
            <a:r>
              <a:t>أرجو من الجميع الاطلاع على آلية الفحص وورقة أمثلة التصنيف قبل البدء.</a:t>
            </a:r>
          </a:p>
          <a:p>
            <a:r>
              <a:t>الدكتور عبدالله يعتمد نظام ترميز الأدلة قبل نهاية الأسبوع، حتى نرفع كلنا بالطريقة نفسها.</a:t>
            </a:r>
          </a:p>
          <a:p>
            <a:r>
              <a:t>ومن الأسبوع الثاني نبدأ بجمع الأدلة وتقييمها.</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أشكركم مرة أخرى على تعاونكم وحضوركم، وأفتح المجال الآن لأسئلتكم واستفساراتكم.</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 Id="rId3"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4.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شريحة عنوان">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2D56E9C-EF51-3E43-A961-AB23B2B8D77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24356" y="-1323594"/>
            <a:ext cx="5867400" cy="5067300"/>
          </a:xfrm>
          <a:prstGeom prst="rect">
            <a:avLst/>
          </a:prstGeom>
        </p:spPr>
      </p:pic>
    </p:spTree>
    <p:extLst>
      <p:ext uri="{BB962C8B-B14F-4D97-AF65-F5344CB8AC3E}">
        <p14:creationId xmlns:p14="http://schemas.microsoft.com/office/powerpoint/2010/main" val="3654894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عنوان ومحتوى">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008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عنوان فقط">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1123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349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عنصر نائب للمحتوى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عنصر نائب للنص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عنصر نائب للتاريخ 4"/>
          <p:cNvSpPr>
            <a:spLocks noGrp="1"/>
          </p:cNvSpPr>
          <p:nvPr>
            <p:ph type="dt" sz="half" idx="10"/>
          </p:nvPr>
        </p:nvSpPr>
        <p:spPr>
          <a:xfrm>
            <a:off x="8610600" y="6356350"/>
            <a:ext cx="2743200" cy="365125"/>
          </a:xfrm>
          <a:prstGeom prst="rect">
            <a:avLst/>
          </a:prstGeom>
        </p:spPr>
        <p:txBody>
          <a:bodyPr/>
          <a:lstStyle/>
          <a:p>
            <a:endParaRPr lang="en-US"/>
          </a:p>
        </p:txBody>
      </p:sp>
      <p:sp>
        <p:nvSpPr>
          <p:cNvPr id="6" name="عنصر نائب للتذييل 5"/>
          <p:cNvSpPr>
            <a:spLocks noGrp="1"/>
          </p:cNvSpPr>
          <p:nvPr>
            <p:ph type="ftr" sz="quarter" idx="11"/>
          </p:nvPr>
        </p:nvSpPr>
        <p:spPr>
          <a:xfrm>
            <a:off x="4038600" y="6356350"/>
            <a:ext cx="4114800" cy="365125"/>
          </a:xfrm>
          <a:prstGeom prst="rect">
            <a:avLst/>
          </a:prstGeom>
        </p:spPr>
        <p:txBody>
          <a:bodyPr/>
          <a:lstStyle/>
          <a:p>
            <a:r>
              <a:rPr lang="ar-SA"/>
              <a:t>اجتماع سعادة العميد مع الطلبة</a:t>
            </a:r>
            <a:endParaRPr lang="x-none"/>
          </a:p>
        </p:txBody>
      </p:sp>
      <p:sp>
        <p:nvSpPr>
          <p:cNvPr id="7" name="عنصر نائب لرقم الشريحة 6"/>
          <p:cNvSpPr>
            <a:spLocks noGrp="1"/>
          </p:cNvSpPr>
          <p:nvPr>
            <p:ph type="sldNum" sz="quarter" idx="12"/>
          </p:nvPr>
        </p:nvSpPr>
        <p:spPr>
          <a:xfrm>
            <a:off x="838200" y="6356350"/>
            <a:ext cx="2743200" cy="365125"/>
          </a:xfrm>
          <a:prstGeom prst="rect">
            <a:avLst/>
          </a:prstGeom>
        </p:spPr>
        <p:txBody>
          <a:bodyPr/>
          <a:lstStyle/>
          <a:p>
            <a:fld id="{B6F15528-21DE-4FAA-801E-634DDDAF4B2B}" type="slidenum">
              <a:rPr lang="x-none" smtClean="0"/>
              <a:t>‹#›</a:t>
            </a:fld>
            <a:endParaRPr lang="x-none"/>
          </a:p>
        </p:txBody>
      </p:sp>
    </p:spTree>
    <p:extLst>
      <p:ext uri="{BB962C8B-B14F-4D97-AF65-F5344CB8AC3E}">
        <p14:creationId xmlns:p14="http://schemas.microsoft.com/office/powerpoint/2010/main" val="1908851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عنوان ونص عموديان">
    <p:spTree>
      <p:nvGrpSpPr>
        <p:cNvPr id="1" name=""/>
        <p:cNvGrpSpPr/>
        <p:nvPr/>
      </p:nvGrpSpPr>
      <p:grpSpPr>
        <a:xfrm>
          <a:off x="0" y="0"/>
          <a:ext cx="0" cy="0"/>
          <a:chOff x="0" y="0"/>
          <a:chExt cx="0" cy="0"/>
        </a:xfrm>
      </p:grpSpPr>
    </p:spTree>
    <p:extLst>
      <p:ext uri="{BB962C8B-B14F-4D97-AF65-F5344CB8AC3E}">
        <p14:creationId xmlns:p14="http://schemas.microsoft.com/office/powerpoint/2010/main" val="480534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13" name="رقم الشريحة"/>
          <p:cNvSpPr txBox="1">
            <a:spLocks noGrp="1"/>
          </p:cNvSpPr>
          <p:nvPr>
            <p:ph type="sldNum" sz="quarter" idx="2"/>
          </p:nvPr>
        </p:nvSpPr>
        <p:spPr>
          <a:prstGeom prst="rect">
            <a:avLst/>
          </a:prstGeom>
        </p:spPr>
        <p:txBody>
          <a:bodyPr/>
          <a:lstStyle/>
          <a:p>
            <a:fld id="{B6F15528-21DE-4FAA-801E-634DDDAF4B2B}" type="slidenum">
              <a:rPr lang="x-none" smtClean="0"/>
              <a:t>‹#›</a:t>
            </a:fld>
            <a:endParaRPr lang="x-none"/>
          </a:p>
        </p:txBody>
      </p:sp>
    </p:spTree>
    <p:extLst>
      <p:ext uri="{BB962C8B-B14F-4D97-AF65-F5344CB8AC3E}">
        <p14:creationId xmlns:p14="http://schemas.microsoft.com/office/powerpoint/2010/main" val="270277140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40" name="رقم الشريحة"/>
          <p:cNvSpPr txBox="1">
            <a:spLocks noGrp="1"/>
          </p:cNvSpPr>
          <p:nvPr>
            <p:ph type="sldNum" sz="quarter" idx="2"/>
          </p:nvPr>
        </p:nvSpPr>
        <p:spPr>
          <a:prstGeom prst="rect">
            <a:avLst/>
          </a:prstGeom>
        </p:spPr>
        <p:txBody>
          <a:bodyPr/>
          <a:lstStyle/>
          <a:p>
            <a:fld id="{B6F15528-21DE-4FAA-801E-634DDDAF4B2B}" type="slidenum">
              <a:rPr lang="x-none" smtClean="0"/>
              <a:t>‹#›</a:t>
            </a:fld>
            <a:endParaRPr lang="x-none"/>
          </a:p>
        </p:txBody>
      </p:sp>
    </p:spTree>
    <p:extLst>
      <p:ext uri="{BB962C8B-B14F-4D97-AF65-F5344CB8AC3E}">
        <p14:creationId xmlns:p14="http://schemas.microsoft.com/office/powerpoint/2010/main" val="14615318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رقم الشريحة"/>
          <p:cNvSpPr txBox="1">
            <a:spLocks noGrp="1"/>
          </p:cNvSpPr>
          <p:nvPr>
            <p:ph type="sldNum" sz="quarter" idx="2"/>
          </p:nvPr>
        </p:nvSpPr>
        <p:spPr>
          <a:prstGeom prst="rect">
            <a:avLst/>
          </a:prstGeom>
        </p:spPr>
        <p:txBody>
          <a:bodyPr/>
          <a:lstStyle/>
          <a:p>
            <a:fld id="{B6F15528-21DE-4FAA-801E-634DDDAF4B2B}" type="slidenum">
              <a:rPr lang="x-none" smtClean="0"/>
              <a:t>‹#›</a:t>
            </a:fld>
            <a:endParaRPr lang="x-none"/>
          </a:p>
        </p:txBody>
      </p:sp>
    </p:spTree>
    <p:extLst>
      <p:ext uri="{BB962C8B-B14F-4D97-AF65-F5344CB8AC3E}">
        <p14:creationId xmlns:p14="http://schemas.microsoft.com/office/powerpoint/2010/main" val="363554528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hre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F36F333-8170-B347-8E90-85681B44B80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224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نص العنوان"/>
          <p:cNvSpPr txBox="1">
            <a:spLocks noGrp="1"/>
          </p:cNvSpPr>
          <p:nvPr>
            <p:ph type="title"/>
          </p:nvPr>
        </p:nvSpPr>
        <p:spPr>
          <a:prstGeom prst="rect">
            <a:avLst/>
          </a:prstGeom>
        </p:spPr>
        <p:txBody>
          <a:bodyPr/>
          <a:lstStyle/>
          <a:p>
            <a:r>
              <a:rPr lang="en-US"/>
              <a:t>Click to edit Master title style</a:t>
            </a:r>
            <a:endParaRPr/>
          </a:p>
        </p:txBody>
      </p:sp>
      <p:sp>
        <p:nvSpPr>
          <p:cNvPr id="58" name="رقم الشريحة"/>
          <p:cNvSpPr txBox="1">
            <a:spLocks noGrp="1"/>
          </p:cNvSpPr>
          <p:nvPr>
            <p:ph type="sldNum" sz="quarter" idx="2"/>
          </p:nvPr>
        </p:nvSpPr>
        <p:spPr>
          <a:prstGeom prst="rect">
            <a:avLst/>
          </a:prstGeom>
        </p:spPr>
        <p:txBody>
          <a:bodyPr/>
          <a:lstStyle/>
          <a:p>
            <a:fld id="{B6F15528-21DE-4FAA-801E-634DDDAF4B2B}" type="slidenum">
              <a:rPr lang="x-none" smtClean="0"/>
              <a:t>‹#›</a:t>
            </a:fld>
            <a:endParaRPr lang="x-none"/>
          </a:p>
        </p:txBody>
      </p:sp>
    </p:spTree>
    <p:extLst>
      <p:ext uri="{BB962C8B-B14F-4D97-AF65-F5344CB8AC3E}">
        <p14:creationId xmlns:p14="http://schemas.microsoft.com/office/powerpoint/2010/main" val="3805566443"/>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1A322DD-AB22-2C4B-960A-C8FFB19EB520}"/>
              </a:ext>
            </a:extLst>
          </p:cNvPr>
          <p:cNvSpPr>
            <a:spLocks noGrp="1"/>
          </p:cNvSpPr>
          <p:nvPr>
            <p:ph type="sldNum" sz="quarter" idx="10"/>
          </p:nvPr>
        </p:nvSpPr>
        <p:spPr/>
        <p:txBody>
          <a:bodyPr/>
          <a:lstStyle/>
          <a:p>
            <a:fld id="{B6F15528-21DE-4FAA-801E-634DDDAF4B2B}" type="slidenum">
              <a:rPr lang="x-none" smtClean="0"/>
              <a:t>‹#›</a:t>
            </a:fld>
            <a:endParaRPr lang="x-none"/>
          </a:p>
        </p:txBody>
      </p:sp>
    </p:spTree>
    <p:extLst>
      <p:ext uri="{BB962C8B-B14F-4D97-AF65-F5344CB8AC3E}">
        <p14:creationId xmlns:p14="http://schemas.microsoft.com/office/powerpoint/2010/main" val="2830036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hree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7E12BDE-6603-C54D-BF2E-739298A74037}"/>
              </a:ext>
            </a:extLst>
          </p:cNvPr>
          <p:cNvSpPr>
            <a:spLocks noGrp="1"/>
          </p:cNvSpPr>
          <p:nvPr>
            <p:ph type="sldNum" sz="quarter" idx="10"/>
          </p:nvPr>
        </p:nvSpPr>
        <p:spPr>
          <a:xfrm>
            <a:off x="560886" y="6291107"/>
            <a:ext cx="825564" cy="338554"/>
          </a:xfrm>
          <a:prstGeom prst="rect">
            <a:avLst/>
          </a:prstGeom>
        </p:spPr>
        <p:txBody>
          <a:bodyPr/>
          <a:lstStyle/>
          <a:p>
            <a:fld id="{B6F15528-21DE-4FAA-801E-634DDDAF4B2B}" type="slidenum">
              <a:rPr lang="x-none" smtClean="0"/>
              <a:t>‹#›</a:t>
            </a:fld>
            <a:endParaRPr lang="x-none"/>
          </a:p>
        </p:txBody>
      </p:sp>
      <p:sp>
        <p:nvSpPr>
          <p:cNvPr id="9" name="Title 8">
            <a:extLst>
              <a:ext uri="{FF2B5EF4-FFF2-40B4-BE49-F238E27FC236}">
                <a16:creationId xmlns:a16="http://schemas.microsoft.com/office/drawing/2014/main" id="{2F36F333-8170-B347-8E90-85681B44B80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8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13" name="رقم الشريحة"/>
          <p:cNvSpPr txBox="1">
            <a:spLocks noGrp="1"/>
          </p:cNvSpPr>
          <p:nvPr>
            <p:ph type="sldNum" sz="quarter" idx="2"/>
          </p:nvPr>
        </p:nvSpPr>
        <p:spPr>
          <a:xfrm>
            <a:off x="560886" y="6291107"/>
            <a:ext cx="825564" cy="338554"/>
          </a:xfrm>
          <a:prstGeom prst="rect">
            <a:avLst/>
          </a:prstGeom>
        </p:spPr>
        <p:txBody>
          <a:bodyPr/>
          <a:lstStyle/>
          <a:p>
            <a:fld id="{B21F84CC-E73A-5D4A-93F8-3E607D3338A7}" type="slidenum">
              <a:rPr lang="en-US" smtClean="0"/>
              <a:t>‹#›</a:t>
            </a:fld>
            <a:endParaRPr lang="en-US"/>
          </a:p>
        </p:txBody>
      </p:sp>
      <p:pic>
        <p:nvPicPr>
          <p:cNvPr id="3" name="Picture 2">
            <a:extLst>
              <a:ext uri="{FF2B5EF4-FFF2-40B4-BE49-F238E27FC236}">
                <a16:creationId xmlns:a16="http://schemas.microsoft.com/office/drawing/2014/main" id="{6EEFADBD-4E87-44F6-0DE8-8504C6DD067A}"/>
              </a:ext>
            </a:extLst>
          </p:cNvPr>
          <p:cNvPicPr>
            <a:picLocks noChangeAspect="1"/>
          </p:cNvPicPr>
          <p:nvPr userDrawn="1"/>
        </p:nvPicPr>
        <p:blipFill>
          <a:blip r:embed="rId2"/>
          <a:stretch>
            <a:fillRect/>
          </a:stretch>
        </p:blipFill>
        <p:spPr>
          <a:xfrm>
            <a:off x="9611294" y="270450"/>
            <a:ext cx="2290378" cy="1254255"/>
          </a:xfrm>
          <a:prstGeom prst="rect">
            <a:avLst/>
          </a:prstGeom>
        </p:spPr>
      </p:pic>
      <p:pic>
        <p:nvPicPr>
          <p:cNvPr id="4" name="Artboard 3@4x.png" descr="Artboard 3@4x.png">
            <a:extLst>
              <a:ext uri="{FF2B5EF4-FFF2-40B4-BE49-F238E27FC236}">
                <a16:creationId xmlns:a16="http://schemas.microsoft.com/office/drawing/2014/main" id="{32DE8623-E58B-8CFC-64AC-1AB495999329}"/>
              </a:ext>
            </a:extLst>
          </p:cNvPr>
          <p:cNvPicPr>
            <a:picLocks noChangeAspect="1"/>
          </p:cNvPicPr>
          <p:nvPr userDrawn="1"/>
        </p:nvPicPr>
        <p:blipFill>
          <a:blip r:embed="rId3"/>
          <a:stretch>
            <a:fillRect/>
          </a:stretch>
        </p:blipFill>
        <p:spPr>
          <a:xfrm>
            <a:off x="6293691" y="5773806"/>
            <a:ext cx="5989152" cy="1162477"/>
          </a:xfrm>
          <a:prstGeom prst="rect">
            <a:avLst/>
          </a:prstGeom>
          <a:ln w="12700">
            <a:miter lim="400000"/>
          </a:ln>
        </p:spPr>
      </p:pic>
      <p:sp>
        <p:nvSpPr>
          <p:cNvPr id="5" name="TextBox 4">
            <a:extLst>
              <a:ext uri="{FF2B5EF4-FFF2-40B4-BE49-F238E27FC236}">
                <a16:creationId xmlns:a16="http://schemas.microsoft.com/office/drawing/2014/main" id="{AD7CE4C4-5AEB-ABD0-2C17-FC9E90DCF1FC}"/>
              </a:ext>
            </a:extLst>
          </p:cNvPr>
          <p:cNvSpPr txBox="1"/>
          <p:nvPr userDrawn="1"/>
        </p:nvSpPr>
        <p:spPr>
          <a:xfrm>
            <a:off x="-685800" y="6334793"/>
            <a:ext cx="2851355" cy="400110"/>
          </a:xfrm>
          <a:prstGeom prst="rect">
            <a:avLst/>
          </a:prstGeom>
          <a:noFill/>
        </p:spPr>
        <p:txBody>
          <a:bodyPr wrap="square" rtlCol="0">
            <a:spAutoFit/>
          </a:bodyPr>
          <a:lstStyle/>
          <a:p>
            <a:pPr marL="0" algn="r" defTabSz="914400" rtl="1" eaLnBrk="1" latinLnBrk="0" hangingPunct="1"/>
            <a:r>
              <a:rPr lang="ar-SA" sz="2000" b="1" dirty="0">
                <a:solidFill>
                  <a:srgbClr val="067BC1"/>
                </a:solidFill>
                <a:latin typeface="Sakkal Majalla" panose="02000000000000000000" pitchFamily="2" charset="-78"/>
                <a:cs typeface="Sakkal Majalla" panose="02000000000000000000" pitchFamily="2" charset="-78"/>
              </a:rPr>
              <a:t>وحدة الخطط والبرامج </a:t>
            </a:r>
            <a:endParaRPr lang="en-US" sz="2000" b="1" dirty="0">
              <a:solidFill>
                <a:srgbClr val="067BC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86100457"/>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2609465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3243906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3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1911228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4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16855013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5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2404684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6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913490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7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44737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8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2486063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9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4211432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0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36869750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11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11111791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2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ar-SA"/>
              <a:t>اجتماع سعادة العميد مع الطلبة</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grpSp>
        <p:nvGrpSpPr>
          <p:cNvPr id="4" name="Group 3">
            <a:extLst>
              <a:ext uri="{FF2B5EF4-FFF2-40B4-BE49-F238E27FC236}">
                <a16:creationId xmlns:a16="http://schemas.microsoft.com/office/drawing/2014/main" id="{F02203AF-5221-2B4C-BD74-38354059AB19}"/>
              </a:ext>
            </a:extLst>
          </p:cNvPr>
          <p:cNvGrpSpPr/>
          <p:nvPr userDrawn="1"/>
        </p:nvGrpSpPr>
        <p:grpSpPr>
          <a:xfrm>
            <a:off x="0" y="106146"/>
            <a:ext cx="12033363" cy="6751851"/>
            <a:chOff x="0" y="106146"/>
            <a:chExt cx="12033363" cy="6751851"/>
          </a:xfrm>
        </p:grpSpPr>
        <p:pic>
          <p:nvPicPr>
            <p:cNvPr id="16" name="bg object 16"/>
            <p:cNvPicPr/>
            <p:nvPr userDrawn="1"/>
          </p:nvPicPr>
          <p:blipFill>
            <a:blip r:embed="rId2" cstate="print"/>
            <a:stretch>
              <a:fillRect/>
            </a:stretch>
          </p:blipFill>
          <p:spPr>
            <a:xfrm>
              <a:off x="5899433" y="6364785"/>
              <a:ext cx="6133930" cy="455686"/>
            </a:xfrm>
            <a:prstGeom prst="rect">
              <a:avLst/>
            </a:prstGeom>
          </p:spPr>
        </p:pic>
        <p:pic>
          <p:nvPicPr>
            <p:cNvPr id="17" name="bg object 17"/>
            <p:cNvPicPr/>
            <p:nvPr/>
          </p:nvPicPr>
          <p:blipFill>
            <a:blip r:embed="rId3" cstate="print"/>
            <a:stretch>
              <a:fillRect/>
            </a:stretch>
          </p:blipFill>
          <p:spPr>
            <a:xfrm>
              <a:off x="0" y="6102096"/>
              <a:ext cx="6492239" cy="755901"/>
            </a:xfrm>
            <a:prstGeom prst="rect">
              <a:avLst/>
            </a:prstGeom>
          </p:spPr>
        </p:pic>
        <p:pic>
          <p:nvPicPr>
            <p:cNvPr id="9" name="Picture 8">
              <a:extLst>
                <a:ext uri="{FF2B5EF4-FFF2-40B4-BE49-F238E27FC236}">
                  <a16:creationId xmlns:a16="http://schemas.microsoft.com/office/drawing/2014/main" id="{642710BB-F610-2340-A6C3-F46A29C7D3E9}"/>
                </a:ext>
              </a:extLst>
            </p:cNvPr>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9403" y="106146"/>
              <a:ext cx="2548942" cy="1471194"/>
            </a:xfrm>
            <a:prstGeom prst="rect">
              <a:avLst/>
            </a:prstGeom>
            <a:noFill/>
          </p:spPr>
        </p:pic>
      </p:grpSp>
    </p:spTree>
    <p:extLst>
      <p:ext uri="{BB962C8B-B14F-4D97-AF65-F5344CB8AC3E}">
        <p14:creationId xmlns:p14="http://schemas.microsoft.com/office/powerpoint/2010/main" val="216538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Title Slide">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68E6236-055D-B045-8E7C-ED9FDC0AEF08}"/>
              </a:ext>
            </a:extLst>
          </p:cNvPr>
          <p:cNvSpPr>
            <a:spLocks noGrp="1"/>
          </p:cNvSpPr>
          <p:nvPr>
            <p:ph type="sldNum" sz="quarter" idx="12"/>
          </p:nvPr>
        </p:nvSpPr>
        <p:spPr/>
        <p:txBody>
          <a:bodyPr/>
          <a:lstStyle/>
          <a:p>
            <a:fld id="{B21F84CC-E73A-5D4A-93F8-3E607D3338A7}" type="slidenum">
              <a:rPr lang="en-US" smtClean="0"/>
              <a:t>‹#›</a:t>
            </a:fld>
            <a:endParaRPr lang="en-US"/>
          </a:p>
        </p:txBody>
      </p:sp>
      <p:pic>
        <p:nvPicPr>
          <p:cNvPr id="12" name="Picture 11">
            <a:extLst>
              <a:ext uri="{FF2B5EF4-FFF2-40B4-BE49-F238E27FC236}">
                <a16:creationId xmlns:a16="http://schemas.microsoft.com/office/drawing/2014/main" id="{C9BAC7C2-8332-764E-85E0-F53560D72679}"/>
              </a:ext>
            </a:extLst>
          </p:cNvPr>
          <p:cNvPicPr>
            <a:picLocks noChangeAspect="1"/>
          </p:cNvPicPr>
          <p:nvPr userDrawn="1"/>
        </p:nvPicPr>
        <p:blipFill>
          <a:blip r:embed="rId2"/>
          <a:stretch>
            <a:fillRect/>
          </a:stretch>
        </p:blipFill>
        <p:spPr>
          <a:xfrm>
            <a:off x="9611294" y="270450"/>
            <a:ext cx="2290378" cy="1254255"/>
          </a:xfrm>
          <a:prstGeom prst="rect">
            <a:avLst/>
          </a:prstGeom>
        </p:spPr>
      </p:pic>
      <p:pic>
        <p:nvPicPr>
          <p:cNvPr id="7" name="Artboard 3@4x.png" descr="Artboard 3@4x.png">
            <a:extLst>
              <a:ext uri="{FF2B5EF4-FFF2-40B4-BE49-F238E27FC236}">
                <a16:creationId xmlns:a16="http://schemas.microsoft.com/office/drawing/2014/main" id="{BF621FA0-9436-024B-9720-C4E3FA3EB882}"/>
              </a:ext>
            </a:extLst>
          </p:cNvPr>
          <p:cNvPicPr>
            <a:picLocks noChangeAspect="1"/>
          </p:cNvPicPr>
          <p:nvPr userDrawn="1"/>
        </p:nvPicPr>
        <p:blipFill>
          <a:blip r:embed="rId3"/>
          <a:stretch>
            <a:fillRect/>
          </a:stretch>
        </p:blipFill>
        <p:spPr>
          <a:xfrm>
            <a:off x="6293691" y="5773806"/>
            <a:ext cx="5989152" cy="1162477"/>
          </a:xfrm>
          <a:prstGeom prst="rect">
            <a:avLst/>
          </a:prstGeom>
          <a:ln w="12700">
            <a:miter lim="400000"/>
          </a:ln>
        </p:spPr>
      </p:pic>
      <p:sp>
        <p:nvSpPr>
          <p:cNvPr id="9" name="TextBox 8">
            <a:extLst>
              <a:ext uri="{FF2B5EF4-FFF2-40B4-BE49-F238E27FC236}">
                <a16:creationId xmlns:a16="http://schemas.microsoft.com/office/drawing/2014/main" id="{AC0DF902-C042-BC49-B9C5-CE8A24D3741D}"/>
              </a:ext>
            </a:extLst>
          </p:cNvPr>
          <p:cNvSpPr txBox="1"/>
          <p:nvPr userDrawn="1"/>
        </p:nvSpPr>
        <p:spPr>
          <a:xfrm>
            <a:off x="-685800" y="6334793"/>
            <a:ext cx="2851355" cy="400110"/>
          </a:xfrm>
          <a:prstGeom prst="rect">
            <a:avLst/>
          </a:prstGeom>
          <a:noFill/>
        </p:spPr>
        <p:txBody>
          <a:bodyPr wrap="square" rtlCol="0">
            <a:spAutoFit/>
          </a:bodyPr>
          <a:lstStyle/>
          <a:p>
            <a:pPr marL="0" algn="r" defTabSz="914400" rtl="1" eaLnBrk="1" latinLnBrk="0" hangingPunct="1"/>
            <a:r>
              <a:rPr lang="ar-SA" sz="2000" b="1" dirty="0">
                <a:solidFill>
                  <a:srgbClr val="067BC1"/>
                </a:solidFill>
                <a:latin typeface="Sakkal Majalla" panose="02000000000000000000" pitchFamily="2" charset="-78"/>
                <a:cs typeface="Sakkal Majalla" panose="02000000000000000000" pitchFamily="2" charset="-78"/>
              </a:rPr>
              <a:t>وحدة الخطط والبرامج </a:t>
            </a:r>
            <a:endParaRPr lang="en-US" sz="2000" b="1" dirty="0">
              <a:solidFill>
                <a:srgbClr val="067BC1"/>
              </a:solidFill>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037504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شريحة عنوان">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6535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5E9F578-93F8-9A4F-B351-63DBFC71B59C}"/>
              </a:ext>
            </a:extLst>
          </p:cNvPr>
          <p:cNvGrpSpPr/>
          <p:nvPr/>
        </p:nvGrpSpPr>
        <p:grpSpPr>
          <a:xfrm>
            <a:off x="2146299" y="-228601"/>
            <a:ext cx="2032001" cy="7327901"/>
            <a:chOff x="995665" y="-260746"/>
            <a:chExt cx="2035805" cy="7850977"/>
          </a:xfrm>
        </p:grpSpPr>
        <p:pic>
          <p:nvPicPr>
            <p:cNvPr id="8" name="Picture 7">
              <a:extLst>
                <a:ext uri="{FF2B5EF4-FFF2-40B4-BE49-F238E27FC236}">
                  <a16:creationId xmlns:a16="http://schemas.microsoft.com/office/drawing/2014/main" id="{E91AA3D1-2AC2-444F-9D18-E03F748E4B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106" y="-260746"/>
              <a:ext cx="1964364" cy="4289823"/>
            </a:xfrm>
            <a:prstGeom prst="rect">
              <a:avLst/>
            </a:prstGeom>
          </p:spPr>
        </p:pic>
        <p:pic>
          <p:nvPicPr>
            <p:cNvPr id="9" name="Picture 8">
              <a:extLst>
                <a:ext uri="{FF2B5EF4-FFF2-40B4-BE49-F238E27FC236}">
                  <a16:creationId xmlns:a16="http://schemas.microsoft.com/office/drawing/2014/main" id="{C9E09854-12BC-0548-8764-FB3FE322B1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995665" y="3300408"/>
              <a:ext cx="1964364" cy="4289823"/>
            </a:xfrm>
            <a:prstGeom prst="rect">
              <a:avLst/>
            </a:prstGeom>
          </p:spPr>
        </p:pic>
      </p:grpSp>
      <p:pic>
        <p:nvPicPr>
          <p:cNvPr id="3" name="Picture 2">
            <a:extLst>
              <a:ext uri="{FF2B5EF4-FFF2-40B4-BE49-F238E27FC236}">
                <a16:creationId xmlns:a16="http://schemas.microsoft.com/office/drawing/2014/main" id="{3A9B93BF-C4D0-41FA-F37F-6C69901F3A4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84150028-2202-FC5C-B523-051CC4347B4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00074" y="192786"/>
            <a:ext cx="2717886" cy="1623822"/>
          </a:xfrm>
          <a:prstGeom prst="rect">
            <a:avLst/>
          </a:prstGeom>
        </p:spPr>
      </p:pic>
    </p:spTree>
    <p:extLst>
      <p:ext uri="{BB962C8B-B14F-4D97-AF65-F5344CB8AC3E}">
        <p14:creationId xmlns:p14="http://schemas.microsoft.com/office/powerpoint/2010/main" val="1077369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637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5E9F578-93F8-9A4F-B351-63DBFC71B59C}"/>
              </a:ext>
            </a:extLst>
          </p:cNvPr>
          <p:cNvGrpSpPr/>
          <p:nvPr/>
        </p:nvGrpSpPr>
        <p:grpSpPr>
          <a:xfrm>
            <a:off x="2146299" y="-228601"/>
            <a:ext cx="2032001" cy="7327901"/>
            <a:chOff x="995665" y="-260746"/>
            <a:chExt cx="2035805" cy="7850977"/>
          </a:xfrm>
        </p:grpSpPr>
        <p:pic>
          <p:nvPicPr>
            <p:cNvPr id="8" name="Picture 7">
              <a:extLst>
                <a:ext uri="{FF2B5EF4-FFF2-40B4-BE49-F238E27FC236}">
                  <a16:creationId xmlns:a16="http://schemas.microsoft.com/office/drawing/2014/main" id="{E91AA3D1-2AC2-444F-9D18-E03F748E4B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7106" y="-260746"/>
              <a:ext cx="1964364" cy="4289823"/>
            </a:xfrm>
            <a:prstGeom prst="rect">
              <a:avLst/>
            </a:prstGeom>
          </p:spPr>
        </p:pic>
        <p:pic>
          <p:nvPicPr>
            <p:cNvPr id="9" name="Picture 8">
              <a:extLst>
                <a:ext uri="{FF2B5EF4-FFF2-40B4-BE49-F238E27FC236}">
                  <a16:creationId xmlns:a16="http://schemas.microsoft.com/office/drawing/2014/main" id="{C9E09854-12BC-0548-8764-FB3FE322B1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995665" y="3300408"/>
              <a:ext cx="1964364" cy="4289823"/>
            </a:xfrm>
            <a:prstGeom prst="rect">
              <a:avLst/>
            </a:prstGeom>
          </p:spPr>
        </p:pic>
      </p:grpSp>
      <p:pic>
        <p:nvPicPr>
          <p:cNvPr id="3" name="Picture 2">
            <a:extLst>
              <a:ext uri="{FF2B5EF4-FFF2-40B4-BE49-F238E27FC236}">
                <a16:creationId xmlns:a16="http://schemas.microsoft.com/office/drawing/2014/main" id="{3A9B93BF-C4D0-41FA-F37F-6C69901F3A4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84150028-2202-FC5C-B523-051CC4347B4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00074" y="192786"/>
            <a:ext cx="2717886" cy="1623822"/>
          </a:xfrm>
          <a:prstGeom prst="rect">
            <a:avLst/>
          </a:prstGeom>
        </p:spPr>
      </p:pic>
    </p:spTree>
    <p:extLst>
      <p:ext uri="{BB962C8B-B14F-4D97-AF65-F5344CB8AC3E}">
        <p14:creationId xmlns:p14="http://schemas.microsoft.com/office/powerpoint/2010/main" val="36497018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F5F7B14-6017-6A4D-AD99-699A936C7ED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9823" y="2114550"/>
            <a:ext cx="3798153" cy="2269236"/>
          </a:xfrm>
          <a:prstGeom prst="rect">
            <a:avLst/>
          </a:prstGeom>
        </p:spPr>
      </p:pic>
    </p:spTree>
    <p:extLst>
      <p:ext uri="{BB962C8B-B14F-4D97-AF65-F5344CB8AC3E}">
        <p14:creationId xmlns:p14="http://schemas.microsoft.com/office/powerpoint/2010/main" val="341129651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321DD94-352C-734D-9CF9-62EB285F5D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2247" y="-260746"/>
            <a:ext cx="1964364" cy="4289823"/>
          </a:xfrm>
          <a:prstGeom prst="rect">
            <a:avLst/>
          </a:prstGeom>
        </p:spPr>
      </p:pic>
      <p:pic>
        <p:nvPicPr>
          <p:cNvPr id="12" name="Picture 11">
            <a:extLst>
              <a:ext uri="{FF2B5EF4-FFF2-40B4-BE49-F238E27FC236}">
                <a16:creationId xmlns:a16="http://schemas.microsoft.com/office/drawing/2014/main" id="{E5D12C6F-911A-1D4B-AAD7-2360DD657D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5150806" y="3300408"/>
            <a:ext cx="1964364" cy="4289823"/>
          </a:xfrm>
          <a:prstGeom prst="rect">
            <a:avLst/>
          </a:prstGeom>
        </p:spPr>
      </p:pic>
    </p:spTree>
    <p:extLst>
      <p:ext uri="{BB962C8B-B14F-4D97-AF65-F5344CB8AC3E}">
        <p14:creationId xmlns:p14="http://schemas.microsoft.com/office/powerpoint/2010/main" val="36067367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B02108-9B71-9947-D885-E3A792A34A5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329412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32CCEBF-1C50-4644-A4A1-E7FB36C7E5E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00074" y="192786"/>
            <a:ext cx="2717886" cy="1623822"/>
          </a:xfrm>
          <a:prstGeom prst="rect">
            <a:avLst/>
          </a:prstGeom>
        </p:spPr>
      </p:pic>
      <p:grpSp>
        <p:nvGrpSpPr>
          <p:cNvPr id="10" name="Group 9">
            <a:extLst>
              <a:ext uri="{FF2B5EF4-FFF2-40B4-BE49-F238E27FC236}">
                <a16:creationId xmlns:a16="http://schemas.microsoft.com/office/drawing/2014/main" id="{F5E9F578-93F8-9A4F-B351-63DBFC71B59C}"/>
              </a:ext>
            </a:extLst>
          </p:cNvPr>
          <p:cNvGrpSpPr/>
          <p:nvPr/>
        </p:nvGrpSpPr>
        <p:grpSpPr>
          <a:xfrm>
            <a:off x="1560443" y="-1"/>
            <a:ext cx="1837597" cy="7086601"/>
            <a:chOff x="995665" y="-260746"/>
            <a:chExt cx="2035805" cy="7850977"/>
          </a:xfrm>
        </p:grpSpPr>
        <p:pic>
          <p:nvPicPr>
            <p:cNvPr id="8" name="Picture 7">
              <a:extLst>
                <a:ext uri="{FF2B5EF4-FFF2-40B4-BE49-F238E27FC236}">
                  <a16:creationId xmlns:a16="http://schemas.microsoft.com/office/drawing/2014/main" id="{E91AA3D1-2AC2-444F-9D18-E03F748E4B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7106" y="-260746"/>
              <a:ext cx="1964364" cy="4289823"/>
            </a:xfrm>
            <a:prstGeom prst="rect">
              <a:avLst/>
            </a:prstGeom>
          </p:spPr>
        </p:pic>
        <p:pic>
          <p:nvPicPr>
            <p:cNvPr id="9" name="Picture 8">
              <a:extLst>
                <a:ext uri="{FF2B5EF4-FFF2-40B4-BE49-F238E27FC236}">
                  <a16:creationId xmlns:a16="http://schemas.microsoft.com/office/drawing/2014/main" id="{C9E09854-12BC-0548-8764-FB3FE322B1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0800000">
              <a:off x="995665" y="3300408"/>
              <a:ext cx="1964364" cy="4289823"/>
            </a:xfrm>
            <a:prstGeom prst="rect">
              <a:avLst/>
            </a:prstGeom>
          </p:spPr>
        </p:pic>
      </p:grpSp>
    </p:spTree>
    <p:extLst>
      <p:ext uri="{BB962C8B-B14F-4D97-AF65-F5344CB8AC3E}">
        <p14:creationId xmlns:p14="http://schemas.microsoft.com/office/powerpoint/2010/main" val="23063210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CF5F7B14-6017-6A4D-AD99-699A936C7ED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99823" y="2114550"/>
            <a:ext cx="3798153" cy="2269236"/>
          </a:xfrm>
          <a:prstGeom prst="rect">
            <a:avLst/>
          </a:prstGeom>
        </p:spPr>
      </p:pic>
    </p:spTree>
    <p:extLst>
      <p:ext uri="{BB962C8B-B14F-4D97-AF65-F5344CB8AC3E}">
        <p14:creationId xmlns:p14="http://schemas.microsoft.com/office/powerpoint/2010/main" val="40609772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DD93B0F-8A48-C644-89B9-034D8EC72D85}"/>
              </a:ext>
            </a:extLst>
          </p:cNvPr>
          <p:cNvGrpSpPr/>
          <p:nvPr/>
        </p:nvGrpSpPr>
        <p:grpSpPr>
          <a:xfrm>
            <a:off x="4813300" y="-215900"/>
            <a:ext cx="1890711" cy="7291427"/>
            <a:chOff x="5150806" y="-260746"/>
            <a:chExt cx="2035805" cy="7850977"/>
          </a:xfrm>
        </p:grpSpPr>
        <p:pic>
          <p:nvPicPr>
            <p:cNvPr id="11" name="Picture 10">
              <a:extLst>
                <a:ext uri="{FF2B5EF4-FFF2-40B4-BE49-F238E27FC236}">
                  <a16:creationId xmlns:a16="http://schemas.microsoft.com/office/drawing/2014/main" id="{E321DD94-352C-734D-9CF9-62EB285F5D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2247" y="-260746"/>
              <a:ext cx="1964364" cy="4289823"/>
            </a:xfrm>
            <a:prstGeom prst="rect">
              <a:avLst/>
            </a:prstGeom>
          </p:spPr>
        </p:pic>
        <p:pic>
          <p:nvPicPr>
            <p:cNvPr id="12" name="Picture 11">
              <a:extLst>
                <a:ext uri="{FF2B5EF4-FFF2-40B4-BE49-F238E27FC236}">
                  <a16:creationId xmlns:a16="http://schemas.microsoft.com/office/drawing/2014/main" id="{E5D12C6F-911A-1D4B-AAD7-2360DD657D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5150806" y="3300408"/>
              <a:ext cx="1964364" cy="4289823"/>
            </a:xfrm>
            <a:prstGeom prst="rect">
              <a:avLst/>
            </a:prstGeom>
          </p:spPr>
        </p:pic>
      </p:grpSp>
    </p:spTree>
    <p:extLst>
      <p:ext uri="{BB962C8B-B14F-4D97-AF65-F5344CB8AC3E}">
        <p14:creationId xmlns:p14="http://schemas.microsoft.com/office/powerpoint/2010/main" val="34157904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F11DD-6F1F-7F4F-B847-9F6114BDA09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59435063-09FF-D048-A267-9966AD05F352}"/>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D16DA-6B58-E148-A097-5A43BDADA26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AA650833-6BCB-4F4C-ABDF-1096474BEB1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87EBCE-A2B4-3546-982F-72862AB3018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563BEA37-027A-1842-A584-3BB334418114}"/>
              </a:ext>
            </a:extLst>
          </p:cNvPr>
          <p:cNvSpPr>
            <a:spLocks noGrp="1"/>
          </p:cNvSpPr>
          <p:nvPr>
            <p:ph type="dt" sz="half" idx="10"/>
          </p:nvPr>
        </p:nvSpPr>
        <p:spPr>
          <a:xfrm>
            <a:off x="838200" y="6356350"/>
            <a:ext cx="2743200" cy="365125"/>
          </a:xfrm>
          <a:prstGeom prst="rect">
            <a:avLst/>
          </a:prstGeom>
        </p:spPr>
        <p:txBody>
          <a:bodyPr/>
          <a:lstStyle/>
          <a:p>
            <a:endParaRPr lang="x-none"/>
          </a:p>
        </p:txBody>
      </p:sp>
      <p:sp>
        <p:nvSpPr>
          <p:cNvPr id="8" name="Footer Placeholder 7">
            <a:extLst>
              <a:ext uri="{FF2B5EF4-FFF2-40B4-BE49-F238E27FC236}">
                <a16:creationId xmlns:a16="http://schemas.microsoft.com/office/drawing/2014/main" id="{3BFE058E-2466-A049-9725-27806831881B}"/>
              </a:ext>
            </a:extLst>
          </p:cNvPr>
          <p:cNvSpPr>
            <a:spLocks noGrp="1"/>
          </p:cNvSpPr>
          <p:nvPr>
            <p:ph type="ftr" sz="quarter" idx="11"/>
          </p:nvPr>
        </p:nvSpPr>
        <p:spPr>
          <a:xfrm>
            <a:off x="4038600" y="6356350"/>
            <a:ext cx="4114800" cy="365125"/>
          </a:xfrm>
          <a:prstGeom prst="rect">
            <a:avLst/>
          </a:prstGeom>
        </p:spPr>
        <p:txBody>
          <a:bodyPr/>
          <a:lstStyle/>
          <a:p>
            <a:r>
              <a:rPr lang="ar-SA"/>
              <a:t>اجتماع سعادة العميد مع الطلبة</a:t>
            </a:r>
            <a:endParaRPr lang="x-none"/>
          </a:p>
        </p:txBody>
      </p:sp>
      <p:sp>
        <p:nvSpPr>
          <p:cNvPr id="9" name="Slide Number Placeholder 8">
            <a:extLst>
              <a:ext uri="{FF2B5EF4-FFF2-40B4-BE49-F238E27FC236}">
                <a16:creationId xmlns:a16="http://schemas.microsoft.com/office/drawing/2014/main" id="{FC3FFADD-ABCA-AD47-812A-8A69690DF035}"/>
              </a:ext>
            </a:extLst>
          </p:cNvPr>
          <p:cNvSpPr>
            <a:spLocks noGrp="1"/>
          </p:cNvSpPr>
          <p:nvPr>
            <p:ph type="sldNum" sz="quarter" idx="12"/>
          </p:nvPr>
        </p:nvSpPr>
        <p:spPr>
          <a:xfrm>
            <a:off x="8610600" y="6356350"/>
            <a:ext cx="2743200" cy="365125"/>
          </a:xfrm>
          <a:prstGeom prst="rect">
            <a:avLst/>
          </a:prstGeom>
        </p:spPr>
        <p:txBody>
          <a:bodyPr/>
          <a:lstStyle/>
          <a:p>
            <a:fld id="{6A182845-6665-1D40-B98C-1EB1DFADD285}" type="slidenum">
              <a:rPr lang="x-none" smtClean="0"/>
              <a:t>‹#›</a:t>
            </a:fld>
            <a:endParaRPr lang="x-none"/>
          </a:p>
        </p:txBody>
      </p:sp>
    </p:spTree>
    <p:extLst>
      <p:ext uri="{BB962C8B-B14F-4D97-AF65-F5344CB8AC3E}">
        <p14:creationId xmlns:p14="http://schemas.microsoft.com/office/powerpoint/2010/main" val="33848838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DDCC9-EDC5-9749-8D7F-91576B6F0DE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7B5AF465-E9B6-4A44-AA1B-20F2FED058EE}"/>
              </a:ext>
            </a:extLst>
          </p:cNvPr>
          <p:cNvSpPr>
            <a:spLocks noGrp="1"/>
          </p:cNvSpPr>
          <p:nvPr>
            <p:ph type="dt" sz="half" idx="10"/>
          </p:nvPr>
        </p:nvSpPr>
        <p:spPr>
          <a:xfrm>
            <a:off x="838200" y="6356350"/>
            <a:ext cx="2743200" cy="365125"/>
          </a:xfrm>
          <a:prstGeom prst="rect">
            <a:avLst/>
          </a:prstGeom>
        </p:spPr>
        <p:txBody>
          <a:bodyPr/>
          <a:lstStyle/>
          <a:p>
            <a:endParaRPr lang="x-none"/>
          </a:p>
        </p:txBody>
      </p:sp>
      <p:sp>
        <p:nvSpPr>
          <p:cNvPr id="4" name="Footer Placeholder 3">
            <a:extLst>
              <a:ext uri="{FF2B5EF4-FFF2-40B4-BE49-F238E27FC236}">
                <a16:creationId xmlns:a16="http://schemas.microsoft.com/office/drawing/2014/main" id="{4FDACF29-CD2F-2B4D-ABDB-C8362FAD2D9E}"/>
              </a:ext>
            </a:extLst>
          </p:cNvPr>
          <p:cNvSpPr>
            <a:spLocks noGrp="1"/>
          </p:cNvSpPr>
          <p:nvPr>
            <p:ph type="ftr" sz="quarter" idx="11"/>
          </p:nvPr>
        </p:nvSpPr>
        <p:spPr>
          <a:xfrm>
            <a:off x="4038600" y="6356350"/>
            <a:ext cx="4114800" cy="365125"/>
          </a:xfrm>
          <a:prstGeom prst="rect">
            <a:avLst/>
          </a:prstGeom>
        </p:spPr>
        <p:txBody>
          <a:bodyPr/>
          <a:lstStyle/>
          <a:p>
            <a:r>
              <a:rPr lang="ar-SA"/>
              <a:t>اجتماع سعادة العميد مع الطلبة</a:t>
            </a:r>
            <a:endParaRPr lang="x-none"/>
          </a:p>
        </p:txBody>
      </p:sp>
      <p:sp>
        <p:nvSpPr>
          <p:cNvPr id="5" name="Slide Number Placeholder 4">
            <a:extLst>
              <a:ext uri="{FF2B5EF4-FFF2-40B4-BE49-F238E27FC236}">
                <a16:creationId xmlns:a16="http://schemas.microsoft.com/office/drawing/2014/main" id="{2BDD1B29-DA57-C54F-B53D-F42D01281E1E}"/>
              </a:ext>
            </a:extLst>
          </p:cNvPr>
          <p:cNvSpPr>
            <a:spLocks noGrp="1"/>
          </p:cNvSpPr>
          <p:nvPr>
            <p:ph type="sldNum" sz="quarter" idx="12"/>
          </p:nvPr>
        </p:nvSpPr>
        <p:spPr>
          <a:xfrm>
            <a:off x="8610600" y="6356350"/>
            <a:ext cx="2743200" cy="365125"/>
          </a:xfrm>
          <a:prstGeom prst="rect">
            <a:avLst/>
          </a:prstGeom>
        </p:spPr>
        <p:txBody>
          <a:bodyPr/>
          <a:lstStyle/>
          <a:p>
            <a:fld id="{6A182845-6665-1D40-B98C-1EB1DFADD285}" type="slidenum">
              <a:rPr lang="x-none" smtClean="0"/>
              <a:t>‹#›</a:t>
            </a:fld>
            <a:endParaRPr lang="x-none"/>
          </a:p>
        </p:txBody>
      </p:sp>
    </p:spTree>
    <p:extLst>
      <p:ext uri="{BB962C8B-B14F-4D97-AF65-F5344CB8AC3E}">
        <p14:creationId xmlns:p14="http://schemas.microsoft.com/office/powerpoint/2010/main" val="19811255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FBF529-A88C-004C-97D5-E6AE1380141C}"/>
              </a:ext>
            </a:extLst>
          </p:cNvPr>
          <p:cNvSpPr>
            <a:spLocks noGrp="1"/>
          </p:cNvSpPr>
          <p:nvPr>
            <p:ph type="dt" sz="half" idx="10"/>
          </p:nvPr>
        </p:nvSpPr>
        <p:spPr>
          <a:xfrm>
            <a:off x="838200" y="6356350"/>
            <a:ext cx="2743200" cy="365125"/>
          </a:xfrm>
          <a:prstGeom prst="rect">
            <a:avLst/>
          </a:prstGeom>
        </p:spPr>
        <p:txBody>
          <a:bodyPr/>
          <a:lstStyle/>
          <a:p>
            <a:endParaRPr lang="x-none"/>
          </a:p>
        </p:txBody>
      </p:sp>
      <p:sp>
        <p:nvSpPr>
          <p:cNvPr id="3" name="Footer Placeholder 2">
            <a:extLst>
              <a:ext uri="{FF2B5EF4-FFF2-40B4-BE49-F238E27FC236}">
                <a16:creationId xmlns:a16="http://schemas.microsoft.com/office/drawing/2014/main" id="{14C29672-8EBA-6B40-9C36-4FCBFC1FDA01}"/>
              </a:ext>
            </a:extLst>
          </p:cNvPr>
          <p:cNvSpPr>
            <a:spLocks noGrp="1"/>
          </p:cNvSpPr>
          <p:nvPr>
            <p:ph type="ftr" sz="quarter" idx="11"/>
          </p:nvPr>
        </p:nvSpPr>
        <p:spPr>
          <a:xfrm>
            <a:off x="4038600" y="6356350"/>
            <a:ext cx="4114800" cy="365125"/>
          </a:xfrm>
          <a:prstGeom prst="rect">
            <a:avLst/>
          </a:prstGeom>
        </p:spPr>
        <p:txBody>
          <a:bodyPr/>
          <a:lstStyle/>
          <a:p>
            <a:r>
              <a:rPr lang="ar-SA"/>
              <a:t>اجتماع سعادة العميد مع الطلبة</a:t>
            </a:r>
            <a:endParaRPr lang="x-none"/>
          </a:p>
        </p:txBody>
      </p:sp>
      <p:sp>
        <p:nvSpPr>
          <p:cNvPr id="4" name="Slide Number Placeholder 3">
            <a:extLst>
              <a:ext uri="{FF2B5EF4-FFF2-40B4-BE49-F238E27FC236}">
                <a16:creationId xmlns:a16="http://schemas.microsoft.com/office/drawing/2014/main" id="{B055F0A8-D114-AD4A-8763-6E73F3884B86}"/>
              </a:ext>
            </a:extLst>
          </p:cNvPr>
          <p:cNvSpPr>
            <a:spLocks noGrp="1"/>
          </p:cNvSpPr>
          <p:nvPr>
            <p:ph type="sldNum" sz="quarter" idx="12"/>
          </p:nvPr>
        </p:nvSpPr>
        <p:spPr>
          <a:xfrm>
            <a:off x="8610600" y="6356350"/>
            <a:ext cx="2743200" cy="365125"/>
          </a:xfrm>
          <a:prstGeom prst="rect">
            <a:avLst/>
          </a:prstGeom>
        </p:spPr>
        <p:txBody>
          <a:bodyPr/>
          <a:lstStyle/>
          <a:p>
            <a:fld id="{6A182845-6665-1D40-B98C-1EB1DFADD285}" type="slidenum">
              <a:rPr lang="x-none" smtClean="0"/>
              <a:t>‹#›</a:t>
            </a:fld>
            <a:endParaRPr lang="x-none"/>
          </a:p>
        </p:txBody>
      </p:sp>
    </p:spTree>
    <p:extLst>
      <p:ext uri="{BB962C8B-B14F-4D97-AF65-F5344CB8AC3E}">
        <p14:creationId xmlns:p14="http://schemas.microsoft.com/office/powerpoint/2010/main" val="15951886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6B098-65FB-B54A-8B0B-54F1A785FDD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2729AEA6-3E45-3C4B-9065-F88A863735D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17FF3298-3BB1-2047-9FFE-2748C68124B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3EAFF9-4C9D-4948-8B79-E5CDC0B43EF0}"/>
              </a:ext>
            </a:extLst>
          </p:cNvPr>
          <p:cNvSpPr>
            <a:spLocks noGrp="1"/>
          </p:cNvSpPr>
          <p:nvPr>
            <p:ph type="dt" sz="half" idx="10"/>
          </p:nvPr>
        </p:nvSpPr>
        <p:spPr>
          <a:xfrm>
            <a:off x="838200" y="6356350"/>
            <a:ext cx="2743200" cy="365125"/>
          </a:xfrm>
          <a:prstGeom prst="rect">
            <a:avLst/>
          </a:prstGeom>
        </p:spPr>
        <p:txBody>
          <a:bodyPr/>
          <a:lstStyle/>
          <a:p>
            <a:endParaRPr lang="x-none"/>
          </a:p>
        </p:txBody>
      </p:sp>
      <p:sp>
        <p:nvSpPr>
          <p:cNvPr id="6" name="Footer Placeholder 5">
            <a:extLst>
              <a:ext uri="{FF2B5EF4-FFF2-40B4-BE49-F238E27FC236}">
                <a16:creationId xmlns:a16="http://schemas.microsoft.com/office/drawing/2014/main" id="{7FF1DF84-F670-A048-8E42-49B15EA95A53}"/>
              </a:ext>
            </a:extLst>
          </p:cNvPr>
          <p:cNvSpPr>
            <a:spLocks noGrp="1"/>
          </p:cNvSpPr>
          <p:nvPr>
            <p:ph type="ftr" sz="quarter" idx="11"/>
          </p:nvPr>
        </p:nvSpPr>
        <p:spPr>
          <a:xfrm>
            <a:off x="4038600" y="6356350"/>
            <a:ext cx="4114800" cy="365125"/>
          </a:xfrm>
          <a:prstGeom prst="rect">
            <a:avLst/>
          </a:prstGeom>
        </p:spPr>
        <p:txBody>
          <a:bodyPr/>
          <a:lstStyle/>
          <a:p>
            <a:r>
              <a:rPr lang="ar-SA"/>
              <a:t>اجتماع سعادة العميد مع الطلبة</a:t>
            </a:r>
            <a:endParaRPr lang="x-none"/>
          </a:p>
        </p:txBody>
      </p:sp>
      <p:sp>
        <p:nvSpPr>
          <p:cNvPr id="7" name="Slide Number Placeholder 6">
            <a:extLst>
              <a:ext uri="{FF2B5EF4-FFF2-40B4-BE49-F238E27FC236}">
                <a16:creationId xmlns:a16="http://schemas.microsoft.com/office/drawing/2014/main" id="{00950A16-3138-9249-8759-0073BEC9F319}"/>
              </a:ext>
            </a:extLst>
          </p:cNvPr>
          <p:cNvSpPr>
            <a:spLocks noGrp="1"/>
          </p:cNvSpPr>
          <p:nvPr>
            <p:ph type="sldNum" sz="quarter" idx="12"/>
          </p:nvPr>
        </p:nvSpPr>
        <p:spPr>
          <a:xfrm>
            <a:off x="8610600" y="6356350"/>
            <a:ext cx="2743200" cy="365125"/>
          </a:xfrm>
          <a:prstGeom prst="rect">
            <a:avLst/>
          </a:prstGeom>
        </p:spPr>
        <p:txBody>
          <a:bodyPr/>
          <a:lstStyle/>
          <a:p>
            <a:fld id="{6A182845-6665-1D40-B98C-1EB1DFADD285}" type="slidenum">
              <a:rPr lang="x-none" smtClean="0"/>
              <a:t>‹#›</a:t>
            </a:fld>
            <a:endParaRPr lang="x-none"/>
          </a:p>
        </p:txBody>
      </p:sp>
    </p:spTree>
    <p:extLst>
      <p:ext uri="{BB962C8B-B14F-4D97-AF65-F5344CB8AC3E}">
        <p14:creationId xmlns:p14="http://schemas.microsoft.com/office/powerpoint/2010/main" val="27776235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0B9BC-9024-4A42-B5EE-95E4F84B161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111C1A70-A246-FC47-A45B-F6A7EC47423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x-none"/>
          </a:p>
        </p:txBody>
      </p:sp>
      <p:sp>
        <p:nvSpPr>
          <p:cNvPr id="4" name="Text Placeholder 3">
            <a:extLst>
              <a:ext uri="{FF2B5EF4-FFF2-40B4-BE49-F238E27FC236}">
                <a16:creationId xmlns:a16="http://schemas.microsoft.com/office/drawing/2014/main" id="{290E8439-2C1F-7C4F-B742-DD2451844D4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07116D-A103-EA4F-90E6-685AE7EE7A5D}"/>
              </a:ext>
            </a:extLst>
          </p:cNvPr>
          <p:cNvSpPr>
            <a:spLocks noGrp="1"/>
          </p:cNvSpPr>
          <p:nvPr>
            <p:ph type="dt" sz="half" idx="10"/>
          </p:nvPr>
        </p:nvSpPr>
        <p:spPr>
          <a:xfrm>
            <a:off x="838200" y="6356350"/>
            <a:ext cx="2743200" cy="365125"/>
          </a:xfrm>
          <a:prstGeom prst="rect">
            <a:avLst/>
          </a:prstGeom>
        </p:spPr>
        <p:txBody>
          <a:bodyPr/>
          <a:lstStyle/>
          <a:p>
            <a:endParaRPr lang="x-none"/>
          </a:p>
        </p:txBody>
      </p:sp>
      <p:sp>
        <p:nvSpPr>
          <p:cNvPr id="6" name="Footer Placeholder 5">
            <a:extLst>
              <a:ext uri="{FF2B5EF4-FFF2-40B4-BE49-F238E27FC236}">
                <a16:creationId xmlns:a16="http://schemas.microsoft.com/office/drawing/2014/main" id="{AD89E5F9-2CF7-C14C-908C-ACC94AE0703C}"/>
              </a:ext>
            </a:extLst>
          </p:cNvPr>
          <p:cNvSpPr>
            <a:spLocks noGrp="1"/>
          </p:cNvSpPr>
          <p:nvPr>
            <p:ph type="ftr" sz="quarter" idx="11"/>
          </p:nvPr>
        </p:nvSpPr>
        <p:spPr>
          <a:xfrm>
            <a:off x="4038600" y="6356350"/>
            <a:ext cx="4114800" cy="365125"/>
          </a:xfrm>
          <a:prstGeom prst="rect">
            <a:avLst/>
          </a:prstGeom>
        </p:spPr>
        <p:txBody>
          <a:bodyPr/>
          <a:lstStyle/>
          <a:p>
            <a:r>
              <a:rPr lang="ar-SA"/>
              <a:t>اجتماع سعادة العميد مع الطلبة</a:t>
            </a:r>
            <a:endParaRPr lang="x-none"/>
          </a:p>
        </p:txBody>
      </p:sp>
      <p:sp>
        <p:nvSpPr>
          <p:cNvPr id="7" name="Slide Number Placeholder 6">
            <a:extLst>
              <a:ext uri="{FF2B5EF4-FFF2-40B4-BE49-F238E27FC236}">
                <a16:creationId xmlns:a16="http://schemas.microsoft.com/office/drawing/2014/main" id="{947E7D6C-A260-F440-B477-CC1A351C7BEE}"/>
              </a:ext>
            </a:extLst>
          </p:cNvPr>
          <p:cNvSpPr>
            <a:spLocks noGrp="1"/>
          </p:cNvSpPr>
          <p:nvPr>
            <p:ph type="sldNum" sz="quarter" idx="12"/>
          </p:nvPr>
        </p:nvSpPr>
        <p:spPr>
          <a:xfrm>
            <a:off x="8610600" y="6356350"/>
            <a:ext cx="2743200" cy="365125"/>
          </a:xfrm>
          <a:prstGeom prst="rect">
            <a:avLst/>
          </a:prstGeom>
        </p:spPr>
        <p:txBody>
          <a:bodyPr/>
          <a:lstStyle/>
          <a:p>
            <a:fld id="{6A182845-6665-1D40-B98C-1EB1DFADD285}" type="slidenum">
              <a:rPr lang="x-none" smtClean="0"/>
              <a:t>‹#›</a:t>
            </a:fld>
            <a:endParaRPr lang="x-none"/>
          </a:p>
        </p:txBody>
      </p:sp>
    </p:spTree>
    <p:extLst>
      <p:ext uri="{BB962C8B-B14F-4D97-AF65-F5344CB8AC3E}">
        <p14:creationId xmlns:p14="http://schemas.microsoft.com/office/powerpoint/2010/main" val="22823300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E3A31-8CD2-3042-93C0-AA62DB80095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70F979D5-051C-064C-AF8E-7D88F2FFBCBB}"/>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32B220C3-F70A-A347-9382-A1C92634FCF8}"/>
              </a:ext>
            </a:extLst>
          </p:cNvPr>
          <p:cNvSpPr>
            <a:spLocks noGrp="1"/>
          </p:cNvSpPr>
          <p:nvPr>
            <p:ph type="dt" sz="half" idx="10"/>
          </p:nvPr>
        </p:nvSpPr>
        <p:spPr>
          <a:xfrm>
            <a:off x="838200" y="6356350"/>
            <a:ext cx="2743200" cy="365125"/>
          </a:xfrm>
          <a:prstGeom prst="rect">
            <a:avLst/>
          </a:prstGeom>
        </p:spPr>
        <p:txBody>
          <a:bodyPr/>
          <a:lstStyle/>
          <a:p>
            <a:endParaRPr lang="x-none"/>
          </a:p>
        </p:txBody>
      </p:sp>
      <p:sp>
        <p:nvSpPr>
          <p:cNvPr id="5" name="Footer Placeholder 4">
            <a:extLst>
              <a:ext uri="{FF2B5EF4-FFF2-40B4-BE49-F238E27FC236}">
                <a16:creationId xmlns:a16="http://schemas.microsoft.com/office/drawing/2014/main" id="{76904441-9CFD-9F41-9270-C9AB56430BF4}"/>
              </a:ext>
            </a:extLst>
          </p:cNvPr>
          <p:cNvSpPr>
            <a:spLocks noGrp="1"/>
          </p:cNvSpPr>
          <p:nvPr>
            <p:ph type="ftr" sz="quarter" idx="11"/>
          </p:nvPr>
        </p:nvSpPr>
        <p:spPr>
          <a:xfrm>
            <a:off x="4038600" y="6356350"/>
            <a:ext cx="4114800" cy="365125"/>
          </a:xfrm>
          <a:prstGeom prst="rect">
            <a:avLst/>
          </a:prstGeom>
        </p:spPr>
        <p:txBody>
          <a:bodyPr/>
          <a:lstStyle/>
          <a:p>
            <a:r>
              <a:rPr lang="ar-SA"/>
              <a:t>اجتماع سعادة العميد مع الطلبة</a:t>
            </a:r>
            <a:endParaRPr lang="x-none"/>
          </a:p>
        </p:txBody>
      </p:sp>
      <p:sp>
        <p:nvSpPr>
          <p:cNvPr id="6" name="Slide Number Placeholder 5">
            <a:extLst>
              <a:ext uri="{FF2B5EF4-FFF2-40B4-BE49-F238E27FC236}">
                <a16:creationId xmlns:a16="http://schemas.microsoft.com/office/drawing/2014/main" id="{E7F41BB4-833A-C940-B802-89570C684CD9}"/>
              </a:ext>
            </a:extLst>
          </p:cNvPr>
          <p:cNvSpPr>
            <a:spLocks noGrp="1"/>
          </p:cNvSpPr>
          <p:nvPr>
            <p:ph type="sldNum" sz="quarter" idx="12"/>
          </p:nvPr>
        </p:nvSpPr>
        <p:spPr>
          <a:xfrm>
            <a:off x="8610600" y="6356350"/>
            <a:ext cx="2743200" cy="365125"/>
          </a:xfrm>
          <a:prstGeom prst="rect">
            <a:avLst/>
          </a:prstGeom>
        </p:spPr>
        <p:txBody>
          <a:bodyPr/>
          <a:lstStyle/>
          <a:p>
            <a:fld id="{6A182845-6665-1D40-B98C-1EB1DFADD285}" type="slidenum">
              <a:rPr lang="x-none" smtClean="0"/>
              <a:t>‹#›</a:t>
            </a:fld>
            <a:endParaRPr lang="x-none"/>
          </a:p>
        </p:txBody>
      </p:sp>
    </p:spTree>
    <p:extLst>
      <p:ext uri="{BB962C8B-B14F-4D97-AF65-F5344CB8AC3E}">
        <p14:creationId xmlns:p14="http://schemas.microsoft.com/office/powerpoint/2010/main" val="40711504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1BE8E-3A78-9443-936B-D93EA26FCA9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E2F0F51F-8B93-304D-992B-B249EAC4220B}"/>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7415DB44-F104-B947-BC6A-D348527B37C9}"/>
              </a:ext>
            </a:extLst>
          </p:cNvPr>
          <p:cNvSpPr>
            <a:spLocks noGrp="1"/>
          </p:cNvSpPr>
          <p:nvPr>
            <p:ph type="dt" sz="half" idx="10"/>
          </p:nvPr>
        </p:nvSpPr>
        <p:spPr>
          <a:xfrm>
            <a:off x="838200" y="6356350"/>
            <a:ext cx="2743200" cy="365125"/>
          </a:xfrm>
          <a:prstGeom prst="rect">
            <a:avLst/>
          </a:prstGeom>
        </p:spPr>
        <p:txBody>
          <a:bodyPr/>
          <a:lstStyle/>
          <a:p>
            <a:endParaRPr lang="x-none"/>
          </a:p>
        </p:txBody>
      </p:sp>
      <p:sp>
        <p:nvSpPr>
          <p:cNvPr id="5" name="Footer Placeholder 4">
            <a:extLst>
              <a:ext uri="{FF2B5EF4-FFF2-40B4-BE49-F238E27FC236}">
                <a16:creationId xmlns:a16="http://schemas.microsoft.com/office/drawing/2014/main" id="{82938547-4A6C-EC44-97BA-AD0D59089339}"/>
              </a:ext>
            </a:extLst>
          </p:cNvPr>
          <p:cNvSpPr>
            <a:spLocks noGrp="1"/>
          </p:cNvSpPr>
          <p:nvPr>
            <p:ph type="ftr" sz="quarter" idx="11"/>
          </p:nvPr>
        </p:nvSpPr>
        <p:spPr>
          <a:xfrm>
            <a:off x="4038600" y="6356350"/>
            <a:ext cx="4114800" cy="365125"/>
          </a:xfrm>
          <a:prstGeom prst="rect">
            <a:avLst/>
          </a:prstGeom>
        </p:spPr>
        <p:txBody>
          <a:bodyPr/>
          <a:lstStyle/>
          <a:p>
            <a:r>
              <a:rPr lang="ar-SA"/>
              <a:t>اجتماع سعادة العميد مع الطلبة</a:t>
            </a:r>
            <a:endParaRPr lang="x-none"/>
          </a:p>
        </p:txBody>
      </p:sp>
      <p:sp>
        <p:nvSpPr>
          <p:cNvPr id="6" name="Slide Number Placeholder 5">
            <a:extLst>
              <a:ext uri="{FF2B5EF4-FFF2-40B4-BE49-F238E27FC236}">
                <a16:creationId xmlns:a16="http://schemas.microsoft.com/office/drawing/2014/main" id="{44CF82BA-A51F-0244-B3A3-B938267E388F}"/>
              </a:ext>
            </a:extLst>
          </p:cNvPr>
          <p:cNvSpPr>
            <a:spLocks noGrp="1"/>
          </p:cNvSpPr>
          <p:nvPr>
            <p:ph type="sldNum" sz="quarter" idx="12"/>
          </p:nvPr>
        </p:nvSpPr>
        <p:spPr>
          <a:xfrm>
            <a:off x="8610600" y="6356350"/>
            <a:ext cx="2743200" cy="365125"/>
          </a:xfrm>
          <a:prstGeom prst="rect">
            <a:avLst/>
          </a:prstGeom>
        </p:spPr>
        <p:txBody>
          <a:bodyPr/>
          <a:lstStyle/>
          <a:p>
            <a:fld id="{6A182845-6665-1D40-B98C-1EB1DFADD285}" type="slidenum">
              <a:rPr lang="x-none" smtClean="0"/>
              <a:t>‹#›</a:t>
            </a:fld>
            <a:endParaRPr lang="x-none"/>
          </a:p>
        </p:txBody>
      </p:sp>
    </p:spTree>
    <p:extLst>
      <p:ext uri="{BB962C8B-B14F-4D97-AF65-F5344CB8AC3E}">
        <p14:creationId xmlns:p14="http://schemas.microsoft.com/office/powerpoint/2010/main" val="36313142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 Id="rId32" Type="http://schemas.openxmlformats.org/officeDocument/2006/relationships/image" Target="../media/image2.png"/><Relationship Id="rId33"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theme" Target="../theme/theme2.xml"/><Relationship Id="rId6" Type="http://schemas.openxmlformats.org/officeDocument/2006/relationships/image" Target="../media/image15.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theme" Target="../theme/theme3.xml"/><Relationship Id="rId13" Type="http://schemas.openxmlformats.org/officeDocument/2006/relationships/image" Target="../media/image1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5ABF4A3-5F9C-D94B-8511-A282F6AA1296}"/>
              </a:ext>
            </a:extLst>
          </p:cNvPr>
          <p:cNvPicPr>
            <a:picLocks noChangeAspect="1"/>
          </p:cNvPicPr>
          <p:nvPr/>
        </p:nvPicPr>
        <p:blipFill rotWithShape="1">
          <a:blip r:embed="rId31"/>
          <a:srcRect r="-18467"/>
          <a:stretch/>
        </p:blipFill>
        <p:spPr>
          <a:xfrm>
            <a:off x="10019863" y="6356131"/>
            <a:ext cx="2573572" cy="271129"/>
          </a:xfrm>
          <a:custGeom>
            <a:avLst/>
            <a:gdLst>
              <a:gd name="connsiteX0" fmla="*/ -254 w 2573572"/>
              <a:gd name="connsiteY0" fmla="*/ 6 h 271129"/>
              <a:gd name="connsiteX1" fmla="*/ 2573318 w 2573572"/>
              <a:gd name="connsiteY1" fmla="*/ 6 h 271129"/>
              <a:gd name="connsiteX2" fmla="*/ 2573318 w 2573572"/>
              <a:gd name="connsiteY2" fmla="*/ 271135 h 271129"/>
              <a:gd name="connsiteX3" fmla="*/ -254 w 2573572"/>
              <a:gd name="connsiteY3" fmla="*/ 271135 h 271129"/>
            </a:gdLst>
            <a:ahLst/>
            <a:cxnLst>
              <a:cxn ang="0">
                <a:pos x="connsiteX0" y="connsiteY0"/>
              </a:cxn>
              <a:cxn ang="0">
                <a:pos x="connsiteX1" y="connsiteY1"/>
              </a:cxn>
              <a:cxn ang="0">
                <a:pos x="connsiteX2" y="connsiteY2"/>
              </a:cxn>
              <a:cxn ang="0">
                <a:pos x="connsiteX3" y="connsiteY3"/>
              </a:cxn>
            </a:cxnLst>
            <a:rect l="l" t="t" r="r" b="b"/>
            <a:pathLst>
              <a:path w="2573572" h="271129">
                <a:moveTo>
                  <a:pt x="-254" y="6"/>
                </a:moveTo>
                <a:lnTo>
                  <a:pt x="2573318" y="6"/>
                </a:lnTo>
                <a:lnTo>
                  <a:pt x="2573318" y="271135"/>
                </a:lnTo>
                <a:lnTo>
                  <a:pt x="-254" y="271135"/>
                </a:lnTo>
                <a:close/>
              </a:path>
            </a:pathLst>
          </a:custGeom>
        </p:spPr>
      </p:pic>
      <p:pic>
        <p:nvPicPr>
          <p:cNvPr id="161" name="Graphic 160">
            <a:extLst>
              <a:ext uri="{FF2B5EF4-FFF2-40B4-BE49-F238E27FC236}">
                <a16:creationId xmlns:a16="http://schemas.microsoft.com/office/drawing/2014/main" id="{20A49CF8-5275-304F-8DB7-96F10654D4A8}"/>
              </a:ext>
            </a:extLst>
          </p:cNvPr>
          <p:cNvPicPr>
            <a:picLocks noChangeAspect="1"/>
          </p:cNvPicPr>
          <p:nvPr/>
        </p:nvPicPr>
        <p:blipFill>
          <a:blip r:embed="rId32" cstate="print">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381000" y="229986"/>
            <a:ext cx="1415347" cy="845610"/>
          </a:xfrm>
          <a:prstGeom prst="rect">
            <a:avLst/>
          </a:prstGeom>
        </p:spPr>
      </p:pic>
      <p:sp>
        <p:nvSpPr>
          <p:cNvPr id="165" name="Rectangle 164">
            <a:extLst>
              <a:ext uri="{FF2B5EF4-FFF2-40B4-BE49-F238E27FC236}">
                <a16:creationId xmlns:a16="http://schemas.microsoft.com/office/drawing/2014/main" id="{4741C8BF-8CC8-3F45-85A5-03DF739F593C}"/>
              </a:ext>
            </a:extLst>
          </p:cNvPr>
          <p:cNvSpPr/>
          <p:nvPr/>
        </p:nvSpPr>
        <p:spPr>
          <a:xfrm>
            <a:off x="-2857506" y="6367790"/>
            <a:ext cx="6667506" cy="261610"/>
          </a:xfrm>
          <a:prstGeom prst="rect">
            <a:avLst/>
          </a:prstGeom>
        </p:spPr>
        <p:txBody>
          <a:bodyPr wrap="square">
            <a:spAutoFit/>
          </a:bodyPr>
          <a:lstStyle/>
          <a:p>
            <a:pPr lvl="0" algn="r" eaLnBrk="1" hangingPunct="1"/>
            <a:r>
              <a:rPr lang="ar-SA" sz="1100" kern="1200" dirty="0">
                <a:solidFill>
                  <a:srgbClr val="5C2497"/>
                </a:solidFill>
                <a:latin typeface="Frutiger LT Arabic 55 Roman" pitchFamily="2" charset="-78"/>
                <a:ea typeface="+mn-ea"/>
                <a:cs typeface="Frutiger LT Arabic 55 Roman" pitchFamily="2" charset="-78"/>
              </a:rPr>
              <a:t>كلية الحوسبة والمعلوماتية </a:t>
            </a:r>
            <a:r>
              <a:rPr lang="ar-SA" sz="1100" kern="1200" dirty="0">
                <a:solidFill>
                  <a:srgbClr val="01AFB8"/>
                </a:solidFill>
                <a:latin typeface="Frutiger LT Arabic 55 Roman" pitchFamily="2" charset="-78"/>
                <a:ea typeface="+mn-ea"/>
                <a:cs typeface="Frutiger LT Arabic 55 Roman" pitchFamily="2" charset="-78"/>
              </a:rPr>
              <a:t>|| نبذة عن الكلية</a:t>
            </a:r>
            <a:endParaRPr lang="en-US" sz="1100" kern="1200" dirty="0">
              <a:solidFill>
                <a:srgbClr val="01AFB8"/>
              </a:solidFill>
              <a:latin typeface="Frutiger LT Arabic 55 Roman" pitchFamily="2" charset="-78"/>
              <a:ea typeface="+mn-ea"/>
              <a:cs typeface="Frutiger LT Arabic 55 Roman" pitchFamily="2" charset="-78"/>
              <a:sym typeface="FrutigerLTArabic-55Roman"/>
            </a:endParaRPr>
          </a:p>
        </p:txBody>
      </p:sp>
      <p:cxnSp>
        <p:nvCxnSpPr>
          <p:cNvPr id="167" name="Straight Connector 166">
            <a:extLst>
              <a:ext uri="{FF2B5EF4-FFF2-40B4-BE49-F238E27FC236}">
                <a16:creationId xmlns:a16="http://schemas.microsoft.com/office/drawing/2014/main" id="{B4725202-E92C-1640-A173-DF1D379CCB2E}"/>
              </a:ext>
            </a:extLst>
          </p:cNvPr>
          <p:cNvCxnSpPr>
            <a:cxnSpLocks/>
          </p:cNvCxnSpPr>
          <p:nvPr/>
        </p:nvCxnSpPr>
        <p:spPr>
          <a:xfrm flipH="1">
            <a:off x="3886200" y="6524665"/>
            <a:ext cx="5867400" cy="0"/>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69" name="Slide Number Placeholder 168">
            <a:extLst>
              <a:ext uri="{FF2B5EF4-FFF2-40B4-BE49-F238E27FC236}">
                <a16:creationId xmlns:a16="http://schemas.microsoft.com/office/drawing/2014/main" id="{4ABA96D7-47E9-684A-831B-3C36B38A1356}"/>
              </a:ext>
            </a:extLst>
          </p:cNvPr>
          <p:cNvSpPr>
            <a:spLocks noGrp="1"/>
          </p:cNvSpPr>
          <p:nvPr>
            <p:ph type="sldNum" sz="quarter" idx="4"/>
          </p:nvPr>
        </p:nvSpPr>
        <p:spPr>
          <a:xfrm>
            <a:off x="395844" y="6324610"/>
            <a:ext cx="825564" cy="400110"/>
          </a:xfrm>
          <a:prstGeom prst="rect">
            <a:avLst/>
          </a:prstGeom>
        </p:spPr>
        <p:txBody>
          <a:bodyPr wrap="square">
            <a:spAutoFit/>
          </a:bodyPr>
          <a:lstStyle>
            <a:lvl1pPr>
              <a:defRPr lang="x-none" sz="2000" b="1" i="0" smtClean="0">
                <a:solidFill>
                  <a:srgbClr val="93CDDD"/>
                </a:solidFill>
                <a:latin typeface="Frutiger LT Arabic 55 Roman" pitchFamily="2" charset="-78"/>
                <a:cs typeface="Frutiger LT Arabic 55 Roman" pitchFamily="2" charset="-78"/>
              </a:defRPr>
            </a:lvl1pPr>
          </a:lstStyle>
          <a:p>
            <a:fld id="{B6F15528-21DE-4FAA-801E-634DDDAF4B2B}" type="slidenum">
              <a:rPr lang="x-none" smtClean="0"/>
              <a:pPr/>
              <a:t>‹#›</a:t>
            </a:fld>
            <a:endParaRPr lang="x-none"/>
          </a:p>
        </p:txBody>
      </p:sp>
      <p:cxnSp>
        <p:nvCxnSpPr>
          <p:cNvPr id="19" name="Straight Connector 18">
            <a:extLst>
              <a:ext uri="{FF2B5EF4-FFF2-40B4-BE49-F238E27FC236}">
                <a16:creationId xmlns:a16="http://schemas.microsoft.com/office/drawing/2014/main" id="{215082A0-02A5-B0C6-1C78-25B4D6777D68}"/>
              </a:ext>
            </a:extLst>
          </p:cNvPr>
          <p:cNvCxnSpPr>
            <a:cxnSpLocks/>
          </p:cNvCxnSpPr>
          <p:nvPr userDrawn="1"/>
        </p:nvCxnSpPr>
        <p:spPr>
          <a:xfrm flipH="1">
            <a:off x="1981200" y="838200"/>
            <a:ext cx="9601200" cy="0"/>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527FD5-CE71-B6DF-E33E-DC169D3DA9F9}"/>
              </a:ext>
            </a:extLst>
          </p:cNvPr>
          <p:cNvSpPr txBox="1"/>
          <p:nvPr userDrawn="1">
            <p:extLst>
              <p:ext uri="{1162E1C5-73C7-4A58-AE30-91384D911F3F}">
                <p184:classification xmlns:p184="http://schemas.microsoft.com/office/powerpoint/2018/4/main" val="ftr"/>
              </p:ext>
            </p:extLst>
          </p:nvPr>
        </p:nvSpPr>
        <p:spPr>
          <a:xfrm>
            <a:off x="63500" y="6642100"/>
            <a:ext cx="877951" cy="152400"/>
          </a:xfrm>
          <a:prstGeom prst="rect">
            <a:avLst/>
          </a:prstGeom>
        </p:spPr>
        <p:txBody>
          <a:bodyPr horzOverflow="overflow" lIns="0" tIns="0" rIns="0" bIns="0">
            <a:spAutoFit/>
          </a:bodyPr>
          <a:lstStyle/>
          <a:p>
            <a:pPr algn="l"/>
            <a:r>
              <a:rPr lang="en-SA" sz="1000">
                <a:solidFill>
                  <a:srgbClr val="000000"/>
                </a:solidFill>
                <a:latin typeface="Calibri" panose="020F0502020204030204" pitchFamily="34" charset="0"/>
                <a:cs typeface="Calibri" panose="020F0502020204030204" pitchFamily="34" charset="0"/>
              </a:rPr>
              <a:t>Restricted - مقيد </a:t>
            </a:r>
          </a:p>
        </p:txBody>
      </p:sp>
    </p:spTree>
    <p:extLst>
      <p:ext uri="{BB962C8B-B14F-4D97-AF65-F5344CB8AC3E}">
        <p14:creationId xmlns:p14="http://schemas.microsoft.com/office/powerpoint/2010/main" val="78275254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 id="2147483704" r:id="rId23"/>
    <p:sldLayoutId id="2147483705" r:id="rId24"/>
    <p:sldLayoutId id="2147483706" r:id="rId25"/>
    <p:sldLayoutId id="2147483707" r:id="rId26"/>
    <p:sldLayoutId id="2147483679" r:id="rId27"/>
    <p:sldLayoutId id="2147483680" r:id="rId28"/>
    <p:sldLayoutId id="2147483728" r:id="rId29"/>
  </p:sldLayoutIdLst>
  <p:hf hd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58D8E8B-DC33-3747-BFB5-D9388D14D5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EFFA3C2C-E2DF-9B93-DDE3-5B1A80FDB432}"/>
              </a:ext>
            </a:extLst>
          </p:cNvPr>
          <p:cNvSpPr txBox="1"/>
          <p:nvPr userDrawn="1">
            <p:extLst>
              <p:ext uri="{1162E1C5-73C7-4A58-AE30-91384D911F3F}">
                <p184:classification xmlns:p184="http://schemas.microsoft.com/office/powerpoint/2018/4/main" val="ftr"/>
              </p:ext>
            </p:extLst>
          </p:nvPr>
        </p:nvSpPr>
        <p:spPr>
          <a:xfrm>
            <a:off x="63500" y="6642100"/>
            <a:ext cx="877951" cy="152400"/>
          </a:xfrm>
          <a:prstGeom prst="rect">
            <a:avLst/>
          </a:prstGeom>
        </p:spPr>
        <p:txBody>
          <a:bodyPr horzOverflow="overflow" lIns="0" tIns="0" rIns="0" bIns="0">
            <a:spAutoFit/>
          </a:bodyPr>
          <a:lstStyle/>
          <a:p>
            <a:pPr algn="l"/>
            <a:r>
              <a:rPr lang="en-SA" sz="1000">
                <a:solidFill>
                  <a:srgbClr val="000000"/>
                </a:solidFill>
                <a:latin typeface="Calibri" panose="020F0502020204030204" pitchFamily="34" charset="0"/>
                <a:cs typeface="Calibri" panose="020F0502020204030204" pitchFamily="34" charset="0"/>
              </a:rPr>
              <a:t>Restricted - مقيد </a:t>
            </a:r>
          </a:p>
        </p:txBody>
      </p:sp>
    </p:spTree>
    <p:extLst>
      <p:ext uri="{BB962C8B-B14F-4D97-AF65-F5344CB8AC3E}">
        <p14:creationId xmlns:p14="http://schemas.microsoft.com/office/powerpoint/2010/main" val="412754291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58D8E8B-DC33-3747-BFB5-D9388D14D54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BD4C6F87-EC19-6C6E-C31E-53E23B306D85}"/>
              </a:ext>
            </a:extLst>
          </p:cNvPr>
          <p:cNvSpPr txBox="1"/>
          <p:nvPr userDrawn="1">
            <p:extLst>
              <p:ext uri="{1162E1C5-73C7-4A58-AE30-91384D911F3F}">
                <p184:classification xmlns:p184="http://schemas.microsoft.com/office/powerpoint/2018/4/main" val="ftr"/>
              </p:ext>
            </p:extLst>
          </p:nvPr>
        </p:nvSpPr>
        <p:spPr>
          <a:xfrm>
            <a:off x="63500" y="6642100"/>
            <a:ext cx="877951" cy="152400"/>
          </a:xfrm>
          <a:prstGeom prst="rect">
            <a:avLst/>
          </a:prstGeom>
        </p:spPr>
        <p:txBody>
          <a:bodyPr horzOverflow="overflow" lIns="0" tIns="0" rIns="0" bIns="0">
            <a:spAutoFit/>
          </a:bodyPr>
          <a:lstStyle/>
          <a:p>
            <a:pPr algn="l"/>
            <a:r>
              <a:rPr lang="en-SA" sz="1000">
                <a:solidFill>
                  <a:srgbClr val="000000"/>
                </a:solidFill>
                <a:latin typeface="Calibri" panose="020F0502020204030204" pitchFamily="34" charset="0"/>
                <a:cs typeface="Calibri" panose="020F0502020204030204" pitchFamily="34" charset="0"/>
              </a:rPr>
              <a:t>Restricted - مقيد </a:t>
            </a:r>
          </a:p>
        </p:txBody>
      </p:sp>
    </p:spTree>
    <p:extLst>
      <p:ext uri="{BB962C8B-B14F-4D97-AF65-F5344CB8AC3E}">
        <p14:creationId xmlns:p14="http://schemas.microsoft.com/office/powerpoint/2010/main" val="3986542829"/>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2.xml"/><Relationship Id="rId200" Type="http://schemas.openxmlformats.org/officeDocument/2006/relationships/image" Target="../media/kick_s2_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5" Type="http://schemas.openxmlformats.org/officeDocument/2006/relationships/notesSlide" Target="../notesSlides/notesSlide3.xml"/><Relationship Id="rId200" Type="http://schemas.openxmlformats.org/officeDocument/2006/relationships/image" Target="../media/kick_s7_image-2-1.png"/><Relationship Id="rId201" Type="http://schemas.openxmlformats.org/officeDocument/2006/relationships/image" Target="../media/kick_s7_image-2-2.png"/><Relationship Id="rId202" Type="http://schemas.openxmlformats.org/officeDocument/2006/relationships/image" Target="../media/kick_s7_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5.xml"/><Relationship Id="rId200" Type="http://schemas.openxmlformats.org/officeDocument/2006/relationships/image" Target="../media/kick_s9_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10" Type="http://schemas.openxmlformats.org/officeDocument/2006/relationships/notesSlide" Target="../notesSlides/notesSlide8.xml"/><Relationship Id="rId200" Type="http://schemas.openxmlformats.org/officeDocument/2006/relationships/image" Target="../media/kick_s12_image-7-1.png"/><Relationship Id="rId201" Type="http://schemas.openxmlformats.org/officeDocument/2006/relationships/image" Target="../media/kick_s12_image-7-2.png"/><Relationship Id="rId202" Type="http://schemas.openxmlformats.org/officeDocument/2006/relationships/image" Target="../media/kick_s12_image-7-3.png"/><Relationship Id="rId203" Type="http://schemas.openxmlformats.org/officeDocument/2006/relationships/image" Target="../media/kick_s12_image-7-4.png"/><Relationship Id="rId204" Type="http://schemas.openxmlformats.org/officeDocument/2006/relationships/image" Target="../media/kick_s12_image-7-5.png"/><Relationship Id="rId205" Type="http://schemas.openxmlformats.org/officeDocument/2006/relationships/image" Target="../media/kick_s12_image-7-6.png"/><Relationship Id="rId206" Type="http://schemas.openxmlformats.org/officeDocument/2006/relationships/image" Target="../media/kick_s12_image-7-7.png"/><Relationship Id="rId207" Type="http://schemas.openxmlformats.org/officeDocument/2006/relationships/image" Target="../media/kick_s12_image-7-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5" Type="http://schemas.openxmlformats.org/officeDocument/2006/relationships/notesSlide" Target="../notesSlides/notesSlide9.xml"/><Relationship Id="rId200" Type="http://schemas.openxmlformats.org/officeDocument/2006/relationships/image" Target="../media/kick_s13_image-8-1.png"/><Relationship Id="rId201" Type="http://schemas.openxmlformats.org/officeDocument/2006/relationships/image" Target="../media/kick_s13_image-8-2.png"/><Relationship Id="rId202" Type="http://schemas.openxmlformats.org/officeDocument/2006/relationships/image" Target="../media/kick_s13_image-8-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5029200" y="3048000"/>
            <a:ext cx="6855271" cy="1119537"/>
          </a:xfrm>
          <a:prstGeom prst="rect">
            <a:avLst/>
          </a:prstGeom>
        </p:spPr>
        <p:txBody>
          <a:bodyPr vert="horz" wrap="square" lIns="0" tIns="11430" rIns="0" bIns="0" rtlCol="0">
            <a:spAutoFit/>
          </a:bodyPr>
          <a:lstStyle/>
          <a:p>
            <a:pPr marL="12700" algn="ctr">
              <a:lnSpc>
                <a:spcPct val="100000"/>
              </a:lnSpc>
              <a:spcBef>
                <a:spcPts val="90"/>
              </a:spcBef>
            </a:pPr>
            <a:r>
              <a:rPr lang="ar-SA" sz="3600" dirty="0">
                <a:solidFill>
                  <a:schemeClr val="bg1"/>
                </a:solidFill>
              </a:rPr>
              <a:t>اجتماع انطلاق لجنة الاعتماد البرامجي</a:t>
            </a:r>
            <a:endParaRPr lang="ar-SA" sz="3600" spc="695" dirty="0">
              <a:solidFill>
                <a:schemeClr val="bg1"/>
              </a:solidFill>
              <a:latin typeface="Frutiger LT Arabic 55 Roman" pitchFamily="2" charset="-78"/>
              <a:cs typeface="Frutiger LT Arabic 55 Roman" pitchFamily="2" charset="-78"/>
            </a:endParaRPr>
          </a:p>
        </p:txBody>
      </p:sp>
      <p:sp>
        <p:nvSpPr>
          <p:cNvPr id="11" name="object 3">
            <a:extLst>
              <a:ext uri="{FF2B5EF4-FFF2-40B4-BE49-F238E27FC236}">
                <a16:creationId xmlns:a16="http://schemas.microsoft.com/office/drawing/2014/main" id="{41A22BDD-8C44-1049-9760-E9AE552CC54B}"/>
              </a:ext>
            </a:extLst>
          </p:cNvPr>
          <p:cNvSpPr txBox="1"/>
          <p:nvPr/>
        </p:nvSpPr>
        <p:spPr>
          <a:xfrm>
            <a:off x="8382000" y="4343400"/>
            <a:ext cx="3206749" cy="288541"/>
          </a:xfrm>
          <a:prstGeom prst="rect">
            <a:avLst/>
          </a:prstGeom>
        </p:spPr>
        <p:txBody>
          <a:bodyPr vert="horz" wrap="square" lIns="0" tIns="11430" rIns="0" bIns="0" rtlCol="0">
            <a:spAutoFit/>
          </a:bodyPr>
          <a:lstStyle/>
          <a:p>
            <a:pPr marL="12700" marR="0" indent="0" algn="ctr" defTabSz="914400" fontAlgn="auto" latinLnBrk="0" hangingPunct="0">
              <a:lnSpc>
                <a:spcPct val="100000"/>
              </a:lnSpc>
              <a:spcBef>
                <a:spcPts val="90"/>
              </a:spcBef>
              <a:spcAft>
                <a:spcPts val="0"/>
              </a:spcAft>
              <a:buClrTx/>
              <a:buSzTx/>
              <a:buFontTx/>
              <a:buNone/>
              <a:tabLst/>
            </a:pPr>
            <a:r>
              <a:rPr lang="ar-SA" dirty="0">
                <a:solidFill>
                  <a:schemeClr val="accent4"/>
                </a:solidFill>
                <a:latin typeface="Frutiger LT Arabic 55 Roman" pitchFamily="2" charset="-78"/>
                <a:cs typeface="Frutiger LT Arabic 55 Roman" pitchFamily="2" charset="-78"/>
              </a:rPr>
              <a:t>الثلاثاء ٢٧ / ١٠ / ٢٠٢٦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لماذا نحن هنا؟</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Text 1"/>
          <p:cNvSpPr txBox="1"/>
          <p:nvPr/>
        </p:nvSpPr>
        <p:spPr>
          <a:xfrm>
            <a:off x="1097280" y="1417320"/>
            <a:ext cx="10652760" cy="822960"/>
          </a:xfrm>
          <a:prstGeom prst="rect">
            <a:avLst/>
          </a:prstGeom>
          <a:noFill/>
          <a:ln/>
        </p:spPr>
        <p:txBody>
          <a:bodyPr wrap="square" lIns="0" tIns="0" rIns="0" bIns="0" rtlCol="0" anchor="t"/>
          <a:lstStyle/>
          <a:p>
            <a:pPr rtl="1" algn="r" indent="0" marL="0">
              <a:buNone/>
            </a:pPr>
            <a:r>
              <a:rPr lang="en-US" sz="2000" dirty="0">
                <a:solidFill>
                  <a:srgbClr val="1B2540"/>
                </a:solidFill>
                <a:latin typeface="Arial" pitchFamily="34" charset="0"/>
                <a:ea typeface="Arial" pitchFamily="34" charset="-122"/>
                <a:cs typeface="Arial" pitchFamily="34" charset="-120"/>
              </a:rPr>
              <a:t>نبدأ رحلة الاعتماد البرامجي بتشخيص واضح: أين يقف كل برنامج من معايير الاعتماد، وما الذي ينقصه؟</a:t>
            </a:r>
            <a:endParaRPr lang="en-US" sz="2000" dirty="0"/>
          </a:p>
        </p:txBody>
      </p:sp>
      <p:sp>
        <p:nvSpPr>
          <p:cNvPr id="301" name="stat0"/>
          <p:cNvSpPr/>
          <p:nvPr/>
        </p:nvSpPr>
        <p:spPr>
          <a:xfrm>
            <a:off x="9219895" y="2514600"/>
            <a:ext cx="2514600"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2" name="Text 3"/>
          <p:cNvSpPr txBox="1"/>
          <p:nvPr/>
        </p:nvSpPr>
        <p:spPr>
          <a:xfrm>
            <a:off x="9219895" y="2697480"/>
            <a:ext cx="2514600" cy="960120"/>
          </a:xfrm>
          <a:prstGeom prst="rect">
            <a:avLst/>
          </a:prstGeom>
          <a:noFill/>
          <a:ln/>
        </p:spPr>
        <p:txBody>
          <a:bodyPr wrap="square" lIns="0" tIns="0" rIns="0" bIns="0" rtlCol="0" anchor="t"/>
          <a:lstStyle/>
          <a:p>
            <a:pPr rtl="1" algn="ctr" indent="0" marL="0">
              <a:buNone/>
            </a:pPr>
            <a:r>
              <a:rPr lang="en-US" sz="5400" b="1" dirty="0">
                <a:solidFill>
                  <a:srgbClr val="0A1B6E"/>
                </a:solidFill>
                <a:latin typeface="Arial" pitchFamily="34" charset="0"/>
                <a:ea typeface="Arial" pitchFamily="34" charset="-122"/>
                <a:cs typeface="Arial" pitchFamily="34" charset="-120"/>
              </a:rPr>
              <a:t>3</a:t>
            </a:r>
            <a:endParaRPr lang="en-US" sz="5400" dirty="0"/>
          </a:p>
        </p:txBody>
      </p:sp>
      <p:sp>
        <p:nvSpPr>
          <p:cNvPr id="303" name="Text 4"/>
          <p:cNvSpPr txBox="1"/>
          <p:nvPr/>
        </p:nvSpPr>
        <p:spPr>
          <a:xfrm>
            <a:off x="9219895" y="3703320"/>
            <a:ext cx="2514600" cy="457200"/>
          </a:xfrm>
          <a:prstGeom prst="rect">
            <a:avLst/>
          </a:prstGeom>
          <a:noFill/>
          <a:ln/>
        </p:spPr>
        <p:txBody>
          <a:bodyPr wrap="square" lIns="0" tIns="0" rIns="0" bIns="0" rtlCol="0" anchor="t"/>
          <a:lstStyle/>
          <a:p>
            <a:pPr rtl="1" algn="ctr" indent="0" marL="0">
              <a:buNone/>
            </a:pPr>
            <a:r>
              <a:rPr lang="en-US" sz="1600" dirty="0">
                <a:solidFill>
                  <a:srgbClr val="5A6478"/>
                </a:solidFill>
                <a:latin typeface="Arial" pitchFamily="34" charset="0"/>
                <a:ea typeface="Arial" pitchFamily="34" charset="-122"/>
                <a:cs typeface="Arial" pitchFamily="34" charset="-120"/>
              </a:rPr>
              <a:t>برامج أكاديمية</a:t>
            </a:r>
            <a:endParaRPr lang="en-US" sz="1600" dirty="0"/>
          </a:p>
        </p:txBody>
      </p:sp>
      <p:sp>
        <p:nvSpPr>
          <p:cNvPr id="304" name="stat1"/>
          <p:cNvSpPr/>
          <p:nvPr/>
        </p:nvSpPr>
        <p:spPr>
          <a:xfrm>
            <a:off x="6522415" y="2514600"/>
            <a:ext cx="2514600"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5" name="Text 6"/>
          <p:cNvSpPr txBox="1"/>
          <p:nvPr/>
        </p:nvSpPr>
        <p:spPr>
          <a:xfrm>
            <a:off x="6522415" y="2697480"/>
            <a:ext cx="2514600" cy="960120"/>
          </a:xfrm>
          <a:prstGeom prst="rect">
            <a:avLst/>
          </a:prstGeom>
          <a:noFill/>
          <a:ln/>
        </p:spPr>
        <p:txBody>
          <a:bodyPr wrap="square" lIns="0" tIns="0" rIns="0" bIns="0" rtlCol="0" anchor="t"/>
          <a:lstStyle/>
          <a:p>
            <a:pPr rtl="1" algn="ctr" indent="0" marL="0">
              <a:buNone/>
            </a:pPr>
            <a:r>
              <a:rPr lang="en-US" sz="5400" b="1" dirty="0">
                <a:solidFill>
                  <a:srgbClr val="0072BC"/>
                </a:solidFill>
                <a:latin typeface="Arial" pitchFamily="34" charset="0"/>
                <a:ea typeface="Arial" pitchFamily="34" charset="-122"/>
                <a:cs typeface="Arial" pitchFamily="34" charset="-120"/>
              </a:rPr>
              <a:t>9</a:t>
            </a:r>
            <a:endParaRPr lang="en-US" sz="5400" dirty="0"/>
          </a:p>
        </p:txBody>
      </p:sp>
      <p:sp>
        <p:nvSpPr>
          <p:cNvPr id="306" name="Text 7"/>
          <p:cNvSpPr txBox="1"/>
          <p:nvPr/>
        </p:nvSpPr>
        <p:spPr>
          <a:xfrm>
            <a:off x="6522415" y="3703320"/>
            <a:ext cx="2514600" cy="457200"/>
          </a:xfrm>
          <a:prstGeom prst="rect">
            <a:avLst/>
          </a:prstGeom>
          <a:noFill/>
          <a:ln/>
        </p:spPr>
        <p:txBody>
          <a:bodyPr wrap="square" lIns="0" tIns="0" rIns="0" bIns="0" rtlCol="0" anchor="t"/>
          <a:lstStyle/>
          <a:p>
            <a:pPr rtl="1" algn="ctr" indent="0" marL="0">
              <a:buNone/>
            </a:pPr>
            <a:r>
              <a:rPr lang="en-US" sz="1600" dirty="0">
                <a:solidFill>
                  <a:srgbClr val="5A6478"/>
                </a:solidFill>
                <a:latin typeface="Arial" pitchFamily="34" charset="0"/>
                <a:ea typeface="Arial" pitchFamily="34" charset="-122"/>
                <a:cs typeface="Arial" pitchFamily="34" charset="-120"/>
              </a:rPr>
              <a:t>أعضاء في اللجنة</a:t>
            </a:r>
            <a:endParaRPr lang="en-US" sz="1600" dirty="0"/>
          </a:p>
        </p:txBody>
      </p:sp>
      <p:sp>
        <p:nvSpPr>
          <p:cNvPr id="307" name="stat2"/>
          <p:cNvSpPr/>
          <p:nvPr/>
        </p:nvSpPr>
        <p:spPr>
          <a:xfrm>
            <a:off x="3824935" y="2514600"/>
            <a:ext cx="2514600"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8" name="Text 9"/>
          <p:cNvSpPr txBox="1"/>
          <p:nvPr/>
        </p:nvSpPr>
        <p:spPr>
          <a:xfrm>
            <a:off x="3824935" y="2697480"/>
            <a:ext cx="2514600" cy="960120"/>
          </a:xfrm>
          <a:prstGeom prst="rect">
            <a:avLst/>
          </a:prstGeom>
          <a:noFill/>
          <a:ln/>
        </p:spPr>
        <p:txBody>
          <a:bodyPr wrap="square" lIns="0" tIns="0" rIns="0" bIns="0" rtlCol="0" anchor="t"/>
          <a:lstStyle/>
          <a:p>
            <a:pPr rtl="1" algn="ctr" indent="0" marL="0">
              <a:buNone/>
            </a:pPr>
            <a:r>
              <a:rPr lang="en-US" sz="5400" b="1" dirty="0">
                <a:solidFill>
                  <a:srgbClr val="00A3C4"/>
                </a:solidFill>
                <a:latin typeface="Arial" pitchFamily="34" charset="0"/>
                <a:ea typeface="Arial" pitchFamily="34" charset="-122"/>
                <a:cs typeface="Arial" pitchFamily="34" charset="-120"/>
              </a:rPr>
              <a:t>8</a:t>
            </a:r>
            <a:endParaRPr lang="en-US" sz="5400" dirty="0"/>
          </a:p>
        </p:txBody>
      </p:sp>
      <p:sp>
        <p:nvSpPr>
          <p:cNvPr id="309" name="Text 10"/>
          <p:cNvSpPr txBox="1"/>
          <p:nvPr/>
        </p:nvSpPr>
        <p:spPr>
          <a:xfrm>
            <a:off x="3824935" y="3703320"/>
            <a:ext cx="2514600" cy="457200"/>
          </a:xfrm>
          <a:prstGeom prst="rect">
            <a:avLst/>
          </a:prstGeom>
          <a:noFill/>
          <a:ln/>
        </p:spPr>
        <p:txBody>
          <a:bodyPr wrap="square" lIns="0" tIns="0" rIns="0" bIns="0" rtlCol="0" anchor="t"/>
          <a:lstStyle/>
          <a:p>
            <a:pPr rtl="1" algn="ctr" indent="0" marL="0">
              <a:buNone/>
            </a:pPr>
            <a:r>
              <a:rPr lang="en-US" sz="1600" dirty="0">
                <a:solidFill>
                  <a:srgbClr val="5A6478"/>
                </a:solidFill>
                <a:latin typeface="Arial" pitchFamily="34" charset="0"/>
                <a:ea typeface="Arial" pitchFamily="34" charset="-122"/>
                <a:cs typeface="Arial" pitchFamily="34" charset="-120"/>
              </a:rPr>
              <a:t>أسابيع للمرحلة الأولى</a:t>
            </a:r>
            <a:endParaRPr lang="en-US" sz="1600" dirty="0"/>
          </a:p>
        </p:txBody>
      </p:sp>
      <p:sp>
        <p:nvSpPr>
          <p:cNvPr id="310" name="stat3"/>
          <p:cNvSpPr/>
          <p:nvPr/>
        </p:nvSpPr>
        <p:spPr>
          <a:xfrm>
            <a:off x="1127455" y="2514600"/>
            <a:ext cx="2514600"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11" name="Text 12"/>
          <p:cNvSpPr txBox="1"/>
          <p:nvPr/>
        </p:nvSpPr>
        <p:spPr>
          <a:xfrm>
            <a:off x="1127455" y="2697480"/>
            <a:ext cx="2514600" cy="960120"/>
          </a:xfrm>
          <a:prstGeom prst="rect">
            <a:avLst/>
          </a:prstGeom>
          <a:noFill/>
          <a:ln/>
        </p:spPr>
        <p:txBody>
          <a:bodyPr wrap="square" lIns="0" tIns="0" rIns="0" bIns="0" rtlCol="0" anchor="t"/>
          <a:lstStyle/>
          <a:p>
            <a:pPr rtl="1" algn="ctr" indent="0" marL="0">
              <a:buNone/>
            </a:pPr>
            <a:r>
              <a:rPr lang="en-US" sz="5400" b="1" dirty="0">
                <a:solidFill>
                  <a:srgbClr val="5E2B91"/>
                </a:solidFill>
                <a:latin typeface="Arial" pitchFamily="34" charset="0"/>
                <a:ea typeface="Arial" pitchFamily="34" charset="-122"/>
                <a:cs typeface="Arial" pitchFamily="34" charset="-120"/>
              </a:rPr>
              <a:t>634</a:t>
            </a:r>
            <a:endParaRPr lang="en-US" sz="5400" dirty="0"/>
          </a:p>
        </p:txBody>
      </p:sp>
      <p:sp>
        <p:nvSpPr>
          <p:cNvPr id="312" name="Text 13"/>
          <p:cNvSpPr txBox="1"/>
          <p:nvPr/>
        </p:nvSpPr>
        <p:spPr>
          <a:xfrm>
            <a:off x="1127455" y="3703320"/>
            <a:ext cx="2514600" cy="457200"/>
          </a:xfrm>
          <a:prstGeom prst="rect">
            <a:avLst/>
          </a:prstGeom>
          <a:noFill/>
          <a:ln/>
        </p:spPr>
        <p:txBody>
          <a:bodyPr wrap="square" lIns="0" tIns="0" rIns="0" bIns="0" rtlCol="0" anchor="t"/>
          <a:lstStyle/>
          <a:p>
            <a:pPr rtl="1" algn="ctr" indent="0" marL="0">
              <a:buNone/>
            </a:pPr>
            <a:r>
              <a:rPr lang="en-US" sz="1600" dirty="0">
                <a:solidFill>
                  <a:srgbClr val="5A6478"/>
                </a:solidFill>
                <a:latin typeface="Arial" pitchFamily="34" charset="0"/>
                <a:ea typeface="Arial" pitchFamily="34" charset="-122"/>
                <a:cs typeface="Arial" pitchFamily="34" charset="-120"/>
              </a:rPr>
              <a:t>دليلاً للفحص</a:t>
            </a:r>
            <a:endParaRPr lang="en-US" sz="1600" dirty="0"/>
          </a:p>
        </p:txBody>
      </p:sp>
      <p:sp>
        <p:nvSpPr>
          <p:cNvPr id="313" name="goal"/>
          <p:cNvSpPr/>
          <p:nvPr/>
        </p:nvSpPr>
        <p:spPr>
          <a:xfrm>
            <a:off x="1097280" y="4846320"/>
            <a:ext cx="10652760" cy="1097280"/>
          </a:xfrm>
          <a:prstGeom prst="roundRect">
            <a:avLst>
              <a:gd name="adj" fmla="val 10000"/>
            </a:avLst>
          </a:prstGeom>
          <a:solidFill>
            <a:srgbClr val="EEF4FA"/>
          </a:solidFill>
          <a:ln w="12700">
            <a:solidFill>
              <a:srgbClr val="EEF4FA"/>
            </a:solidFill>
            <a:prstDash val="solid"/>
          </a:ln>
          <a:effectLst>
            <a:outerShdw sx="100000" sy="100000" kx="0" ky="0" algn="bl" rotWithShape="0" blurRad="76200" dist="25400" dir="5400000">
              <a:srgbClr val="9AA8C0">
                <a:alpha val="25000"/>
              </a:srgbClr>
            </a:outerShdw>
          </a:effectLst>
        </p:spPr>
      </p:sp>
      <p:sp>
        <p:nvSpPr>
          <p:cNvPr id="314" name="goalIcon"/>
          <p:cNvSpPr/>
          <p:nvPr/>
        </p:nvSpPr>
        <p:spPr>
          <a:xfrm>
            <a:off x="10927080" y="4983480"/>
            <a:ext cx="822960" cy="822960"/>
          </a:xfrm>
          <a:prstGeom prst="ellipse">
            <a:avLst/>
          </a:prstGeom>
          <a:solidFill>
            <a:srgbClr val="0A1B6E"/>
          </a:solidFill>
          <a:ln w="12700">
            <a:solidFill>
              <a:srgbClr val="0A1B6E"/>
            </a:solidFill>
            <a:prstDash val="solid"/>
          </a:ln>
        </p:spPr>
      </p:sp>
      <p:pic>
        <p:nvPicPr>
          <p:cNvPr id="315" name="Image 0" descr="preencoded.png">    </p:cNvPr>
          <p:cNvPicPr>
            <a:picLocks noChangeAspect="1"/>
          </p:cNvPicPr>
          <p:nvPr/>
        </p:nvPicPr>
        <p:blipFill>
          <a:blip r:embed="rId200"/>
          <a:stretch>
            <a:fillRect/>
          </a:stretch>
        </p:blipFill>
        <p:spPr>
          <a:xfrm>
            <a:off x="11132820" y="5189220"/>
            <a:ext cx="411480" cy="411480"/>
          </a:xfrm>
          <a:prstGeom prst="rect">
            <a:avLst/>
          </a:prstGeom>
        </p:spPr>
      </p:pic>
      <p:sp>
        <p:nvSpPr>
          <p:cNvPr id="316" name="Text 16"/>
          <p:cNvSpPr txBox="1"/>
          <p:nvPr/>
        </p:nvSpPr>
        <p:spPr>
          <a:xfrm>
            <a:off x="1371600" y="5074920"/>
            <a:ext cx="9326880" cy="685800"/>
          </a:xfrm>
          <a:prstGeom prst="rect">
            <a:avLst/>
          </a:prstGeom>
          <a:noFill/>
          <a:ln/>
        </p:spPr>
        <p:txBody>
          <a:bodyPr wrap="square" lIns="0" tIns="0" rIns="0" bIns="0" rtlCol="0" anchor="ctr"/>
          <a:lstStyle/>
          <a:p>
            <a:pPr algn="r" indent="0" marL="0">
              <a:buNone/>
            </a:pPr>
            <a:r>
              <a:rPr lang="en-US" sz="1700" b="1" dirty="0">
                <a:solidFill>
                  <a:srgbClr val="0A1B6E"/>
                </a:solidFill>
                <a:latin typeface="Arial" pitchFamily="34" charset="0"/>
                <a:ea typeface="Arial" pitchFamily="34" charset="-122"/>
                <a:cs typeface="Arial" pitchFamily="34" charset="-120"/>
              </a:rPr>
              <a:t>هدف اللقاء: </a:t>
            </a:r>
            <a:pPr algn="r" indent="0" marL="0">
              <a:buNone/>
            </a:pPr>
            <a:r>
              <a:rPr lang="en-US" sz="1700" dirty="0">
                <a:solidFill>
                  <a:srgbClr val="1B2540"/>
                </a:solidFill>
                <a:latin typeface="Arial" pitchFamily="34" charset="0"/>
                <a:ea typeface="Arial" pitchFamily="34" charset="-122"/>
                <a:cs typeface="Arial" pitchFamily="34" charset="-120"/>
              </a:rPr>
              <a:t>التعريف بتشكيل اللجنة ومراحل الاعتماد والخطة التنفيذية وملف العمل، ليبدأ الجميع بالطريقة نفسها</a:t>
            </a:r>
            <a:endParaRPr lang="en-US" sz="1700" dirty="0"/>
          </a:p>
        </p:txBody>
      </p:sp>
    </p:spTree>
    <p:extLst>
      <p:ext uri="{BB962C8B-B14F-4D97-AF65-F5344CB8AC3E}">
        <p14:creationId xmlns:p14="http://schemas.microsoft.com/office/powerpoint/2010/main" val="2894989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تشكيل اللجنة</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lead0"/>
          <p:cNvSpPr/>
          <p:nvPr/>
        </p:nvSpPr>
        <p:spPr>
          <a:xfrm>
            <a:off x="8305495" y="1371600"/>
            <a:ext cx="3429000" cy="2240280"/>
          </a:xfrm>
          <a:prstGeom prst="roundRect">
            <a:avLst>
              <a:gd name="adj" fmla="val 4898"/>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1" name="leadIcon0"/>
          <p:cNvSpPr/>
          <p:nvPr/>
        </p:nvSpPr>
        <p:spPr>
          <a:xfrm>
            <a:off x="10774375" y="1554480"/>
            <a:ext cx="731520" cy="731520"/>
          </a:xfrm>
          <a:prstGeom prst="ellipse">
            <a:avLst/>
          </a:prstGeom>
          <a:solidFill>
            <a:srgbClr val="0A1B6E"/>
          </a:solidFill>
          <a:ln w="12700">
            <a:solidFill>
              <a:srgbClr val="0A1B6E"/>
            </a:solidFill>
            <a:prstDash val="solid"/>
          </a:ln>
        </p:spPr>
      </p:sp>
      <p:pic>
        <p:nvPicPr>
          <p:cNvPr id="302" name="Image 0" descr="preencoded.png">    </p:cNvPr>
          <p:cNvPicPr>
            <a:picLocks noChangeAspect="1"/>
          </p:cNvPicPr>
          <p:nvPr/>
        </p:nvPicPr>
        <p:blipFill>
          <a:blip r:embed="rId200"/>
          <a:stretch>
            <a:fillRect/>
          </a:stretch>
        </p:blipFill>
        <p:spPr>
          <a:xfrm>
            <a:off x="10957255" y="1737360"/>
            <a:ext cx="365760" cy="365760"/>
          </a:xfrm>
          <a:prstGeom prst="rect">
            <a:avLst/>
          </a:prstGeom>
        </p:spPr>
      </p:pic>
      <p:sp>
        <p:nvSpPr>
          <p:cNvPr id="303" name="Text 3"/>
          <p:cNvSpPr txBox="1"/>
          <p:nvPr/>
        </p:nvSpPr>
        <p:spPr>
          <a:xfrm>
            <a:off x="8488375" y="1600200"/>
            <a:ext cx="2148840" cy="365760"/>
          </a:xfrm>
          <a:prstGeom prst="rect">
            <a:avLst/>
          </a:prstGeom>
          <a:noFill/>
          <a:ln/>
        </p:spPr>
        <p:txBody>
          <a:bodyPr wrap="square" lIns="0" tIns="0" rIns="0" bIns="0" rtlCol="0" anchor="t"/>
          <a:lstStyle/>
          <a:p>
            <a:pPr rtl="1" algn="r" indent="0" marL="0">
              <a:buNone/>
            </a:pPr>
            <a:r>
              <a:rPr lang="en-US" sz="1400" b="1" dirty="0">
                <a:solidFill>
                  <a:srgbClr val="0A1B6E"/>
                </a:solidFill>
                <a:latin typeface="Arial" pitchFamily="34" charset="0"/>
                <a:ea typeface="Arial" pitchFamily="34" charset="-122"/>
                <a:cs typeface="Arial" pitchFamily="34" charset="-120"/>
              </a:rPr>
              <a:t>رئيسة اللجنة</a:t>
            </a:r>
            <a:endParaRPr lang="en-US" sz="1400" dirty="0"/>
          </a:p>
        </p:txBody>
      </p:sp>
      <p:sp>
        <p:nvSpPr>
          <p:cNvPr id="304" name="Text 4"/>
          <p:cNvSpPr txBox="1"/>
          <p:nvPr/>
        </p:nvSpPr>
        <p:spPr>
          <a:xfrm>
            <a:off x="8488375" y="1965960"/>
            <a:ext cx="2148840" cy="411480"/>
          </a:xfrm>
          <a:prstGeom prst="rect">
            <a:avLst/>
          </a:prstGeom>
          <a:noFill/>
          <a:ln/>
        </p:spPr>
        <p:txBody>
          <a:bodyPr wrap="square" lIns="0" tIns="0" rIns="0" bIns="0" rtlCol="0" anchor="t"/>
          <a:lstStyle/>
          <a:p>
            <a:pPr rtl="1" algn="r" indent="0" marL="0">
              <a:buNone/>
            </a:pPr>
            <a:r>
              <a:rPr lang="en-US" sz="1500" b="1" dirty="0">
                <a:solidFill>
                  <a:srgbClr val="1B2540"/>
                </a:solidFill>
                <a:latin typeface="Arial" pitchFamily="34" charset="0"/>
                <a:ea typeface="Arial" pitchFamily="34" charset="-122"/>
                <a:cs typeface="Arial" pitchFamily="34" charset="-120"/>
              </a:rPr>
              <a:t>د. نهلة بنت سعد القثامي</a:t>
            </a:r>
            <a:endParaRPr lang="en-US" sz="1500" dirty="0"/>
          </a:p>
        </p:txBody>
      </p:sp>
      <p:sp>
        <p:nvSpPr>
          <p:cNvPr id="305" name="Text 5"/>
          <p:cNvSpPr txBox="1"/>
          <p:nvPr/>
        </p:nvSpPr>
        <p:spPr>
          <a:xfrm>
            <a:off x="8534095" y="2514600"/>
            <a:ext cx="2971800" cy="914400"/>
          </a:xfrm>
          <a:prstGeom prst="rect">
            <a:avLst/>
          </a:prstGeom>
          <a:noFill/>
          <a:ln/>
        </p:spPr>
        <p:txBody>
          <a:bodyPr wrap="square" lIns="0" tIns="0" rIns="0" bIns="0" rtlCol="0" anchor="t"/>
          <a:lstStyle/>
          <a:p>
            <a:pPr rtl="1" algn="r" indent="0" marL="0">
              <a:buNone/>
            </a:pPr>
            <a:r>
              <a:rPr lang="en-US" sz="1400" dirty="0">
                <a:solidFill>
                  <a:srgbClr val="5A6478"/>
                </a:solidFill>
                <a:latin typeface="Arial" pitchFamily="34" charset="0"/>
                <a:ea typeface="Arial" pitchFamily="34" charset="-122"/>
                <a:cs typeface="Arial" pitchFamily="34" charset="-120"/>
              </a:rPr>
              <a:t>القيادة والمتابعة، ومراجعة كفاية أدلة المحكات الأساسية</a:t>
            </a:r>
            <a:endParaRPr lang="en-US" sz="1400" dirty="0"/>
          </a:p>
        </p:txBody>
      </p:sp>
      <p:sp>
        <p:nvSpPr>
          <p:cNvPr id="306" name="lead1"/>
          <p:cNvSpPr/>
          <p:nvPr/>
        </p:nvSpPr>
        <p:spPr>
          <a:xfrm>
            <a:off x="4693615" y="1371600"/>
            <a:ext cx="3429000" cy="2240280"/>
          </a:xfrm>
          <a:prstGeom prst="roundRect">
            <a:avLst>
              <a:gd name="adj" fmla="val 4898"/>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7" name="leadIcon1"/>
          <p:cNvSpPr/>
          <p:nvPr/>
        </p:nvSpPr>
        <p:spPr>
          <a:xfrm>
            <a:off x="7162495" y="1554480"/>
            <a:ext cx="731520" cy="731520"/>
          </a:xfrm>
          <a:prstGeom prst="ellipse">
            <a:avLst/>
          </a:prstGeom>
          <a:solidFill>
            <a:srgbClr val="0072BC"/>
          </a:solidFill>
          <a:ln w="12700">
            <a:solidFill>
              <a:srgbClr val="0072BC"/>
            </a:solidFill>
            <a:prstDash val="solid"/>
          </a:ln>
        </p:spPr>
      </p:sp>
      <p:pic>
        <p:nvPicPr>
          <p:cNvPr id="308" name="Image 1" descr="preencoded.png">    </p:cNvPr>
          <p:cNvPicPr>
            <a:picLocks noChangeAspect="1"/>
          </p:cNvPicPr>
          <p:nvPr/>
        </p:nvPicPr>
        <p:blipFill>
          <a:blip r:embed="rId201"/>
          <a:stretch>
            <a:fillRect/>
          </a:stretch>
        </p:blipFill>
        <p:spPr>
          <a:xfrm>
            <a:off x="7345375" y="1737360"/>
            <a:ext cx="365760" cy="365760"/>
          </a:xfrm>
          <a:prstGeom prst="rect">
            <a:avLst/>
          </a:prstGeom>
        </p:spPr>
      </p:pic>
      <p:sp>
        <p:nvSpPr>
          <p:cNvPr id="309" name="Text 8"/>
          <p:cNvSpPr txBox="1"/>
          <p:nvPr/>
        </p:nvSpPr>
        <p:spPr>
          <a:xfrm>
            <a:off x="4876495" y="1600200"/>
            <a:ext cx="2148840" cy="365760"/>
          </a:xfrm>
          <a:prstGeom prst="rect">
            <a:avLst/>
          </a:prstGeom>
          <a:noFill/>
          <a:ln/>
        </p:spPr>
        <p:txBody>
          <a:bodyPr wrap="square" lIns="0" tIns="0" rIns="0" bIns="0" rtlCol="0" anchor="t"/>
          <a:lstStyle/>
          <a:p>
            <a:pPr rtl="1" algn="r" indent="0" marL="0">
              <a:buNone/>
            </a:pPr>
            <a:r>
              <a:rPr lang="en-US" sz="1400" b="1" dirty="0">
                <a:solidFill>
                  <a:srgbClr val="0072BC"/>
                </a:solidFill>
                <a:latin typeface="Arial" pitchFamily="34" charset="0"/>
                <a:ea typeface="Arial" pitchFamily="34" charset="-122"/>
                <a:cs typeface="Arial" pitchFamily="34" charset="-120"/>
              </a:rPr>
              <a:t>رئيسة الجودة</a:t>
            </a:r>
            <a:endParaRPr lang="en-US" sz="1400" dirty="0"/>
          </a:p>
        </p:txBody>
      </p:sp>
      <p:sp>
        <p:nvSpPr>
          <p:cNvPr id="310" name="Text 9"/>
          <p:cNvSpPr txBox="1"/>
          <p:nvPr/>
        </p:nvSpPr>
        <p:spPr>
          <a:xfrm>
            <a:off x="4876495" y="1965960"/>
            <a:ext cx="2148840" cy="411480"/>
          </a:xfrm>
          <a:prstGeom prst="rect">
            <a:avLst/>
          </a:prstGeom>
          <a:noFill/>
          <a:ln/>
        </p:spPr>
        <p:txBody>
          <a:bodyPr wrap="square" lIns="0" tIns="0" rIns="0" bIns="0" rtlCol="0" anchor="t"/>
          <a:lstStyle/>
          <a:p>
            <a:pPr rtl="1" algn="r" indent="0" marL="0">
              <a:buNone/>
            </a:pPr>
            <a:r>
              <a:rPr lang="en-US" sz="1500" b="1" dirty="0">
                <a:solidFill>
                  <a:srgbClr val="1B2540"/>
                </a:solidFill>
                <a:latin typeface="Arial" pitchFamily="34" charset="0"/>
                <a:ea typeface="Arial" pitchFamily="34" charset="-122"/>
                <a:cs typeface="Arial" pitchFamily="34" charset="-120"/>
              </a:rPr>
              <a:t>د. عبير بنت عبدالله راجحي</a:t>
            </a:r>
            <a:endParaRPr lang="en-US" sz="1500" dirty="0"/>
          </a:p>
        </p:txBody>
      </p:sp>
      <p:sp>
        <p:nvSpPr>
          <p:cNvPr id="311" name="Text 10"/>
          <p:cNvSpPr txBox="1"/>
          <p:nvPr/>
        </p:nvSpPr>
        <p:spPr>
          <a:xfrm>
            <a:off x="4922215" y="2514600"/>
            <a:ext cx="2971800" cy="914400"/>
          </a:xfrm>
          <a:prstGeom prst="rect">
            <a:avLst/>
          </a:prstGeom>
          <a:noFill/>
          <a:ln/>
        </p:spPr>
        <p:txBody>
          <a:bodyPr wrap="square" lIns="0" tIns="0" rIns="0" bIns="0" rtlCol="0" anchor="t"/>
          <a:lstStyle/>
          <a:p>
            <a:pPr rtl="1" algn="r" indent="0" marL="0">
              <a:buNone/>
            </a:pPr>
            <a:r>
              <a:rPr lang="en-US" sz="1400" dirty="0">
                <a:solidFill>
                  <a:srgbClr val="5A6478"/>
                </a:solidFill>
                <a:latin typeface="Arial" pitchFamily="34" charset="0"/>
                <a:ea typeface="Arial" pitchFamily="34" charset="-122"/>
                <a:cs typeface="Arial" pitchFamily="34" charset="-120"/>
              </a:rPr>
              <a:t>متابعة متطلبات التقدم للاعتماد مع لجنة الجودة</a:t>
            </a:r>
            <a:endParaRPr lang="en-US" sz="1400" dirty="0"/>
          </a:p>
        </p:txBody>
      </p:sp>
      <p:sp>
        <p:nvSpPr>
          <p:cNvPr id="312" name="lead2"/>
          <p:cNvSpPr/>
          <p:nvPr/>
        </p:nvSpPr>
        <p:spPr>
          <a:xfrm>
            <a:off x="1081735" y="1371600"/>
            <a:ext cx="3429000" cy="2240280"/>
          </a:xfrm>
          <a:prstGeom prst="roundRect">
            <a:avLst>
              <a:gd name="adj" fmla="val 4898"/>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13" name="leadIcon2"/>
          <p:cNvSpPr/>
          <p:nvPr/>
        </p:nvSpPr>
        <p:spPr>
          <a:xfrm>
            <a:off x="3550615" y="1554480"/>
            <a:ext cx="731520" cy="731520"/>
          </a:xfrm>
          <a:prstGeom prst="ellipse">
            <a:avLst/>
          </a:prstGeom>
          <a:solidFill>
            <a:srgbClr val="5E2B91"/>
          </a:solidFill>
          <a:ln w="12700">
            <a:solidFill>
              <a:srgbClr val="5E2B91"/>
            </a:solidFill>
            <a:prstDash val="solid"/>
          </a:ln>
        </p:spPr>
      </p:sp>
      <p:pic>
        <p:nvPicPr>
          <p:cNvPr id="314" name="Image 2" descr="preencoded.png">    </p:cNvPr>
          <p:cNvPicPr>
            <a:picLocks noChangeAspect="1"/>
          </p:cNvPicPr>
          <p:nvPr/>
        </p:nvPicPr>
        <p:blipFill>
          <a:blip r:embed="rId202"/>
          <a:stretch>
            <a:fillRect/>
          </a:stretch>
        </p:blipFill>
        <p:spPr>
          <a:xfrm>
            <a:off x="3733495" y="1737360"/>
            <a:ext cx="365760" cy="365760"/>
          </a:xfrm>
          <a:prstGeom prst="rect">
            <a:avLst/>
          </a:prstGeom>
        </p:spPr>
      </p:pic>
      <p:sp>
        <p:nvSpPr>
          <p:cNvPr id="315" name="Text 13"/>
          <p:cNvSpPr txBox="1"/>
          <p:nvPr/>
        </p:nvSpPr>
        <p:spPr>
          <a:xfrm>
            <a:off x="1264615" y="1600200"/>
            <a:ext cx="2148840" cy="365760"/>
          </a:xfrm>
          <a:prstGeom prst="rect">
            <a:avLst/>
          </a:prstGeom>
          <a:noFill/>
          <a:ln/>
        </p:spPr>
        <p:txBody>
          <a:bodyPr wrap="square" lIns="0" tIns="0" rIns="0" bIns="0" rtlCol="0" anchor="t"/>
          <a:lstStyle/>
          <a:p>
            <a:pPr rtl="1" algn="r" indent="0" marL="0">
              <a:buNone/>
            </a:pPr>
            <a:r>
              <a:rPr lang="en-US" sz="1400" b="1" dirty="0">
                <a:solidFill>
                  <a:srgbClr val="5E2B91"/>
                </a:solidFill>
                <a:latin typeface="Arial" pitchFamily="34" charset="0"/>
                <a:ea typeface="Arial" pitchFamily="34" charset="-122"/>
                <a:cs typeface="Arial" pitchFamily="34" charset="-120"/>
              </a:rPr>
              <a:t>أمينة اللجنة والمراجِعة</a:t>
            </a:r>
            <a:endParaRPr lang="en-US" sz="1400" dirty="0"/>
          </a:p>
        </p:txBody>
      </p:sp>
      <p:sp>
        <p:nvSpPr>
          <p:cNvPr id="316" name="Text 14"/>
          <p:cNvSpPr txBox="1"/>
          <p:nvPr/>
        </p:nvSpPr>
        <p:spPr>
          <a:xfrm>
            <a:off x="1264615" y="1965960"/>
            <a:ext cx="2148840" cy="411480"/>
          </a:xfrm>
          <a:prstGeom prst="rect">
            <a:avLst/>
          </a:prstGeom>
          <a:noFill/>
          <a:ln/>
        </p:spPr>
        <p:txBody>
          <a:bodyPr wrap="square" lIns="0" tIns="0" rIns="0" bIns="0" rtlCol="0" anchor="t"/>
          <a:lstStyle/>
          <a:p>
            <a:pPr rtl="1" algn="r" indent="0" marL="0">
              <a:buNone/>
            </a:pPr>
            <a:r>
              <a:rPr lang="en-US" sz="1500" b="1" dirty="0">
                <a:solidFill>
                  <a:srgbClr val="1B2540"/>
                </a:solidFill>
                <a:latin typeface="Arial" pitchFamily="34" charset="0"/>
                <a:ea typeface="Arial" pitchFamily="34" charset="-122"/>
                <a:cs typeface="Arial" pitchFamily="34" charset="-120"/>
              </a:rPr>
              <a:t>أ. فاطمة بنت سلمان الخزعل</a:t>
            </a:r>
            <a:endParaRPr lang="en-US" sz="1500" dirty="0"/>
          </a:p>
        </p:txBody>
      </p:sp>
      <p:sp>
        <p:nvSpPr>
          <p:cNvPr id="317" name="Text 15"/>
          <p:cNvSpPr txBox="1"/>
          <p:nvPr/>
        </p:nvSpPr>
        <p:spPr>
          <a:xfrm>
            <a:off x="1310335" y="2514600"/>
            <a:ext cx="2971800" cy="914400"/>
          </a:xfrm>
          <a:prstGeom prst="rect">
            <a:avLst/>
          </a:prstGeom>
          <a:noFill/>
          <a:ln/>
        </p:spPr>
        <p:txBody>
          <a:bodyPr wrap="square" lIns="0" tIns="0" rIns="0" bIns="0" rtlCol="0" anchor="t"/>
          <a:lstStyle/>
          <a:p>
            <a:pPr rtl="1" algn="r" indent="0" marL="0">
              <a:buNone/>
            </a:pPr>
            <a:r>
              <a:rPr lang="en-US" sz="1400" dirty="0">
                <a:solidFill>
                  <a:srgbClr val="5A6478"/>
                </a:solidFill>
                <a:latin typeface="Arial" pitchFamily="34" charset="0"/>
                <a:ea typeface="Arial" pitchFamily="34" charset="-122"/>
                <a:cs typeface="Arial" pitchFamily="34" charset="-120"/>
              </a:rPr>
              <a:t>المراجعة الأسبوعية للأدلة، ولوحة المتابعة، والرسالة الأسبوعية</a:t>
            </a:r>
            <a:endParaRPr lang="en-US" sz="1400" dirty="0"/>
          </a:p>
        </p:txBody>
      </p:sp>
      <p:sp>
        <p:nvSpPr>
          <p:cNvPr id="318" name="Text 16"/>
          <p:cNvSpPr txBox="1"/>
          <p:nvPr/>
        </p:nvSpPr>
        <p:spPr>
          <a:xfrm>
            <a:off x="1097280" y="3840480"/>
            <a:ext cx="10652760" cy="365760"/>
          </a:xfrm>
          <a:prstGeom prst="rect">
            <a:avLst/>
          </a:prstGeom>
          <a:noFill/>
          <a:ln/>
        </p:spPr>
        <p:txBody>
          <a:bodyPr wrap="square" lIns="0" tIns="0" rIns="0" bIns="0" rtlCol="0" anchor="t"/>
          <a:lstStyle/>
          <a:p>
            <a:pPr rtl="1" algn="r" indent="0" marL="0">
              <a:buNone/>
            </a:pPr>
            <a:r>
              <a:rPr lang="en-US" sz="1800" b="1" dirty="0">
                <a:solidFill>
                  <a:srgbClr val="0A1B6E"/>
                </a:solidFill>
                <a:latin typeface="Arial" pitchFamily="34" charset="0"/>
                <a:ea typeface="Arial" pitchFamily="34" charset="-122"/>
                <a:cs typeface="Arial" pitchFamily="34" charset="-120"/>
              </a:rPr>
              <a:t>الأعضاء</a:t>
            </a:r>
            <a:endParaRPr lang="en-US" sz="1800" dirty="0"/>
          </a:p>
        </p:txBody>
      </p:sp>
      <p:sp>
        <p:nvSpPr>
          <p:cNvPr id="319" name="mem0"/>
          <p:cNvSpPr/>
          <p:nvPr/>
        </p:nvSpPr>
        <p:spPr>
          <a:xfrm>
            <a:off x="8305495" y="4343400"/>
            <a:ext cx="3429000" cy="685800"/>
          </a:xfrm>
          <a:prstGeom prst="roundRect">
            <a:avLst>
              <a:gd name="adj" fmla="val 13333"/>
            </a:avLst>
          </a:prstGeom>
          <a:solidFill>
            <a:srgbClr val="EEF4FA"/>
          </a:solidFill>
          <a:ln w="12700">
            <a:solidFill>
              <a:srgbClr val="EEF4FA"/>
            </a:solidFill>
            <a:prstDash val="solid"/>
          </a:ln>
        </p:spPr>
      </p:sp>
      <p:sp>
        <p:nvSpPr>
          <p:cNvPr id="320" name="memDot0"/>
          <p:cNvSpPr/>
          <p:nvPr/>
        </p:nvSpPr>
        <p:spPr>
          <a:xfrm>
            <a:off x="11167567" y="4498848"/>
            <a:ext cx="384048" cy="384048"/>
          </a:xfrm>
          <a:prstGeom prst="ellipse">
            <a:avLst/>
          </a:prstGeom>
          <a:solidFill>
            <a:srgbClr val="00A3C4"/>
          </a:solidFill>
          <a:ln w="12700">
            <a:solidFill>
              <a:srgbClr val="00A3C4"/>
            </a:solidFill>
            <a:prstDash val="solid"/>
          </a:ln>
        </p:spPr>
      </p:sp>
      <p:sp>
        <p:nvSpPr>
          <p:cNvPr id="321" name="Text 19"/>
          <p:cNvSpPr txBox="1"/>
          <p:nvPr/>
        </p:nvSpPr>
        <p:spPr>
          <a:xfrm>
            <a:off x="8442655" y="4343400"/>
            <a:ext cx="2651760" cy="685800"/>
          </a:xfrm>
          <a:prstGeom prst="rect">
            <a:avLst/>
          </a:prstGeom>
          <a:noFill/>
          <a:ln/>
        </p:spPr>
        <p:txBody>
          <a:bodyPr wrap="square" lIns="0" tIns="0" rIns="0" bIns="0" rtlCol="0" anchor="ctr"/>
          <a:lstStyle/>
          <a:p>
            <a:pPr rtl="1" algn="r" indent="0" marL="0">
              <a:buNone/>
            </a:pPr>
            <a:r>
              <a:rPr lang="en-US" sz="1500" dirty="0">
                <a:solidFill>
                  <a:srgbClr val="1B2540"/>
                </a:solidFill>
                <a:latin typeface="Arial" pitchFamily="34" charset="0"/>
                <a:ea typeface="Arial" pitchFamily="34" charset="-122"/>
                <a:cs typeface="Arial" pitchFamily="34" charset="-120"/>
              </a:rPr>
              <a:t>د. سلطان بن سعيد الشمراني</a:t>
            </a:r>
            <a:endParaRPr lang="en-US" sz="1500" dirty="0"/>
          </a:p>
        </p:txBody>
      </p:sp>
      <p:sp>
        <p:nvSpPr>
          <p:cNvPr id="322" name="mem1"/>
          <p:cNvSpPr/>
          <p:nvPr/>
        </p:nvSpPr>
        <p:spPr>
          <a:xfrm>
            <a:off x="4693615" y="4343400"/>
            <a:ext cx="3429000" cy="685800"/>
          </a:xfrm>
          <a:prstGeom prst="roundRect">
            <a:avLst>
              <a:gd name="adj" fmla="val 13333"/>
            </a:avLst>
          </a:prstGeom>
          <a:solidFill>
            <a:srgbClr val="EEF4FA"/>
          </a:solidFill>
          <a:ln w="12700">
            <a:solidFill>
              <a:srgbClr val="EEF4FA"/>
            </a:solidFill>
            <a:prstDash val="solid"/>
          </a:ln>
        </p:spPr>
      </p:sp>
      <p:sp>
        <p:nvSpPr>
          <p:cNvPr id="323" name="memDot1"/>
          <p:cNvSpPr/>
          <p:nvPr/>
        </p:nvSpPr>
        <p:spPr>
          <a:xfrm>
            <a:off x="7555687" y="4498848"/>
            <a:ext cx="384048" cy="384048"/>
          </a:xfrm>
          <a:prstGeom prst="ellipse">
            <a:avLst/>
          </a:prstGeom>
          <a:solidFill>
            <a:srgbClr val="0072BC"/>
          </a:solidFill>
          <a:ln w="12700">
            <a:solidFill>
              <a:srgbClr val="0072BC"/>
            </a:solidFill>
            <a:prstDash val="solid"/>
          </a:ln>
        </p:spPr>
      </p:sp>
      <p:sp>
        <p:nvSpPr>
          <p:cNvPr id="324" name="Text 22"/>
          <p:cNvSpPr txBox="1"/>
          <p:nvPr/>
        </p:nvSpPr>
        <p:spPr>
          <a:xfrm>
            <a:off x="4830775" y="4343400"/>
            <a:ext cx="2651760" cy="685800"/>
          </a:xfrm>
          <a:prstGeom prst="rect">
            <a:avLst/>
          </a:prstGeom>
          <a:noFill/>
          <a:ln/>
        </p:spPr>
        <p:txBody>
          <a:bodyPr wrap="square" lIns="0" tIns="0" rIns="0" bIns="0" rtlCol="0" anchor="ctr"/>
          <a:lstStyle/>
          <a:p>
            <a:pPr rtl="1" algn="r" indent="0" marL="0">
              <a:buNone/>
            </a:pPr>
            <a:r>
              <a:rPr lang="en-US" sz="1500" dirty="0">
                <a:solidFill>
                  <a:srgbClr val="1B2540"/>
                </a:solidFill>
                <a:latin typeface="Arial" pitchFamily="34" charset="0"/>
                <a:ea typeface="Arial" pitchFamily="34" charset="-122"/>
                <a:cs typeface="Arial" pitchFamily="34" charset="-120"/>
              </a:rPr>
              <a:t>د. احمد بن عوض البشري</a:t>
            </a:r>
            <a:endParaRPr lang="en-US" sz="1500" dirty="0"/>
          </a:p>
        </p:txBody>
      </p:sp>
      <p:sp>
        <p:nvSpPr>
          <p:cNvPr id="325" name="mem2"/>
          <p:cNvSpPr/>
          <p:nvPr/>
        </p:nvSpPr>
        <p:spPr>
          <a:xfrm>
            <a:off x="1081735" y="4343400"/>
            <a:ext cx="3429000" cy="685800"/>
          </a:xfrm>
          <a:prstGeom prst="roundRect">
            <a:avLst>
              <a:gd name="adj" fmla="val 13333"/>
            </a:avLst>
          </a:prstGeom>
          <a:solidFill>
            <a:srgbClr val="EEF4FA"/>
          </a:solidFill>
          <a:ln w="12700">
            <a:solidFill>
              <a:srgbClr val="EEF4FA"/>
            </a:solidFill>
            <a:prstDash val="solid"/>
          </a:ln>
        </p:spPr>
      </p:sp>
      <p:sp>
        <p:nvSpPr>
          <p:cNvPr id="326" name="memDot2"/>
          <p:cNvSpPr/>
          <p:nvPr/>
        </p:nvSpPr>
        <p:spPr>
          <a:xfrm>
            <a:off x="3943807" y="4498848"/>
            <a:ext cx="384048" cy="384048"/>
          </a:xfrm>
          <a:prstGeom prst="ellipse">
            <a:avLst/>
          </a:prstGeom>
          <a:solidFill>
            <a:srgbClr val="5E2B91"/>
          </a:solidFill>
          <a:ln w="12700">
            <a:solidFill>
              <a:srgbClr val="5E2B91"/>
            </a:solidFill>
            <a:prstDash val="solid"/>
          </a:ln>
        </p:spPr>
      </p:sp>
      <p:sp>
        <p:nvSpPr>
          <p:cNvPr id="327" name="Text 25"/>
          <p:cNvSpPr txBox="1"/>
          <p:nvPr/>
        </p:nvSpPr>
        <p:spPr>
          <a:xfrm>
            <a:off x="1218895" y="4343400"/>
            <a:ext cx="2651760" cy="685800"/>
          </a:xfrm>
          <a:prstGeom prst="rect">
            <a:avLst/>
          </a:prstGeom>
          <a:noFill/>
          <a:ln/>
        </p:spPr>
        <p:txBody>
          <a:bodyPr wrap="square" lIns="0" tIns="0" rIns="0" bIns="0" rtlCol="0" anchor="ctr"/>
          <a:lstStyle/>
          <a:p>
            <a:pPr rtl="1" algn="r" indent="0" marL="0">
              <a:buNone/>
            </a:pPr>
            <a:r>
              <a:rPr lang="en-US" sz="1500" dirty="0">
                <a:solidFill>
                  <a:srgbClr val="1B2540"/>
                </a:solidFill>
                <a:latin typeface="Arial" pitchFamily="34" charset="0"/>
                <a:ea typeface="Arial" pitchFamily="34" charset="-122"/>
                <a:cs typeface="Arial" pitchFamily="34" charset="-120"/>
              </a:rPr>
              <a:t>د. يثرب بنت سعد القحطاني</a:t>
            </a:r>
            <a:endParaRPr lang="en-US" sz="1500" dirty="0"/>
          </a:p>
        </p:txBody>
      </p:sp>
      <p:sp>
        <p:nvSpPr>
          <p:cNvPr id="328" name="mem3"/>
          <p:cNvSpPr/>
          <p:nvPr/>
        </p:nvSpPr>
        <p:spPr>
          <a:xfrm>
            <a:off x="8305495" y="5212080"/>
            <a:ext cx="3429000" cy="685800"/>
          </a:xfrm>
          <a:prstGeom prst="roundRect">
            <a:avLst>
              <a:gd name="adj" fmla="val 13333"/>
            </a:avLst>
          </a:prstGeom>
          <a:solidFill>
            <a:srgbClr val="EEF4FA"/>
          </a:solidFill>
          <a:ln w="12700">
            <a:solidFill>
              <a:srgbClr val="EEF4FA"/>
            </a:solidFill>
            <a:prstDash val="solid"/>
          </a:ln>
        </p:spPr>
      </p:sp>
      <p:sp>
        <p:nvSpPr>
          <p:cNvPr id="329" name="memDot3"/>
          <p:cNvSpPr/>
          <p:nvPr/>
        </p:nvSpPr>
        <p:spPr>
          <a:xfrm>
            <a:off x="11167567" y="5367528"/>
            <a:ext cx="384048" cy="384048"/>
          </a:xfrm>
          <a:prstGeom prst="ellipse">
            <a:avLst/>
          </a:prstGeom>
          <a:solidFill>
            <a:srgbClr val="00A3C4"/>
          </a:solidFill>
          <a:ln w="12700">
            <a:solidFill>
              <a:srgbClr val="00A3C4"/>
            </a:solidFill>
            <a:prstDash val="solid"/>
          </a:ln>
        </p:spPr>
      </p:sp>
      <p:sp>
        <p:nvSpPr>
          <p:cNvPr id="330" name="Text 28"/>
          <p:cNvSpPr txBox="1"/>
          <p:nvPr/>
        </p:nvSpPr>
        <p:spPr>
          <a:xfrm>
            <a:off x="8442655" y="5212080"/>
            <a:ext cx="2651760" cy="685800"/>
          </a:xfrm>
          <a:prstGeom prst="rect">
            <a:avLst/>
          </a:prstGeom>
          <a:noFill/>
          <a:ln/>
        </p:spPr>
        <p:txBody>
          <a:bodyPr wrap="square" lIns="0" tIns="0" rIns="0" bIns="0" rtlCol="0" anchor="ctr"/>
          <a:lstStyle/>
          <a:p>
            <a:pPr rtl="1" algn="r" indent="0" marL="0">
              <a:buNone/>
            </a:pPr>
            <a:r>
              <a:rPr lang="en-US" sz="1300" dirty="0">
                <a:solidFill>
                  <a:srgbClr val="1B2540"/>
                </a:solidFill>
                <a:latin typeface="Arial" pitchFamily="34" charset="0"/>
                <a:ea typeface="Arial" pitchFamily="34" charset="-122"/>
                <a:cs typeface="Arial" pitchFamily="34" charset="-120"/>
              </a:rPr>
              <a:t>د. عبدالله بن محمد البركاتي  (وفهرسة الأدلة)</a:t>
            </a:r>
            <a:endParaRPr lang="en-US" sz="1300" dirty="0"/>
          </a:p>
        </p:txBody>
      </p:sp>
      <p:sp>
        <p:nvSpPr>
          <p:cNvPr id="331" name="mem4"/>
          <p:cNvSpPr/>
          <p:nvPr/>
        </p:nvSpPr>
        <p:spPr>
          <a:xfrm>
            <a:off x="4693615" y="5212080"/>
            <a:ext cx="3429000" cy="685800"/>
          </a:xfrm>
          <a:prstGeom prst="roundRect">
            <a:avLst>
              <a:gd name="adj" fmla="val 13333"/>
            </a:avLst>
          </a:prstGeom>
          <a:solidFill>
            <a:srgbClr val="EEF4FA"/>
          </a:solidFill>
          <a:ln w="12700">
            <a:solidFill>
              <a:srgbClr val="EEF4FA"/>
            </a:solidFill>
            <a:prstDash val="solid"/>
          </a:ln>
        </p:spPr>
      </p:sp>
      <p:sp>
        <p:nvSpPr>
          <p:cNvPr id="332" name="memDot4"/>
          <p:cNvSpPr/>
          <p:nvPr/>
        </p:nvSpPr>
        <p:spPr>
          <a:xfrm>
            <a:off x="7555687" y="5367528"/>
            <a:ext cx="384048" cy="384048"/>
          </a:xfrm>
          <a:prstGeom prst="ellipse">
            <a:avLst/>
          </a:prstGeom>
          <a:solidFill>
            <a:srgbClr val="0072BC"/>
          </a:solidFill>
          <a:ln w="12700">
            <a:solidFill>
              <a:srgbClr val="0072BC"/>
            </a:solidFill>
            <a:prstDash val="solid"/>
          </a:ln>
        </p:spPr>
      </p:sp>
      <p:sp>
        <p:nvSpPr>
          <p:cNvPr id="333" name="Text 31"/>
          <p:cNvSpPr txBox="1"/>
          <p:nvPr/>
        </p:nvSpPr>
        <p:spPr>
          <a:xfrm>
            <a:off x="4830775" y="5212080"/>
            <a:ext cx="2651760" cy="685800"/>
          </a:xfrm>
          <a:prstGeom prst="rect">
            <a:avLst/>
          </a:prstGeom>
          <a:noFill/>
          <a:ln/>
        </p:spPr>
        <p:txBody>
          <a:bodyPr wrap="square" lIns="0" tIns="0" rIns="0" bIns="0" rtlCol="0" anchor="ctr"/>
          <a:lstStyle/>
          <a:p>
            <a:pPr rtl="1" algn="r" indent="0" marL="0">
              <a:buNone/>
            </a:pPr>
            <a:r>
              <a:rPr lang="en-US" sz="1500" dirty="0">
                <a:solidFill>
                  <a:srgbClr val="1B2540"/>
                </a:solidFill>
                <a:latin typeface="Arial" pitchFamily="34" charset="0"/>
                <a:ea typeface="Arial" pitchFamily="34" charset="-122"/>
                <a:cs typeface="Arial" pitchFamily="34" charset="-120"/>
              </a:rPr>
              <a:t>د. عمر بن محمد موسى</a:t>
            </a:r>
            <a:endParaRPr lang="en-US" sz="1500" dirty="0"/>
          </a:p>
        </p:txBody>
      </p:sp>
      <p:sp>
        <p:nvSpPr>
          <p:cNvPr id="334" name="mem5"/>
          <p:cNvSpPr/>
          <p:nvPr/>
        </p:nvSpPr>
        <p:spPr>
          <a:xfrm>
            <a:off x="1081735" y="5212080"/>
            <a:ext cx="3429000" cy="685800"/>
          </a:xfrm>
          <a:prstGeom prst="roundRect">
            <a:avLst>
              <a:gd name="adj" fmla="val 13333"/>
            </a:avLst>
          </a:prstGeom>
          <a:solidFill>
            <a:srgbClr val="EEF4FA"/>
          </a:solidFill>
          <a:ln w="12700">
            <a:solidFill>
              <a:srgbClr val="EEF4FA"/>
            </a:solidFill>
            <a:prstDash val="solid"/>
          </a:ln>
        </p:spPr>
      </p:sp>
      <p:sp>
        <p:nvSpPr>
          <p:cNvPr id="335" name="memDot5"/>
          <p:cNvSpPr/>
          <p:nvPr/>
        </p:nvSpPr>
        <p:spPr>
          <a:xfrm>
            <a:off x="3943807" y="5367528"/>
            <a:ext cx="384048" cy="384048"/>
          </a:xfrm>
          <a:prstGeom prst="ellipse">
            <a:avLst/>
          </a:prstGeom>
          <a:solidFill>
            <a:srgbClr val="5E2B91"/>
          </a:solidFill>
          <a:ln w="12700">
            <a:solidFill>
              <a:srgbClr val="5E2B91"/>
            </a:solidFill>
            <a:prstDash val="solid"/>
          </a:ln>
        </p:spPr>
      </p:sp>
      <p:sp>
        <p:nvSpPr>
          <p:cNvPr id="336" name="Text 34"/>
          <p:cNvSpPr txBox="1"/>
          <p:nvPr/>
        </p:nvSpPr>
        <p:spPr>
          <a:xfrm>
            <a:off x="1218895" y="5212080"/>
            <a:ext cx="2651760" cy="685800"/>
          </a:xfrm>
          <a:prstGeom prst="rect">
            <a:avLst/>
          </a:prstGeom>
          <a:noFill/>
          <a:ln/>
        </p:spPr>
        <p:txBody>
          <a:bodyPr wrap="square" lIns="0" tIns="0" rIns="0" bIns="0" rtlCol="0" anchor="ctr"/>
          <a:lstStyle/>
          <a:p>
            <a:pPr rtl="1" algn="r" indent="0" marL="0">
              <a:buNone/>
            </a:pPr>
            <a:r>
              <a:rPr lang="en-US" sz="1500" dirty="0">
                <a:solidFill>
                  <a:srgbClr val="1B2540"/>
                </a:solidFill>
                <a:latin typeface="Arial" pitchFamily="34" charset="0"/>
                <a:ea typeface="Arial" pitchFamily="34" charset="-122"/>
                <a:cs typeface="Arial" pitchFamily="34" charset="-120"/>
              </a:rPr>
              <a:t>د. حسن بن سعد القحطاني</a:t>
            </a:r>
            <a:endParaRPr lang="en-US" sz="1500" dirty="0"/>
          </a:p>
        </p:txBody>
      </p:sp>
      <p:sp>
        <p:nvSpPr>
          <p:cNvPr id="337" name="Text 35"/>
          <p:cNvSpPr txBox="1"/>
          <p:nvPr/>
        </p:nvSpPr>
        <p:spPr>
          <a:xfrm>
            <a:off x="1097280" y="5943600"/>
            <a:ext cx="10652760" cy="320040"/>
          </a:xfrm>
          <a:prstGeom prst="rect">
            <a:avLst/>
          </a:prstGeom>
          <a:noFill/>
          <a:ln/>
        </p:spPr>
        <p:txBody>
          <a:bodyPr wrap="square" lIns="0" tIns="0" rIns="0" bIns="0" rtlCol="0" anchor="t"/>
          <a:lstStyle/>
          <a:p>
            <a:pPr rtl="1" algn="r" indent="0" marL="0">
              <a:buNone/>
            </a:pPr>
            <a:r>
              <a:rPr lang="en-US" sz="1200" dirty="0">
                <a:solidFill>
                  <a:srgbClr val="5A6478"/>
                </a:solidFill>
                <a:latin typeface="Arial" pitchFamily="34" charset="0"/>
                <a:ea typeface="Arial" pitchFamily="34" charset="-122"/>
                <a:cs typeface="Arial" pitchFamily="34" charset="-120"/>
              </a:rPr>
              <a:t>بقرار من عميد الكلية</a:t>
            </a:r>
            <a:endParaRPr lang="en-US" sz="1200" dirty="0"/>
          </a:p>
        </p:txBody>
      </p:sp>
    </p:spTree>
    <p:extLst>
      <p:ext uri="{BB962C8B-B14F-4D97-AF65-F5344CB8AC3E}">
        <p14:creationId xmlns:p14="http://schemas.microsoft.com/office/powerpoint/2010/main" val="2894989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مراحل الاعتماد الأربع</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stage0"/>
          <p:cNvSpPr/>
          <p:nvPr/>
        </p:nvSpPr>
        <p:spPr>
          <a:xfrm>
            <a:off x="8991295" y="1463040"/>
            <a:ext cx="2514600" cy="4206240"/>
          </a:xfrm>
          <a:prstGeom prst="roundRect">
            <a:avLst>
              <a:gd name="adj" fmla="val 4364"/>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1" name="stageNum0"/>
          <p:cNvSpPr/>
          <p:nvPr/>
        </p:nvSpPr>
        <p:spPr>
          <a:xfrm>
            <a:off x="9837115" y="1737360"/>
            <a:ext cx="822960" cy="822960"/>
          </a:xfrm>
          <a:prstGeom prst="ellipse">
            <a:avLst/>
          </a:prstGeom>
          <a:solidFill>
            <a:srgbClr val="0A1B6E"/>
          </a:solidFill>
          <a:ln w="12700">
            <a:solidFill>
              <a:srgbClr val="0A1B6E"/>
            </a:solidFill>
            <a:prstDash val="solid"/>
          </a:ln>
        </p:spPr>
      </p:sp>
      <p:sp>
        <p:nvSpPr>
          <p:cNvPr id="302" name="Text 3"/>
          <p:cNvSpPr txBox="1"/>
          <p:nvPr/>
        </p:nvSpPr>
        <p:spPr>
          <a:xfrm>
            <a:off x="9837115" y="1737360"/>
            <a:ext cx="822960" cy="822960"/>
          </a:xfrm>
          <a:prstGeom prst="rect">
            <a:avLst/>
          </a:prstGeom>
          <a:noFill/>
          <a:ln/>
        </p:spPr>
        <p:txBody>
          <a:bodyPr wrap="square" lIns="0" tIns="0" rIns="0" bIns="0" rtlCol="0" anchor="ctr"/>
          <a:lstStyle/>
          <a:p>
            <a:pPr rtl="1" algn="ctr" indent="0" marL="0">
              <a:buNone/>
            </a:pPr>
            <a:r>
              <a:rPr lang="en-US" sz="3000" b="1" dirty="0">
                <a:solidFill>
                  <a:srgbClr val="FFFFFF"/>
                </a:solidFill>
                <a:latin typeface="Arial" pitchFamily="34" charset="0"/>
                <a:ea typeface="Arial" pitchFamily="34" charset="-122"/>
                <a:cs typeface="Arial" pitchFamily="34" charset="-120"/>
              </a:rPr>
              <a:t>1</a:t>
            </a:r>
            <a:endParaRPr lang="en-US" sz="3000" dirty="0"/>
          </a:p>
        </p:txBody>
      </p:sp>
      <p:sp>
        <p:nvSpPr>
          <p:cNvPr id="303" name="Text 4"/>
          <p:cNvSpPr txBox="1"/>
          <p:nvPr/>
        </p:nvSpPr>
        <p:spPr>
          <a:xfrm>
            <a:off x="9174175" y="2743200"/>
            <a:ext cx="2148840" cy="822960"/>
          </a:xfrm>
          <a:prstGeom prst="rect">
            <a:avLst/>
          </a:prstGeom>
          <a:noFill/>
          <a:ln/>
        </p:spPr>
        <p:txBody>
          <a:bodyPr wrap="square" lIns="0" tIns="0" rIns="0" bIns="0" rtlCol="0" anchor="ctr"/>
          <a:lstStyle/>
          <a:p>
            <a:pPr rtl="1" algn="ctr" indent="0" marL="0">
              <a:buNone/>
            </a:pPr>
            <a:r>
              <a:rPr lang="en-US" sz="1700" b="1" dirty="0">
                <a:solidFill>
                  <a:srgbClr val="0A1B6E"/>
                </a:solidFill>
                <a:latin typeface="Arial" pitchFamily="34" charset="0"/>
                <a:ea typeface="Arial" pitchFamily="34" charset="-122"/>
                <a:cs typeface="Arial" pitchFamily="34" charset="-120"/>
              </a:rPr>
              <a:t>توفير البنية الأساسية</a:t>
            </a:r>
            <a:endParaRPr lang="en-US" sz="1700" dirty="0"/>
          </a:p>
        </p:txBody>
      </p:sp>
      <p:sp>
        <p:nvSpPr>
          <p:cNvPr id="304" name="out0"/>
          <p:cNvSpPr/>
          <p:nvPr/>
        </p:nvSpPr>
        <p:spPr>
          <a:xfrm>
            <a:off x="9174175" y="3657600"/>
            <a:ext cx="2148840" cy="502920"/>
          </a:xfrm>
          <a:prstGeom prst="roundRect">
            <a:avLst>
              <a:gd name="adj" fmla="val 45455"/>
            </a:avLst>
          </a:prstGeom>
          <a:solidFill>
            <a:srgbClr val="EEF4FA"/>
          </a:solidFill>
          <a:ln w="12700">
            <a:solidFill>
              <a:srgbClr val="EEF4FA"/>
            </a:solidFill>
            <a:prstDash val="solid"/>
          </a:ln>
        </p:spPr>
      </p:sp>
      <p:sp>
        <p:nvSpPr>
          <p:cNvPr id="305" name="Text 6"/>
          <p:cNvSpPr txBox="1"/>
          <p:nvPr/>
        </p:nvSpPr>
        <p:spPr>
          <a:xfrm>
            <a:off x="9174175" y="3657600"/>
            <a:ext cx="2148840" cy="502920"/>
          </a:xfrm>
          <a:prstGeom prst="rect">
            <a:avLst/>
          </a:prstGeom>
          <a:noFill/>
          <a:ln/>
        </p:spPr>
        <p:txBody>
          <a:bodyPr wrap="square" lIns="0" tIns="0" rIns="0" bIns="0" rtlCol="0" anchor="ctr"/>
          <a:lstStyle/>
          <a:p>
            <a:pPr rtl="1" algn="ctr" indent="0" marL="0">
              <a:buNone/>
            </a:pPr>
            <a:r>
              <a:rPr lang="en-US" sz="1300" b="1" dirty="0">
                <a:solidFill>
                  <a:srgbClr val="1B2540"/>
                </a:solidFill>
                <a:latin typeface="Arial" pitchFamily="34" charset="0"/>
                <a:ea typeface="Arial" pitchFamily="34" charset="-122"/>
                <a:cs typeface="Arial" pitchFamily="34" charset="-120"/>
              </a:rPr>
              <a:t>المخرج: فريق وخطة تنفيذ</a:t>
            </a:r>
            <a:endParaRPr lang="en-US" sz="1300" dirty="0"/>
          </a:p>
        </p:txBody>
      </p:sp>
      <p:sp>
        <p:nvSpPr>
          <p:cNvPr id="306" name="Text 7"/>
          <p:cNvSpPr txBox="1"/>
          <p:nvPr/>
        </p:nvSpPr>
        <p:spPr>
          <a:xfrm>
            <a:off x="9219895" y="4343400"/>
            <a:ext cx="2057400" cy="1188720"/>
          </a:xfrm>
          <a:prstGeom prst="rect">
            <a:avLst/>
          </a:prstGeom>
          <a:noFill/>
          <a:ln/>
        </p:spPr>
        <p:txBody>
          <a:bodyPr wrap="square" lIns="0" tIns="0" rIns="0" bIns="0" rtlCol="0" anchor="t"/>
          <a:lstStyle/>
          <a:p>
            <a:pPr rtl="1" algn="ctr" indent="0" marL="0">
              <a:buNone/>
            </a:pPr>
            <a:r>
              <a:rPr lang="en-US" sz="1400" dirty="0">
                <a:solidFill>
                  <a:srgbClr val="5A6478"/>
                </a:solidFill>
                <a:latin typeface="Arial" pitchFamily="34" charset="0"/>
                <a:ea typeface="Arial" pitchFamily="34" charset="-122"/>
                <a:cs typeface="Arial" pitchFamily="34" charset="-120"/>
              </a:rPr>
              <a:t>منسق وفريق للاعتماد، وخطة تنفيذ بمسؤولين ومواعيد</a:t>
            </a:r>
            <a:endParaRPr lang="en-US" sz="1400" dirty="0"/>
          </a:p>
        </p:txBody>
      </p:sp>
      <p:sp>
        <p:nvSpPr>
          <p:cNvPr id="307" name="arr0"/>
          <p:cNvSpPr/>
          <p:nvPr/>
        </p:nvSpPr>
        <p:spPr>
          <a:xfrm>
            <a:off x="8808415" y="2011680"/>
            <a:ext cx="182880" cy="274320"/>
          </a:xfrm>
          <a:prstGeom prst="leftArrow">
            <a:avLst/>
          </a:prstGeom>
          <a:solidFill>
            <a:srgbClr val="B8C4D6"/>
          </a:solidFill>
          <a:ln w="12700">
            <a:solidFill>
              <a:srgbClr val="B8C4D6"/>
            </a:solidFill>
            <a:prstDash val="solid"/>
          </a:ln>
        </p:spPr>
      </p:sp>
      <p:sp>
        <p:nvSpPr>
          <p:cNvPr id="308" name="stage1"/>
          <p:cNvSpPr/>
          <p:nvPr/>
        </p:nvSpPr>
        <p:spPr>
          <a:xfrm>
            <a:off x="6275527" y="1463040"/>
            <a:ext cx="2514600" cy="4206240"/>
          </a:xfrm>
          <a:prstGeom prst="roundRect">
            <a:avLst>
              <a:gd name="adj" fmla="val 4364"/>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9" name="stageNum1"/>
          <p:cNvSpPr/>
          <p:nvPr/>
        </p:nvSpPr>
        <p:spPr>
          <a:xfrm>
            <a:off x="7121347" y="1737360"/>
            <a:ext cx="822960" cy="822960"/>
          </a:xfrm>
          <a:prstGeom prst="ellipse">
            <a:avLst/>
          </a:prstGeom>
          <a:solidFill>
            <a:srgbClr val="0072BC"/>
          </a:solidFill>
          <a:ln w="12700">
            <a:solidFill>
              <a:srgbClr val="0072BC"/>
            </a:solidFill>
            <a:prstDash val="solid"/>
          </a:ln>
        </p:spPr>
      </p:sp>
      <p:sp>
        <p:nvSpPr>
          <p:cNvPr id="310" name="Text 11"/>
          <p:cNvSpPr txBox="1"/>
          <p:nvPr/>
        </p:nvSpPr>
        <p:spPr>
          <a:xfrm>
            <a:off x="7121347" y="1737360"/>
            <a:ext cx="822960" cy="822960"/>
          </a:xfrm>
          <a:prstGeom prst="rect">
            <a:avLst/>
          </a:prstGeom>
          <a:noFill/>
          <a:ln/>
        </p:spPr>
        <p:txBody>
          <a:bodyPr wrap="square" lIns="0" tIns="0" rIns="0" bIns="0" rtlCol="0" anchor="ctr"/>
          <a:lstStyle/>
          <a:p>
            <a:pPr rtl="1" algn="ctr" indent="0" marL="0">
              <a:buNone/>
            </a:pPr>
            <a:r>
              <a:rPr lang="en-US" sz="3000" b="1" dirty="0">
                <a:solidFill>
                  <a:srgbClr val="FFFFFF"/>
                </a:solidFill>
                <a:latin typeface="Arial" pitchFamily="34" charset="0"/>
                <a:ea typeface="Arial" pitchFamily="34" charset="-122"/>
                <a:cs typeface="Arial" pitchFamily="34" charset="-120"/>
              </a:rPr>
              <a:t>2</a:t>
            </a:r>
            <a:endParaRPr lang="en-US" sz="3000" dirty="0"/>
          </a:p>
        </p:txBody>
      </p:sp>
      <p:sp>
        <p:nvSpPr>
          <p:cNvPr id="311" name="Text 12"/>
          <p:cNvSpPr txBox="1"/>
          <p:nvPr/>
        </p:nvSpPr>
        <p:spPr>
          <a:xfrm>
            <a:off x="6458407" y="2743200"/>
            <a:ext cx="2148840" cy="822960"/>
          </a:xfrm>
          <a:prstGeom prst="rect">
            <a:avLst/>
          </a:prstGeom>
          <a:noFill/>
          <a:ln/>
        </p:spPr>
        <p:txBody>
          <a:bodyPr wrap="square" lIns="0" tIns="0" rIns="0" bIns="0" rtlCol="0" anchor="ctr"/>
          <a:lstStyle/>
          <a:p>
            <a:pPr rtl="1" algn="ctr" indent="0" marL="0">
              <a:buNone/>
            </a:pPr>
            <a:r>
              <a:rPr lang="en-US" sz="1700" b="1" dirty="0">
                <a:solidFill>
                  <a:srgbClr val="0072BC"/>
                </a:solidFill>
                <a:latin typeface="Arial" pitchFamily="34" charset="0"/>
                <a:ea typeface="Arial" pitchFamily="34" charset="-122"/>
                <a:cs typeface="Arial" pitchFamily="34" charset="-120"/>
              </a:rPr>
              <a:t>مراجعة البرنامج الأكاديمي وتقويمه</a:t>
            </a:r>
            <a:endParaRPr lang="en-US" sz="1700" dirty="0"/>
          </a:p>
        </p:txBody>
      </p:sp>
      <p:sp>
        <p:nvSpPr>
          <p:cNvPr id="312" name="out1"/>
          <p:cNvSpPr/>
          <p:nvPr/>
        </p:nvSpPr>
        <p:spPr>
          <a:xfrm>
            <a:off x="6458407" y="3657600"/>
            <a:ext cx="2148840" cy="502920"/>
          </a:xfrm>
          <a:prstGeom prst="roundRect">
            <a:avLst>
              <a:gd name="adj" fmla="val 45455"/>
            </a:avLst>
          </a:prstGeom>
          <a:solidFill>
            <a:srgbClr val="EEF4FA"/>
          </a:solidFill>
          <a:ln w="12700">
            <a:solidFill>
              <a:srgbClr val="EEF4FA"/>
            </a:solidFill>
            <a:prstDash val="solid"/>
          </a:ln>
        </p:spPr>
      </p:sp>
      <p:sp>
        <p:nvSpPr>
          <p:cNvPr id="313" name="Text 14"/>
          <p:cNvSpPr txBox="1"/>
          <p:nvPr/>
        </p:nvSpPr>
        <p:spPr>
          <a:xfrm>
            <a:off x="6458407" y="3657600"/>
            <a:ext cx="2148840" cy="502920"/>
          </a:xfrm>
          <a:prstGeom prst="rect">
            <a:avLst/>
          </a:prstGeom>
          <a:noFill/>
          <a:ln/>
        </p:spPr>
        <p:txBody>
          <a:bodyPr wrap="square" lIns="0" tIns="0" rIns="0" bIns="0" rtlCol="0" anchor="ctr"/>
          <a:lstStyle/>
          <a:p>
            <a:pPr rtl="1" algn="ctr" indent="0" marL="0">
              <a:buNone/>
            </a:pPr>
            <a:r>
              <a:rPr lang="en-US" sz="1300" b="1" dirty="0">
                <a:solidFill>
                  <a:srgbClr val="1B2540"/>
                </a:solidFill>
                <a:latin typeface="Arial" pitchFamily="34" charset="0"/>
                <a:ea typeface="Arial" pitchFamily="34" charset="-122"/>
                <a:cs typeface="Arial" pitchFamily="34" charset="-120"/>
              </a:rPr>
              <a:t>المخرج: برنامج مراجَع</a:t>
            </a:r>
            <a:endParaRPr lang="en-US" sz="1300" dirty="0"/>
          </a:p>
        </p:txBody>
      </p:sp>
      <p:sp>
        <p:nvSpPr>
          <p:cNvPr id="314" name="Text 15"/>
          <p:cNvSpPr txBox="1"/>
          <p:nvPr/>
        </p:nvSpPr>
        <p:spPr>
          <a:xfrm>
            <a:off x="6504127" y="4343400"/>
            <a:ext cx="2057400" cy="1188720"/>
          </a:xfrm>
          <a:prstGeom prst="rect">
            <a:avLst/>
          </a:prstGeom>
          <a:noFill/>
          <a:ln/>
        </p:spPr>
        <p:txBody>
          <a:bodyPr wrap="square" lIns="0" tIns="0" rIns="0" bIns="0" rtlCol="0" anchor="t"/>
          <a:lstStyle/>
          <a:p>
            <a:pPr rtl="1" algn="ctr" indent="0" marL="0">
              <a:buNone/>
            </a:pPr>
            <a:r>
              <a:rPr lang="en-US" sz="1400" dirty="0">
                <a:solidFill>
                  <a:srgbClr val="5A6478"/>
                </a:solidFill>
                <a:latin typeface="Arial" pitchFamily="34" charset="0"/>
                <a:ea typeface="Arial" pitchFamily="34" charset="-122"/>
                <a:cs typeface="Arial" pitchFamily="34" charset="-120"/>
              </a:rPr>
              <a:t>مراجعة نواتج التعلم وأساليب التقييم، وجمع الأدلة وفق المعايير</a:t>
            </a:r>
            <a:endParaRPr lang="en-US" sz="1400" dirty="0"/>
          </a:p>
        </p:txBody>
      </p:sp>
      <p:sp>
        <p:nvSpPr>
          <p:cNvPr id="315" name="arr1"/>
          <p:cNvSpPr/>
          <p:nvPr/>
        </p:nvSpPr>
        <p:spPr>
          <a:xfrm>
            <a:off x="6092647" y="2011680"/>
            <a:ext cx="182880" cy="274320"/>
          </a:xfrm>
          <a:prstGeom prst="leftArrow">
            <a:avLst/>
          </a:prstGeom>
          <a:solidFill>
            <a:srgbClr val="B8C4D6"/>
          </a:solidFill>
          <a:ln w="12700">
            <a:solidFill>
              <a:srgbClr val="B8C4D6"/>
            </a:solidFill>
            <a:prstDash val="solid"/>
          </a:ln>
        </p:spPr>
      </p:sp>
      <p:sp>
        <p:nvSpPr>
          <p:cNvPr id="316" name="stage2"/>
          <p:cNvSpPr/>
          <p:nvPr/>
        </p:nvSpPr>
        <p:spPr>
          <a:xfrm>
            <a:off x="3559759" y="1463040"/>
            <a:ext cx="2514600" cy="4206240"/>
          </a:xfrm>
          <a:prstGeom prst="roundRect">
            <a:avLst>
              <a:gd name="adj" fmla="val 4364"/>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17" name="stageNum2"/>
          <p:cNvSpPr/>
          <p:nvPr/>
        </p:nvSpPr>
        <p:spPr>
          <a:xfrm>
            <a:off x="4405579" y="1737360"/>
            <a:ext cx="822960" cy="822960"/>
          </a:xfrm>
          <a:prstGeom prst="ellipse">
            <a:avLst/>
          </a:prstGeom>
          <a:solidFill>
            <a:srgbClr val="00A3C4"/>
          </a:solidFill>
          <a:ln w="12700">
            <a:solidFill>
              <a:srgbClr val="00A3C4"/>
            </a:solidFill>
            <a:prstDash val="solid"/>
          </a:ln>
        </p:spPr>
      </p:sp>
      <p:sp>
        <p:nvSpPr>
          <p:cNvPr id="318" name="Text 19"/>
          <p:cNvSpPr txBox="1"/>
          <p:nvPr/>
        </p:nvSpPr>
        <p:spPr>
          <a:xfrm>
            <a:off x="4405579" y="1737360"/>
            <a:ext cx="822960" cy="822960"/>
          </a:xfrm>
          <a:prstGeom prst="rect">
            <a:avLst/>
          </a:prstGeom>
          <a:noFill/>
          <a:ln/>
        </p:spPr>
        <p:txBody>
          <a:bodyPr wrap="square" lIns="0" tIns="0" rIns="0" bIns="0" rtlCol="0" anchor="ctr"/>
          <a:lstStyle/>
          <a:p>
            <a:pPr rtl="1" algn="ctr" indent="0" marL="0">
              <a:buNone/>
            </a:pPr>
            <a:r>
              <a:rPr lang="en-US" sz="3000" b="1" dirty="0">
                <a:solidFill>
                  <a:srgbClr val="FFFFFF"/>
                </a:solidFill>
                <a:latin typeface="Arial" pitchFamily="34" charset="0"/>
                <a:ea typeface="Arial" pitchFamily="34" charset="-122"/>
                <a:cs typeface="Arial" pitchFamily="34" charset="-120"/>
              </a:rPr>
              <a:t>3</a:t>
            </a:r>
            <a:endParaRPr lang="en-US" sz="3000" dirty="0"/>
          </a:p>
        </p:txBody>
      </p:sp>
      <p:sp>
        <p:nvSpPr>
          <p:cNvPr id="319" name="Text 20"/>
          <p:cNvSpPr txBox="1"/>
          <p:nvPr/>
        </p:nvSpPr>
        <p:spPr>
          <a:xfrm>
            <a:off x="3742639" y="2743200"/>
            <a:ext cx="2148840" cy="822960"/>
          </a:xfrm>
          <a:prstGeom prst="rect">
            <a:avLst/>
          </a:prstGeom>
          <a:noFill/>
          <a:ln/>
        </p:spPr>
        <p:txBody>
          <a:bodyPr wrap="square" lIns="0" tIns="0" rIns="0" bIns="0" rtlCol="0" anchor="ctr"/>
          <a:lstStyle/>
          <a:p>
            <a:pPr rtl="1" algn="ctr" indent="0" marL="0">
              <a:buNone/>
            </a:pPr>
            <a:r>
              <a:rPr lang="en-US" sz="1700" b="1" dirty="0">
                <a:solidFill>
                  <a:srgbClr val="00A3C4"/>
                </a:solidFill>
                <a:latin typeface="Arial" pitchFamily="34" charset="0"/>
                <a:ea typeface="Arial" pitchFamily="34" charset="-122"/>
                <a:cs typeface="Arial" pitchFamily="34" charset="-120"/>
              </a:rPr>
              <a:t>إعداد الأدلة وتنظيمها</a:t>
            </a:r>
            <a:endParaRPr lang="en-US" sz="1700" dirty="0"/>
          </a:p>
        </p:txBody>
      </p:sp>
      <p:sp>
        <p:nvSpPr>
          <p:cNvPr id="320" name="out2"/>
          <p:cNvSpPr/>
          <p:nvPr/>
        </p:nvSpPr>
        <p:spPr>
          <a:xfrm>
            <a:off x="3742639" y="3657600"/>
            <a:ext cx="2148840" cy="502920"/>
          </a:xfrm>
          <a:prstGeom prst="roundRect">
            <a:avLst>
              <a:gd name="adj" fmla="val 45455"/>
            </a:avLst>
          </a:prstGeom>
          <a:solidFill>
            <a:srgbClr val="EEF4FA"/>
          </a:solidFill>
          <a:ln w="12700">
            <a:solidFill>
              <a:srgbClr val="EEF4FA"/>
            </a:solidFill>
            <a:prstDash val="solid"/>
          </a:ln>
        </p:spPr>
      </p:sp>
      <p:sp>
        <p:nvSpPr>
          <p:cNvPr id="321" name="Text 22"/>
          <p:cNvSpPr txBox="1"/>
          <p:nvPr/>
        </p:nvSpPr>
        <p:spPr>
          <a:xfrm>
            <a:off x="3742639" y="3657600"/>
            <a:ext cx="2148840" cy="502920"/>
          </a:xfrm>
          <a:prstGeom prst="rect">
            <a:avLst/>
          </a:prstGeom>
          <a:noFill/>
          <a:ln/>
        </p:spPr>
        <p:txBody>
          <a:bodyPr wrap="square" lIns="0" tIns="0" rIns="0" bIns="0" rtlCol="0" anchor="ctr"/>
          <a:lstStyle/>
          <a:p>
            <a:pPr rtl="1" algn="ctr" indent="0" marL="0">
              <a:buNone/>
            </a:pPr>
            <a:r>
              <a:rPr lang="en-US" sz="1300" b="1" dirty="0">
                <a:solidFill>
                  <a:srgbClr val="1B2540"/>
                </a:solidFill>
                <a:latin typeface="Arial" pitchFamily="34" charset="0"/>
                <a:ea typeface="Arial" pitchFamily="34" charset="-122"/>
                <a:cs typeface="Arial" pitchFamily="34" charset="-120"/>
              </a:rPr>
              <a:t>المخرج: مستودع أدلة مكتمل</a:t>
            </a:r>
            <a:endParaRPr lang="en-US" sz="1300" dirty="0"/>
          </a:p>
        </p:txBody>
      </p:sp>
      <p:sp>
        <p:nvSpPr>
          <p:cNvPr id="322" name="Text 23"/>
          <p:cNvSpPr txBox="1"/>
          <p:nvPr/>
        </p:nvSpPr>
        <p:spPr>
          <a:xfrm>
            <a:off x="3788359" y="4343400"/>
            <a:ext cx="2057400" cy="1188720"/>
          </a:xfrm>
          <a:prstGeom prst="rect">
            <a:avLst/>
          </a:prstGeom>
          <a:noFill/>
          <a:ln/>
        </p:spPr>
        <p:txBody>
          <a:bodyPr wrap="square" lIns="0" tIns="0" rIns="0" bIns="0" rtlCol="0" anchor="t"/>
          <a:lstStyle/>
          <a:p>
            <a:pPr rtl="1" algn="ctr" indent="0" marL="0">
              <a:buNone/>
            </a:pPr>
            <a:r>
              <a:rPr lang="en-US" sz="1400" dirty="0">
                <a:solidFill>
                  <a:srgbClr val="5A6478"/>
                </a:solidFill>
                <a:latin typeface="Arial" pitchFamily="34" charset="0"/>
                <a:ea typeface="Arial" pitchFamily="34" charset="-122"/>
                <a:cs typeface="Arial" pitchFamily="34" charset="-120"/>
              </a:rPr>
              <a:t>مستودع وترميز للأدلة، وخطة استكمال، وزيارة تجريبية</a:t>
            </a:r>
            <a:endParaRPr lang="en-US" sz="1400" dirty="0"/>
          </a:p>
        </p:txBody>
      </p:sp>
      <p:sp>
        <p:nvSpPr>
          <p:cNvPr id="323" name="arr2"/>
          <p:cNvSpPr/>
          <p:nvPr/>
        </p:nvSpPr>
        <p:spPr>
          <a:xfrm>
            <a:off x="3376879" y="2011680"/>
            <a:ext cx="182880" cy="274320"/>
          </a:xfrm>
          <a:prstGeom prst="leftArrow">
            <a:avLst/>
          </a:prstGeom>
          <a:solidFill>
            <a:srgbClr val="B8C4D6"/>
          </a:solidFill>
          <a:ln w="12700">
            <a:solidFill>
              <a:srgbClr val="B8C4D6"/>
            </a:solidFill>
            <a:prstDash val="solid"/>
          </a:ln>
        </p:spPr>
      </p:sp>
      <p:sp>
        <p:nvSpPr>
          <p:cNvPr id="324" name="stage3"/>
          <p:cNvSpPr/>
          <p:nvPr/>
        </p:nvSpPr>
        <p:spPr>
          <a:xfrm>
            <a:off x="843991" y="1463040"/>
            <a:ext cx="2514600" cy="4206240"/>
          </a:xfrm>
          <a:prstGeom prst="roundRect">
            <a:avLst>
              <a:gd name="adj" fmla="val 4364"/>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25" name="stageNum3"/>
          <p:cNvSpPr/>
          <p:nvPr/>
        </p:nvSpPr>
        <p:spPr>
          <a:xfrm>
            <a:off x="1689811" y="1737360"/>
            <a:ext cx="822960" cy="822960"/>
          </a:xfrm>
          <a:prstGeom prst="ellipse">
            <a:avLst/>
          </a:prstGeom>
          <a:solidFill>
            <a:srgbClr val="5E2B91"/>
          </a:solidFill>
          <a:ln w="12700">
            <a:solidFill>
              <a:srgbClr val="5E2B91"/>
            </a:solidFill>
            <a:prstDash val="solid"/>
          </a:ln>
        </p:spPr>
      </p:sp>
      <p:sp>
        <p:nvSpPr>
          <p:cNvPr id="326" name="Text 27"/>
          <p:cNvSpPr txBox="1"/>
          <p:nvPr/>
        </p:nvSpPr>
        <p:spPr>
          <a:xfrm>
            <a:off x="1689811" y="1737360"/>
            <a:ext cx="822960" cy="822960"/>
          </a:xfrm>
          <a:prstGeom prst="rect">
            <a:avLst/>
          </a:prstGeom>
          <a:noFill/>
          <a:ln/>
        </p:spPr>
        <p:txBody>
          <a:bodyPr wrap="square" lIns="0" tIns="0" rIns="0" bIns="0" rtlCol="0" anchor="ctr"/>
          <a:lstStyle/>
          <a:p>
            <a:pPr rtl="1" algn="ctr" indent="0" marL="0">
              <a:buNone/>
            </a:pPr>
            <a:r>
              <a:rPr lang="en-US" sz="3000" b="1" dirty="0">
                <a:solidFill>
                  <a:srgbClr val="FFFFFF"/>
                </a:solidFill>
                <a:latin typeface="Arial" pitchFamily="34" charset="0"/>
                <a:ea typeface="Arial" pitchFamily="34" charset="-122"/>
                <a:cs typeface="Arial" pitchFamily="34" charset="-120"/>
              </a:rPr>
              <a:t>4</a:t>
            </a:r>
            <a:endParaRPr lang="en-US" sz="3000" dirty="0"/>
          </a:p>
        </p:txBody>
      </p:sp>
      <p:sp>
        <p:nvSpPr>
          <p:cNvPr id="327" name="Text 28"/>
          <p:cNvSpPr txBox="1"/>
          <p:nvPr/>
        </p:nvSpPr>
        <p:spPr>
          <a:xfrm>
            <a:off x="1026871" y="2743200"/>
            <a:ext cx="2148840" cy="822960"/>
          </a:xfrm>
          <a:prstGeom prst="rect">
            <a:avLst/>
          </a:prstGeom>
          <a:noFill/>
          <a:ln/>
        </p:spPr>
        <p:txBody>
          <a:bodyPr wrap="square" lIns="0" tIns="0" rIns="0" bIns="0" rtlCol="0" anchor="ctr"/>
          <a:lstStyle/>
          <a:p>
            <a:pPr rtl="1" algn="ctr" indent="0" marL="0">
              <a:buNone/>
            </a:pPr>
            <a:r>
              <a:rPr lang="en-US" sz="1700" b="1" dirty="0">
                <a:solidFill>
                  <a:srgbClr val="5E2B91"/>
                </a:solidFill>
                <a:latin typeface="Arial" pitchFamily="34" charset="0"/>
                <a:ea typeface="Arial" pitchFamily="34" charset="-122"/>
                <a:cs typeface="Arial" pitchFamily="34" charset="-120"/>
              </a:rPr>
              <a:t>ترتيب زيارة فريق المراجعة</a:t>
            </a:r>
            <a:endParaRPr lang="en-US" sz="1700" dirty="0"/>
          </a:p>
        </p:txBody>
      </p:sp>
      <p:sp>
        <p:nvSpPr>
          <p:cNvPr id="328" name="out3"/>
          <p:cNvSpPr/>
          <p:nvPr/>
        </p:nvSpPr>
        <p:spPr>
          <a:xfrm>
            <a:off x="1026871" y="3657600"/>
            <a:ext cx="2148840" cy="502920"/>
          </a:xfrm>
          <a:prstGeom prst="roundRect">
            <a:avLst>
              <a:gd name="adj" fmla="val 45455"/>
            </a:avLst>
          </a:prstGeom>
          <a:solidFill>
            <a:srgbClr val="EEF4FA"/>
          </a:solidFill>
          <a:ln w="12700">
            <a:solidFill>
              <a:srgbClr val="EEF4FA"/>
            </a:solidFill>
            <a:prstDash val="solid"/>
          </a:ln>
        </p:spPr>
      </p:sp>
      <p:sp>
        <p:nvSpPr>
          <p:cNvPr id="329" name="Text 30"/>
          <p:cNvSpPr txBox="1"/>
          <p:nvPr/>
        </p:nvSpPr>
        <p:spPr>
          <a:xfrm>
            <a:off x="1026871" y="3657600"/>
            <a:ext cx="2148840" cy="502920"/>
          </a:xfrm>
          <a:prstGeom prst="rect">
            <a:avLst/>
          </a:prstGeom>
          <a:noFill/>
          <a:ln/>
        </p:spPr>
        <p:txBody>
          <a:bodyPr wrap="square" lIns="0" tIns="0" rIns="0" bIns="0" rtlCol="0" anchor="ctr"/>
          <a:lstStyle/>
          <a:p>
            <a:pPr rtl="1" algn="ctr" indent="0" marL="0">
              <a:buNone/>
            </a:pPr>
            <a:r>
              <a:rPr lang="en-US" sz="1300" b="1" dirty="0">
                <a:solidFill>
                  <a:srgbClr val="1B2540"/>
                </a:solidFill>
                <a:latin typeface="Arial" pitchFamily="34" charset="0"/>
                <a:ea typeface="Arial" pitchFamily="34" charset="-122"/>
                <a:cs typeface="Arial" pitchFamily="34" charset="-120"/>
              </a:rPr>
              <a:t>المخرج: جاهزية كاملة للزيارة</a:t>
            </a:r>
            <a:endParaRPr lang="en-US" sz="1300" dirty="0"/>
          </a:p>
        </p:txBody>
      </p:sp>
      <p:sp>
        <p:nvSpPr>
          <p:cNvPr id="330" name="Text 31"/>
          <p:cNvSpPr txBox="1"/>
          <p:nvPr/>
        </p:nvSpPr>
        <p:spPr>
          <a:xfrm>
            <a:off x="1072591" y="4343400"/>
            <a:ext cx="2057400" cy="1188720"/>
          </a:xfrm>
          <a:prstGeom prst="rect">
            <a:avLst/>
          </a:prstGeom>
          <a:noFill/>
          <a:ln/>
        </p:spPr>
        <p:txBody>
          <a:bodyPr wrap="square" lIns="0" tIns="0" rIns="0" bIns="0" rtlCol="0" anchor="t"/>
          <a:lstStyle/>
          <a:p>
            <a:pPr rtl="1" algn="ctr" indent="0" marL="0">
              <a:buNone/>
            </a:pPr>
            <a:r>
              <a:rPr lang="en-US" sz="1400" dirty="0">
                <a:solidFill>
                  <a:srgbClr val="5A6478"/>
                </a:solidFill>
                <a:latin typeface="Arial" pitchFamily="34" charset="0"/>
                <a:ea typeface="Arial" pitchFamily="34" charset="-122"/>
                <a:cs typeface="Arial" pitchFamily="34" charset="-120"/>
              </a:rPr>
              <a:t>النسخة النهائية للدراسة الذاتية، وتهيئة المستفيدين والمرافقين</a:t>
            </a:r>
            <a:endParaRPr lang="en-US" sz="1400" dirty="0"/>
          </a:p>
        </p:txBody>
      </p:sp>
      <p:sp>
        <p:nvSpPr>
          <p:cNvPr id="331" name="Text 32"/>
          <p:cNvSpPr txBox="1"/>
          <p:nvPr/>
        </p:nvSpPr>
        <p:spPr>
          <a:xfrm>
            <a:off x="1097280" y="5852160"/>
            <a:ext cx="10652760" cy="320040"/>
          </a:xfrm>
          <a:prstGeom prst="rect">
            <a:avLst/>
          </a:prstGeom>
          <a:noFill/>
          <a:ln/>
        </p:spPr>
        <p:txBody>
          <a:bodyPr wrap="square" lIns="0" tIns="0" rIns="0" bIns="0" rtlCol="0" anchor="t"/>
          <a:lstStyle/>
          <a:p>
            <a:pPr rtl="1" algn="r" indent="0" marL="0">
              <a:buNone/>
            </a:pPr>
            <a:r>
              <a:rPr lang="en-US" sz="1200" dirty="0">
                <a:solidFill>
                  <a:srgbClr val="5A6478"/>
                </a:solidFill>
                <a:latin typeface="Arial" pitchFamily="34" charset="0"/>
                <a:ea typeface="Arial" pitchFamily="34" charset="-122"/>
                <a:cs typeface="Arial" pitchFamily="34" charset="-120"/>
              </a:rPr>
              <a:t>المصدر: نموذج المراحل الأربع للاعتماد البرامجي</a:t>
            </a:r>
            <a:endParaRPr lang="en-US" sz="1200" dirty="0"/>
          </a:p>
        </p:txBody>
      </p:sp>
    </p:spTree>
    <p:extLst>
      <p:ext uri="{BB962C8B-B14F-4D97-AF65-F5344CB8AC3E}">
        <p14:creationId xmlns:p14="http://schemas.microsoft.com/office/powerpoint/2010/main" val="2894989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أين نحن؟ الخطة العامة</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phase0"/>
          <p:cNvSpPr/>
          <p:nvPr/>
        </p:nvSpPr>
        <p:spPr>
          <a:xfrm>
            <a:off x="8259775" y="1737360"/>
            <a:ext cx="3383280" cy="2743200"/>
          </a:xfrm>
          <a:prstGeom prst="roundRect">
            <a:avLst>
              <a:gd name="adj" fmla="val 4000"/>
            </a:avLst>
          </a:prstGeom>
          <a:solidFill>
            <a:srgbClr val="0A1B6E"/>
          </a:solidFill>
          <a:ln w="12700">
            <a:solidFill>
              <a:srgbClr val="0A1B6E"/>
            </a:solidFill>
            <a:prstDash val="solid"/>
          </a:ln>
          <a:effectLst>
            <a:outerShdw sx="100000" sy="100000" kx="0" ky="0" algn="bl" rotWithShape="0" blurRad="76200" dist="25400" dir="5400000">
              <a:srgbClr val="9AA8C0">
                <a:alpha val="25000"/>
              </a:srgbClr>
            </a:outerShdw>
          </a:effectLst>
        </p:spPr>
      </p:sp>
      <p:sp>
        <p:nvSpPr>
          <p:cNvPr id="301" name="Text 2"/>
          <p:cNvSpPr txBox="1"/>
          <p:nvPr/>
        </p:nvSpPr>
        <p:spPr>
          <a:xfrm>
            <a:off x="8488375" y="1965960"/>
            <a:ext cx="2926080" cy="411480"/>
          </a:xfrm>
          <a:prstGeom prst="rect">
            <a:avLst/>
          </a:prstGeom>
          <a:noFill/>
          <a:ln/>
        </p:spPr>
        <p:txBody>
          <a:bodyPr wrap="square" lIns="0" tIns="0" rIns="0" bIns="0" rtlCol="0" anchor="t"/>
          <a:lstStyle/>
          <a:p>
            <a:pPr rtl="1" algn="r" indent="0" marL="0">
              <a:buNone/>
            </a:pPr>
            <a:r>
              <a:rPr lang="en-US" sz="1600" b="1" dirty="0">
                <a:solidFill>
                  <a:srgbClr val="9FE3F0"/>
                </a:solidFill>
                <a:latin typeface="Arial" pitchFamily="34" charset="0"/>
                <a:ea typeface="Arial" pitchFamily="34" charset="-122"/>
                <a:cs typeface="Arial" pitchFamily="34" charset="-120"/>
              </a:rPr>
              <a:t>المرحلة الأولى</a:t>
            </a:r>
            <a:endParaRPr lang="en-US" sz="1600" dirty="0"/>
          </a:p>
        </p:txBody>
      </p:sp>
      <p:sp>
        <p:nvSpPr>
          <p:cNvPr id="302" name="Text 3"/>
          <p:cNvSpPr txBox="1"/>
          <p:nvPr/>
        </p:nvSpPr>
        <p:spPr>
          <a:xfrm>
            <a:off x="8488375" y="2377440"/>
            <a:ext cx="2926080" cy="868680"/>
          </a:xfrm>
          <a:prstGeom prst="rect">
            <a:avLst/>
          </a:prstGeom>
          <a:noFill/>
          <a:ln/>
        </p:spPr>
        <p:txBody>
          <a:bodyPr wrap="square" lIns="0" tIns="0" rIns="0" bIns="0" rtlCol="0" anchor="t"/>
          <a:lstStyle/>
          <a:p>
            <a:pPr rtl="1" algn="r" indent="0" marL="0">
              <a:buNone/>
            </a:pPr>
            <a:r>
              <a:rPr lang="en-US" sz="1800" b="1" dirty="0">
                <a:solidFill>
                  <a:srgbClr val="FFFFFF"/>
                </a:solidFill>
                <a:latin typeface="Arial" pitchFamily="34" charset="0"/>
                <a:ea typeface="Arial" pitchFamily="34" charset="-122"/>
                <a:cs typeface="Arial" pitchFamily="34" charset="-120"/>
              </a:rPr>
              <a:t>تقييم الجاهزية وفحص الأدلة</a:t>
            </a:r>
            <a:endParaRPr lang="en-US" sz="1800" dirty="0"/>
          </a:p>
        </p:txBody>
      </p:sp>
      <p:sp>
        <p:nvSpPr>
          <p:cNvPr id="303" name="Text 4"/>
          <p:cNvSpPr txBox="1"/>
          <p:nvPr/>
        </p:nvSpPr>
        <p:spPr>
          <a:xfrm>
            <a:off x="8488375" y="3291840"/>
            <a:ext cx="2926080" cy="365760"/>
          </a:xfrm>
          <a:prstGeom prst="rect">
            <a:avLst/>
          </a:prstGeom>
          <a:noFill/>
          <a:ln/>
        </p:spPr>
        <p:txBody>
          <a:bodyPr wrap="square" lIns="0" tIns="0" rIns="0" bIns="0" rtlCol="0" anchor="t"/>
          <a:lstStyle/>
          <a:p>
            <a:pPr rtl="1" algn="r" indent="0" marL="0">
              <a:buNone/>
            </a:pPr>
            <a:r>
              <a:rPr lang="en-US" sz="1400" dirty="0">
                <a:solidFill>
                  <a:srgbClr val="D6E4F5"/>
                </a:solidFill>
                <a:latin typeface="Arial" pitchFamily="34" charset="0"/>
                <a:ea typeface="Arial" pitchFamily="34" charset="-122"/>
                <a:cs typeface="Arial" pitchFamily="34" charset="-120"/>
              </a:rPr>
              <a:t>المدة: 8 أسابيع</a:t>
            </a:r>
            <a:endParaRPr lang="en-US" sz="1400" dirty="0"/>
          </a:p>
        </p:txBody>
      </p:sp>
      <p:sp>
        <p:nvSpPr>
          <p:cNvPr id="304" name="Text 5"/>
          <p:cNvSpPr txBox="1"/>
          <p:nvPr/>
        </p:nvSpPr>
        <p:spPr>
          <a:xfrm>
            <a:off x="8488375" y="3657600"/>
            <a:ext cx="2926080" cy="685800"/>
          </a:xfrm>
          <a:prstGeom prst="rect">
            <a:avLst/>
          </a:prstGeom>
          <a:noFill/>
          <a:ln/>
        </p:spPr>
        <p:txBody>
          <a:bodyPr wrap="square" lIns="0" tIns="0" rIns="0" bIns="0" rtlCol="0" anchor="t"/>
          <a:lstStyle/>
          <a:p>
            <a:pPr rtl="1" algn="r" indent="0" marL="0">
              <a:buNone/>
            </a:pPr>
            <a:r>
              <a:rPr lang="en-US" sz="1400" dirty="0">
                <a:solidFill>
                  <a:srgbClr val="D6E4F5"/>
                </a:solidFill>
                <a:latin typeface="Arial" pitchFamily="34" charset="0"/>
                <a:ea typeface="Arial" pitchFamily="34" charset="-122"/>
                <a:cs typeface="Arial" pitchFamily="34" charset="-120"/>
              </a:rPr>
              <a:t>المخرج: تقرير جاهزية + فهرس أدلة + خطة استكمال</a:t>
            </a:r>
            <a:endParaRPr lang="en-US" sz="1400" dirty="0"/>
          </a:p>
        </p:txBody>
      </p:sp>
      <p:sp>
        <p:nvSpPr>
          <p:cNvPr id="305" name="here"/>
          <p:cNvSpPr/>
          <p:nvPr/>
        </p:nvSpPr>
        <p:spPr>
          <a:xfrm>
            <a:off x="10180015" y="1463040"/>
            <a:ext cx="1280160" cy="411480"/>
          </a:xfrm>
          <a:prstGeom prst="roundRect">
            <a:avLst>
              <a:gd name="adj" fmla="val 48889"/>
            </a:avLst>
          </a:prstGeom>
          <a:solidFill>
            <a:srgbClr val="00A3C4"/>
          </a:solidFill>
          <a:ln w="12700">
            <a:solidFill>
              <a:srgbClr val="00A3C4"/>
            </a:solidFill>
            <a:prstDash val="solid"/>
          </a:ln>
        </p:spPr>
      </p:sp>
      <p:sp>
        <p:nvSpPr>
          <p:cNvPr id="306" name="Text 7"/>
          <p:cNvSpPr txBox="1"/>
          <p:nvPr/>
        </p:nvSpPr>
        <p:spPr>
          <a:xfrm>
            <a:off x="10180015" y="1463040"/>
            <a:ext cx="1280160" cy="41148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نحن هنا</a:t>
            </a:r>
            <a:endParaRPr lang="en-US" sz="1400" dirty="0"/>
          </a:p>
        </p:txBody>
      </p:sp>
      <p:sp>
        <p:nvSpPr>
          <p:cNvPr id="307" name="phase1"/>
          <p:cNvSpPr/>
          <p:nvPr/>
        </p:nvSpPr>
        <p:spPr>
          <a:xfrm>
            <a:off x="4620463" y="1737360"/>
            <a:ext cx="338328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8" name="Text 9"/>
          <p:cNvSpPr txBox="1"/>
          <p:nvPr/>
        </p:nvSpPr>
        <p:spPr>
          <a:xfrm>
            <a:off x="4849063" y="1965960"/>
            <a:ext cx="2926080" cy="411480"/>
          </a:xfrm>
          <a:prstGeom prst="rect">
            <a:avLst/>
          </a:prstGeom>
          <a:noFill/>
          <a:ln/>
        </p:spPr>
        <p:txBody>
          <a:bodyPr wrap="square" lIns="0" tIns="0" rIns="0" bIns="0" rtlCol="0" anchor="t"/>
          <a:lstStyle/>
          <a:p>
            <a:pPr rtl="1" algn="r" indent="0" marL="0">
              <a:buNone/>
            </a:pPr>
            <a:r>
              <a:rPr lang="en-US" sz="1600" b="1" dirty="0">
                <a:solidFill>
                  <a:srgbClr val="0072BC"/>
                </a:solidFill>
                <a:latin typeface="Arial" pitchFamily="34" charset="0"/>
                <a:ea typeface="Arial" pitchFamily="34" charset="-122"/>
                <a:cs typeface="Arial" pitchFamily="34" charset="-120"/>
              </a:rPr>
              <a:t>المرحلة الثانية</a:t>
            </a:r>
            <a:endParaRPr lang="en-US" sz="1600" dirty="0"/>
          </a:p>
        </p:txBody>
      </p:sp>
      <p:sp>
        <p:nvSpPr>
          <p:cNvPr id="309" name="Text 10"/>
          <p:cNvSpPr txBox="1"/>
          <p:nvPr/>
        </p:nvSpPr>
        <p:spPr>
          <a:xfrm>
            <a:off x="4849063" y="2377440"/>
            <a:ext cx="2926080" cy="868680"/>
          </a:xfrm>
          <a:prstGeom prst="rect">
            <a:avLst/>
          </a:prstGeom>
          <a:noFill/>
          <a:ln/>
        </p:spPr>
        <p:txBody>
          <a:bodyPr wrap="square" lIns="0" tIns="0" rIns="0" bIns="0" rtlCol="0" anchor="t"/>
          <a:lstStyle/>
          <a:p>
            <a:pPr rtl="1" algn="r" indent="0" marL="0">
              <a:buNone/>
            </a:pPr>
            <a:r>
              <a:rPr lang="en-US" sz="1800" b="1" dirty="0">
                <a:solidFill>
                  <a:srgbClr val="1B2540"/>
                </a:solidFill>
                <a:latin typeface="Arial" pitchFamily="34" charset="0"/>
                <a:ea typeface="Arial" pitchFamily="34" charset="-122"/>
                <a:cs typeface="Arial" pitchFamily="34" charset="-120"/>
              </a:rPr>
              <a:t>إعداد الدراسة الذاتية واستكمال ملف الأدلة</a:t>
            </a:r>
            <a:endParaRPr lang="en-US" sz="1800" dirty="0"/>
          </a:p>
        </p:txBody>
      </p:sp>
      <p:sp>
        <p:nvSpPr>
          <p:cNvPr id="310" name="Text 11"/>
          <p:cNvSpPr txBox="1"/>
          <p:nvPr/>
        </p:nvSpPr>
        <p:spPr>
          <a:xfrm>
            <a:off x="4849063" y="3291840"/>
            <a:ext cx="2926080" cy="365760"/>
          </a:xfrm>
          <a:prstGeom prst="rect">
            <a:avLst/>
          </a:prstGeom>
          <a:noFill/>
          <a:ln/>
        </p:spPr>
        <p:txBody>
          <a:bodyPr wrap="square" lIns="0" tIns="0" rIns="0" bIns="0" rtlCol="0" anchor="t"/>
          <a:lstStyle/>
          <a:p>
            <a:pPr rtl="1" algn="r" indent="0" marL="0">
              <a:buNone/>
            </a:pPr>
            <a:r>
              <a:rPr lang="en-US" sz="1400" dirty="0">
                <a:solidFill>
                  <a:srgbClr val="5A6478"/>
                </a:solidFill>
                <a:latin typeface="Arial" pitchFamily="34" charset="0"/>
                <a:ea typeface="Arial" pitchFamily="34" charset="-122"/>
                <a:cs typeface="Arial" pitchFamily="34" charset="-120"/>
              </a:rPr>
              <a:t>المدة: بعد تحقق الجاهزية</a:t>
            </a:r>
            <a:endParaRPr lang="en-US" sz="1400" dirty="0"/>
          </a:p>
        </p:txBody>
      </p:sp>
      <p:sp>
        <p:nvSpPr>
          <p:cNvPr id="311" name="Text 12"/>
          <p:cNvSpPr txBox="1"/>
          <p:nvPr/>
        </p:nvSpPr>
        <p:spPr>
          <a:xfrm>
            <a:off x="4849063" y="3657600"/>
            <a:ext cx="2926080" cy="685800"/>
          </a:xfrm>
          <a:prstGeom prst="rect">
            <a:avLst/>
          </a:prstGeom>
          <a:noFill/>
          <a:ln/>
        </p:spPr>
        <p:txBody>
          <a:bodyPr wrap="square" lIns="0" tIns="0" rIns="0" bIns="0" rtlCol="0" anchor="t"/>
          <a:lstStyle/>
          <a:p>
            <a:pPr rtl="1" algn="r" indent="0" marL="0">
              <a:buNone/>
            </a:pPr>
            <a:r>
              <a:rPr lang="en-US" sz="1400" dirty="0">
                <a:solidFill>
                  <a:srgbClr val="5A6478"/>
                </a:solidFill>
                <a:latin typeface="Arial" pitchFamily="34" charset="0"/>
                <a:ea typeface="Arial" pitchFamily="34" charset="-122"/>
                <a:cs typeface="Arial" pitchFamily="34" charset="-120"/>
              </a:rPr>
              <a:t>المخرج: الدراسة الذاتية + ملف أدلة مكتمل</a:t>
            </a:r>
            <a:endParaRPr lang="en-US" sz="1400" dirty="0"/>
          </a:p>
        </p:txBody>
      </p:sp>
      <p:sp>
        <p:nvSpPr>
          <p:cNvPr id="312" name="phase2"/>
          <p:cNvSpPr/>
          <p:nvPr/>
        </p:nvSpPr>
        <p:spPr>
          <a:xfrm>
            <a:off x="981151" y="1737360"/>
            <a:ext cx="3383280" cy="2743200"/>
          </a:xfrm>
          <a:prstGeom prst="roundRect">
            <a:avLst>
              <a:gd name="adj" fmla="val 4000"/>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13" name="Text 14"/>
          <p:cNvSpPr txBox="1"/>
          <p:nvPr/>
        </p:nvSpPr>
        <p:spPr>
          <a:xfrm>
            <a:off x="1209751" y="1965960"/>
            <a:ext cx="2926080" cy="411480"/>
          </a:xfrm>
          <a:prstGeom prst="rect">
            <a:avLst/>
          </a:prstGeom>
          <a:noFill/>
          <a:ln/>
        </p:spPr>
        <p:txBody>
          <a:bodyPr wrap="square" lIns="0" tIns="0" rIns="0" bIns="0" rtlCol="0" anchor="t"/>
          <a:lstStyle/>
          <a:p>
            <a:pPr rtl="1" algn="r" indent="0" marL="0">
              <a:buNone/>
            </a:pPr>
            <a:r>
              <a:rPr lang="en-US" sz="1600" b="1" dirty="0">
                <a:solidFill>
                  <a:srgbClr val="5E2B91"/>
                </a:solidFill>
                <a:latin typeface="Arial" pitchFamily="34" charset="0"/>
                <a:ea typeface="Arial" pitchFamily="34" charset="-122"/>
                <a:cs typeface="Arial" pitchFamily="34" charset="-120"/>
              </a:rPr>
              <a:t>المرحلة الثالثة</a:t>
            </a:r>
            <a:endParaRPr lang="en-US" sz="1600" dirty="0"/>
          </a:p>
        </p:txBody>
      </p:sp>
      <p:sp>
        <p:nvSpPr>
          <p:cNvPr id="314" name="Text 15"/>
          <p:cNvSpPr txBox="1"/>
          <p:nvPr/>
        </p:nvSpPr>
        <p:spPr>
          <a:xfrm>
            <a:off x="1209751" y="2377440"/>
            <a:ext cx="2926080" cy="868680"/>
          </a:xfrm>
          <a:prstGeom prst="rect">
            <a:avLst/>
          </a:prstGeom>
          <a:noFill/>
          <a:ln/>
        </p:spPr>
        <p:txBody>
          <a:bodyPr wrap="square" lIns="0" tIns="0" rIns="0" bIns="0" rtlCol="0" anchor="t"/>
          <a:lstStyle/>
          <a:p>
            <a:pPr rtl="1" algn="r" indent="0" marL="0">
              <a:buNone/>
            </a:pPr>
            <a:r>
              <a:rPr lang="en-US" sz="1800" b="1" dirty="0">
                <a:solidFill>
                  <a:srgbClr val="1B2540"/>
                </a:solidFill>
                <a:latin typeface="Arial" pitchFamily="34" charset="0"/>
                <a:ea typeface="Arial" pitchFamily="34" charset="-122"/>
                <a:cs typeface="Arial" pitchFamily="34" charset="-120"/>
              </a:rPr>
              <a:t>المراجعة النهائية والتقديم والاستعداد للزيارة</a:t>
            </a:r>
            <a:endParaRPr lang="en-US" sz="1800" dirty="0"/>
          </a:p>
        </p:txBody>
      </p:sp>
      <p:sp>
        <p:nvSpPr>
          <p:cNvPr id="315" name="Text 16"/>
          <p:cNvSpPr txBox="1"/>
          <p:nvPr/>
        </p:nvSpPr>
        <p:spPr>
          <a:xfrm>
            <a:off x="1209751" y="3291840"/>
            <a:ext cx="2926080" cy="365760"/>
          </a:xfrm>
          <a:prstGeom prst="rect">
            <a:avLst/>
          </a:prstGeom>
          <a:noFill/>
          <a:ln/>
        </p:spPr>
        <p:txBody>
          <a:bodyPr wrap="square" lIns="0" tIns="0" rIns="0" bIns="0" rtlCol="0" anchor="t"/>
          <a:lstStyle/>
          <a:p>
            <a:pPr rtl="1" algn="r" indent="0" marL="0">
              <a:buNone/>
            </a:pPr>
            <a:r>
              <a:rPr lang="en-US" sz="1400" dirty="0">
                <a:solidFill>
                  <a:srgbClr val="5A6478"/>
                </a:solidFill>
                <a:latin typeface="Arial" pitchFamily="34" charset="0"/>
                <a:ea typeface="Arial" pitchFamily="34" charset="-122"/>
                <a:cs typeface="Arial" pitchFamily="34" charset="-120"/>
              </a:rPr>
              <a:t>المدة: وفق خطة التقديم</a:t>
            </a:r>
            <a:endParaRPr lang="en-US" sz="1400" dirty="0"/>
          </a:p>
        </p:txBody>
      </p:sp>
      <p:sp>
        <p:nvSpPr>
          <p:cNvPr id="316" name="Text 17"/>
          <p:cNvSpPr txBox="1"/>
          <p:nvPr/>
        </p:nvSpPr>
        <p:spPr>
          <a:xfrm>
            <a:off x="1209751" y="3657600"/>
            <a:ext cx="2926080" cy="685800"/>
          </a:xfrm>
          <a:prstGeom prst="rect">
            <a:avLst/>
          </a:prstGeom>
          <a:noFill/>
          <a:ln/>
        </p:spPr>
        <p:txBody>
          <a:bodyPr wrap="square" lIns="0" tIns="0" rIns="0" bIns="0" rtlCol="0" anchor="t"/>
          <a:lstStyle/>
          <a:p>
            <a:pPr rtl="1" algn="r" indent="0" marL="0">
              <a:buNone/>
            </a:pPr>
            <a:r>
              <a:rPr lang="en-US" sz="1400" dirty="0">
                <a:solidFill>
                  <a:srgbClr val="5A6478"/>
                </a:solidFill>
                <a:latin typeface="Arial" pitchFamily="34" charset="0"/>
                <a:ea typeface="Arial" pitchFamily="34" charset="-122"/>
                <a:cs typeface="Arial" pitchFamily="34" charset="-120"/>
              </a:rPr>
              <a:t>المخرج: ملف تقديم نهائي + جاهزية للزيارة</a:t>
            </a:r>
            <a:endParaRPr lang="en-US" sz="1400" dirty="0"/>
          </a:p>
        </p:txBody>
      </p:sp>
      <p:sp>
        <p:nvSpPr>
          <p:cNvPr id="317" name="parallel"/>
          <p:cNvSpPr/>
          <p:nvPr/>
        </p:nvSpPr>
        <p:spPr>
          <a:xfrm>
            <a:off x="914400" y="4800600"/>
            <a:ext cx="10835640" cy="1051560"/>
          </a:xfrm>
          <a:prstGeom prst="roundRect">
            <a:avLst>
              <a:gd name="adj" fmla="val 10435"/>
            </a:avLst>
          </a:prstGeom>
          <a:solidFill>
            <a:srgbClr val="EEF4FA"/>
          </a:solidFill>
          <a:ln w="12700">
            <a:solidFill>
              <a:srgbClr val="EEF4FA"/>
            </a:solidFill>
            <a:prstDash val="solid"/>
          </a:ln>
          <a:effectLst>
            <a:outerShdw sx="100000" sy="100000" kx="0" ky="0" algn="bl" rotWithShape="0" blurRad="76200" dist="25400" dir="5400000">
              <a:srgbClr val="9AA8C0">
                <a:alpha val="25000"/>
              </a:srgbClr>
            </a:outerShdw>
          </a:effectLst>
        </p:spPr>
      </p:sp>
      <p:sp>
        <p:nvSpPr>
          <p:cNvPr id="318" name="parIcon"/>
          <p:cNvSpPr/>
          <p:nvPr/>
        </p:nvSpPr>
        <p:spPr>
          <a:xfrm>
            <a:off x="10927080" y="4937760"/>
            <a:ext cx="777240" cy="777240"/>
          </a:xfrm>
          <a:prstGeom prst="ellipse">
            <a:avLst/>
          </a:prstGeom>
          <a:solidFill>
            <a:srgbClr val="00A3C4"/>
          </a:solidFill>
          <a:ln w="12700">
            <a:solidFill>
              <a:srgbClr val="00A3C4"/>
            </a:solidFill>
            <a:prstDash val="solid"/>
          </a:ln>
        </p:spPr>
      </p:sp>
      <p:pic>
        <p:nvPicPr>
          <p:cNvPr id="319" name="Image 0" descr="preencoded.png">    </p:cNvPr>
          <p:cNvPicPr>
            <a:picLocks noChangeAspect="1"/>
          </p:cNvPicPr>
          <p:nvPr/>
        </p:nvPicPr>
        <p:blipFill>
          <a:blip r:embed="rId200"/>
          <a:stretch>
            <a:fillRect/>
          </a:stretch>
        </p:blipFill>
        <p:spPr>
          <a:xfrm>
            <a:off x="11121390" y="5132070"/>
            <a:ext cx="388620" cy="388620"/>
          </a:xfrm>
          <a:prstGeom prst="rect">
            <a:avLst/>
          </a:prstGeom>
        </p:spPr>
      </p:pic>
      <p:sp>
        <p:nvSpPr>
          <p:cNvPr id="320" name="Text 20"/>
          <p:cNvSpPr txBox="1"/>
          <p:nvPr/>
        </p:nvSpPr>
        <p:spPr>
          <a:xfrm>
            <a:off x="1188720" y="4937760"/>
            <a:ext cx="9555480" cy="777240"/>
          </a:xfrm>
          <a:prstGeom prst="rect">
            <a:avLst/>
          </a:prstGeom>
          <a:noFill/>
          <a:ln/>
        </p:spPr>
        <p:txBody>
          <a:bodyPr wrap="square" lIns="0" tIns="0" rIns="0" bIns="0" rtlCol="0" anchor="ctr"/>
          <a:lstStyle/>
          <a:p>
            <a:pPr algn="r" indent="0" marL="0">
              <a:buNone/>
            </a:pPr>
            <a:r>
              <a:rPr lang="en-US" sz="1600" b="1" dirty="0">
                <a:solidFill>
                  <a:srgbClr val="0A1B6E"/>
                </a:solidFill>
                <a:latin typeface="Arial" pitchFamily="34" charset="0"/>
                <a:ea typeface="Arial" pitchFamily="34" charset="-122"/>
                <a:cs typeface="Arial" pitchFamily="34" charset="-120"/>
              </a:rPr>
              <a:t>مسار موازٍ – القسم العلمي: </a:t>
            </a:r>
            <a:pPr algn="r" indent="0" marL="0">
              <a:buNone/>
            </a:pPr>
            <a:r>
              <a:rPr lang="en-US" sz="1600" dirty="0">
                <a:solidFill>
                  <a:srgbClr val="1B2540"/>
                </a:solidFill>
                <a:latin typeface="Arial" pitchFamily="34" charset="0"/>
                <a:ea typeface="Arial" pitchFamily="34" charset="-122"/>
                <a:cs typeface="Arial" pitchFamily="34" charset="-120"/>
              </a:rPr>
              <a:t>مراجعة رسالة البرنامج وأهدافه، ونواتج التعلم، وأساليب التدريس والتقويم، بالتوازي مع المرحلة الأولى</a:t>
            </a:r>
            <a:endParaRPr lang="en-US" sz="1600" dirty="0"/>
          </a:p>
        </p:txBody>
      </p:sp>
    </p:spTree>
    <p:extLst>
      <p:ext uri="{BB962C8B-B14F-4D97-AF65-F5344CB8AC3E}">
        <p14:creationId xmlns:p14="http://schemas.microsoft.com/office/powerpoint/2010/main" val="2894989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الخطة التنفيذية للمرحلة الأولى</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wk1"/>
          <p:cNvSpPr/>
          <p:nvPr/>
        </p:nvSpPr>
        <p:spPr>
          <a:xfrm>
            <a:off x="6295758" y="1417320"/>
            <a:ext cx="821017" cy="384048"/>
          </a:xfrm>
          <a:prstGeom prst="rect">
            <a:avLst/>
          </a:prstGeom>
          <a:solidFill>
            <a:srgbClr val="EEF4FA"/>
          </a:solidFill>
          <a:ln w="12700">
            <a:solidFill>
              <a:srgbClr val="FFFFFF"/>
            </a:solidFill>
            <a:prstDash val="solid"/>
          </a:ln>
        </p:spPr>
      </p:sp>
      <p:sp>
        <p:nvSpPr>
          <p:cNvPr id="301" name="Text 2"/>
          <p:cNvSpPr txBox="1"/>
          <p:nvPr/>
        </p:nvSpPr>
        <p:spPr>
          <a:xfrm>
            <a:off x="6295758" y="1417320"/>
            <a:ext cx="821017" cy="384048"/>
          </a:xfrm>
          <a:prstGeom prst="rect">
            <a:avLst/>
          </a:prstGeom>
          <a:noFill/>
          <a:ln/>
        </p:spPr>
        <p:txBody>
          <a:bodyPr wrap="square" lIns="0" tIns="0" rIns="0" bIns="0" rtlCol="0" anchor="ctr"/>
          <a:lstStyle/>
          <a:p>
            <a:pPr rtl="1" algn="ctr" indent="0" marL="0">
              <a:buNone/>
            </a:pPr>
            <a:r>
              <a:rPr lang="en-US" sz="1400" b="1" dirty="0">
                <a:solidFill>
                  <a:srgbClr val="0A1B6E"/>
                </a:solidFill>
                <a:latin typeface="Arial" pitchFamily="34" charset="0"/>
                <a:ea typeface="Arial" pitchFamily="34" charset="-122"/>
                <a:cs typeface="Arial" pitchFamily="34" charset="-120"/>
              </a:rPr>
              <a:t>1</a:t>
            </a:r>
            <a:endParaRPr lang="en-US" sz="1400" dirty="0"/>
          </a:p>
        </p:txBody>
      </p:sp>
      <p:sp>
        <p:nvSpPr>
          <p:cNvPr id="302" name="wk2"/>
          <p:cNvSpPr/>
          <p:nvPr/>
        </p:nvSpPr>
        <p:spPr>
          <a:xfrm>
            <a:off x="5474741" y="1417320"/>
            <a:ext cx="821017" cy="384048"/>
          </a:xfrm>
          <a:prstGeom prst="rect">
            <a:avLst/>
          </a:prstGeom>
          <a:solidFill>
            <a:srgbClr val="E2EAF4"/>
          </a:solidFill>
          <a:ln w="12700">
            <a:solidFill>
              <a:srgbClr val="FFFFFF"/>
            </a:solidFill>
            <a:prstDash val="solid"/>
          </a:ln>
        </p:spPr>
      </p:sp>
      <p:sp>
        <p:nvSpPr>
          <p:cNvPr id="303" name="Text 4"/>
          <p:cNvSpPr txBox="1"/>
          <p:nvPr/>
        </p:nvSpPr>
        <p:spPr>
          <a:xfrm>
            <a:off x="5474741" y="1417320"/>
            <a:ext cx="821017" cy="384048"/>
          </a:xfrm>
          <a:prstGeom prst="rect">
            <a:avLst/>
          </a:prstGeom>
          <a:noFill/>
          <a:ln/>
        </p:spPr>
        <p:txBody>
          <a:bodyPr wrap="square" lIns="0" tIns="0" rIns="0" bIns="0" rtlCol="0" anchor="ctr"/>
          <a:lstStyle/>
          <a:p>
            <a:pPr rtl="1" algn="ctr" indent="0" marL="0">
              <a:buNone/>
            </a:pPr>
            <a:r>
              <a:rPr lang="en-US" sz="1400" b="1" dirty="0">
                <a:solidFill>
                  <a:srgbClr val="0A1B6E"/>
                </a:solidFill>
                <a:latin typeface="Arial" pitchFamily="34" charset="0"/>
                <a:ea typeface="Arial" pitchFamily="34" charset="-122"/>
                <a:cs typeface="Arial" pitchFamily="34" charset="-120"/>
              </a:rPr>
              <a:t>2</a:t>
            </a:r>
            <a:endParaRPr lang="en-US" sz="1400" dirty="0"/>
          </a:p>
        </p:txBody>
      </p:sp>
      <p:sp>
        <p:nvSpPr>
          <p:cNvPr id="304" name="wk3"/>
          <p:cNvSpPr/>
          <p:nvPr/>
        </p:nvSpPr>
        <p:spPr>
          <a:xfrm>
            <a:off x="4653725" y="1417320"/>
            <a:ext cx="821017" cy="384048"/>
          </a:xfrm>
          <a:prstGeom prst="rect">
            <a:avLst/>
          </a:prstGeom>
          <a:solidFill>
            <a:srgbClr val="EEF4FA"/>
          </a:solidFill>
          <a:ln w="12700">
            <a:solidFill>
              <a:srgbClr val="FFFFFF"/>
            </a:solidFill>
            <a:prstDash val="solid"/>
          </a:ln>
        </p:spPr>
      </p:sp>
      <p:sp>
        <p:nvSpPr>
          <p:cNvPr id="305" name="Text 6"/>
          <p:cNvSpPr txBox="1"/>
          <p:nvPr/>
        </p:nvSpPr>
        <p:spPr>
          <a:xfrm>
            <a:off x="4653725" y="1417320"/>
            <a:ext cx="821017" cy="384048"/>
          </a:xfrm>
          <a:prstGeom prst="rect">
            <a:avLst/>
          </a:prstGeom>
          <a:noFill/>
          <a:ln/>
        </p:spPr>
        <p:txBody>
          <a:bodyPr wrap="square" lIns="0" tIns="0" rIns="0" bIns="0" rtlCol="0" anchor="ctr"/>
          <a:lstStyle/>
          <a:p>
            <a:pPr rtl="1" algn="ctr" indent="0" marL="0">
              <a:buNone/>
            </a:pPr>
            <a:r>
              <a:rPr lang="en-US" sz="1400" b="1" dirty="0">
                <a:solidFill>
                  <a:srgbClr val="0A1B6E"/>
                </a:solidFill>
                <a:latin typeface="Arial" pitchFamily="34" charset="0"/>
                <a:ea typeface="Arial" pitchFamily="34" charset="-122"/>
                <a:cs typeface="Arial" pitchFamily="34" charset="-120"/>
              </a:rPr>
              <a:t>3</a:t>
            </a:r>
            <a:endParaRPr lang="en-US" sz="1400" dirty="0"/>
          </a:p>
        </p:txBody>
      </p:sp>
      <p:sp>
        <p:nvSpPr>
          <p:cNvPr id="306" name="wk4"/>
          <p:cNvSpPr/>
          <p:nvPr/>
        </p:nvSpPr>
        <p:spPr>
          <a:xfrm>
            <a:off x="3832708" y="1417320"/>
            <a:ext cx="821017" cy="384048"/>
          </a:xfrm>
          <a:prstGeom prst="rect">
            <a:avLst/>
          </a:prstGeom>
          <a:solidFill>
            <a:srgbClr val="E2EAF4"/>
          </a:solidFill>
          <a:ln w="12700">
            <a:solidFill>
              <a:srgbClr val="FFFFFF"/>
            </a:solidFill>
            <a:prstDash val="solid"/>
          </a:ln>
        </p:spPr>
      </p:sp>
      <p:sp>
        <p:nvSpPr>
          <p:cNvPr id="307" name="Text 8"/>
          <p:cNvSpPr txBox="1"/>
          <p:nvPr/>
        </p:nvSpPr>
        <p:spPr>
          <a:xfrm>
            <a:off x="3832708" y="1417320"/>
            <a:ext cx="821017" cy="384048"/>
          </a:xfrm>
          <a:prstGeom prst="rect">
            <a:avLst/>
          </a:prstGeom>
          <a:noFill/>
          <a:ln/>
        </p:spPr>
        <p:txBody>
          <a:bodyPr wrap="square" lIns="0" tIns="0" rIns="0" bIns="0" rtlCol="0" anchor="ctr"/>
          <a:lstStyle/>
          <a:p>
            <a:pPr rtl="1" algn="ctr" indent="0" marL="0">
              <a:buNone/>
            </a:pPr>
            <a:r>
              <a:rPr lang="en-US" sz="1400" b="1" dirty="0">
                <a:solidFill>
                  <a:srgbClr val="0A1B6E"/>
                </a:solidFill>
                <a:latin typeface="Arial" pitchFamily="34" charset="0"/>
                <a:ea typeface="Arial" pitchFamily="34" charset="-122"/>
                <a:cs typeface="Arial" pitchFamily="34" charset="-120"/>
              </a:rPr>
              <a:t>4</a:t>
            </a:r>
            <a:endParaRPr lang="en-US" sz="1400" dirty="0"/>
          </a:p>
        </p:txBody>
      </p:sp>
      <p:sp>
        <p:nvSpPr>
          <p:cNvPr id="308" name="wk5"/>
          <p:cNvSpPr/>
          <p:nvPr/>
        </p:nvSpPr>
        <p:spPr>
          <a:xfrm>
            <a:off x="3011691" y="1417320"/>
            <a:ext cx="821017" cy="384048"/>
          </a:xfrm>
          <a:prstGeom prst="rect">
            <a:avLst/>
          </a:prstGeom>
          <a:solidFill>
            <a:srgbClr val="EEF4FA"/>
          </a:solidFill>
          <a:ln w="12700">
            <a:solidFill>
              <a:srgbClr val="FFFFFF"/>
            </a:solidFill>
            <a:prstDash val="solid"/>
          </a:ln>
        </p:spPr>
      </p:sp>
      <p:sp>
        <p:nvSpPr>
          <p:cNvPr id="309" name="Text 10"/>
          <p:cNvSpPr txBox="1"/>
          <p:nvPr/>
        </p:nvSpPr>
        <p:spPr>
          <a:xfrm>
            <a:off x="3011691" y="1417320"/>
            <a:ext cx="821017" cy="384048"/>
          </a:xfrm>
          <a:prstGeom prst="rect">
            <a:avLst/>
          </a:prstGeom>
          <a:noFill/>
          <a:ln/>
        </p:spPr>
        <p:txBody>
          <a:bodyPr wrap="square" lIns="0" tIns="0" rIns="0" bIns="0" rtlCol="0" anchor="ctr"/>
          <a:lstStyle/>
          <a:p>
            <a:pPr rtl="1" algn="ctr" indent="0" marL="0">
              <a:buNone/>
            </a:pPr>
            <a:r>
              <a:rPr lang="en-US" sz="1400" b="1" dirty="0">
                <a:solidFill>
                  <a:srgbClr val="0A1B6E"/>
                </a:solidFill>
                <a:latin typeface="Arial" pitchFamily="34" charset="0"/>
                <a:ea typeface="Arial" pitchFamily="34" charset="-122"/>
                <a:cs typeface="Arial" pitchFamily="34" charset="-120"/>
              </a:rPr>
              <a:t>5</a:t>
            </a:r>
            <a:endParaRPr lang="en-US" sz="1400" dirty="0"/>
          </a:p>
        </p:txBody>
      </p:sp>
      <p:sp>
        <p:nvSpPr>
          <p:cNvPr id="310" name="wk6"/>
          <p:cNvSpPr/>
          <p:nvPr/>
        </p:nvSpPr>
        <p:spPr>
          <a:xfrm>
            <a:off x="2190674" y="1417320"/>
            <a:ext cx="821017" cy="384048"/>
          </a:xfrm>
          <a:prstGeom prst="rect">
            <a:avLst/>
          </a:prstGeom>
          <a:solidFill>
            <a:srgbClr val="E2EAF4"/>
          </a:solidFill>
          <a:ln w="12700">
            <a:solidFill>
              <a:srgbClr val="FFFFFF"/>
            </a:solidFill>
            <a:prstDash val="solid"/>
          </a:ln>
        </p:spPr>
      </p:sp>
      <p:sp>
        <p:nvSpPr>
          <p:cNvPr id="311" name="Text 12"/>
          <p:cNvSpPr txBox="1"/>
          <p:nvPr/>
        </p:nvSpPr>
        <p:spPr>
          <a:xfrm>
            <a:off x="2190674" y="1417320"/>
            <a:ext cx="821017" cy="384048"/>
          </a:xfrm>
          <a:prstGeom prst="rect">
            <a:avLst/>
          </a:prstGeom>
          <a:noFill/>
          <a:ln/>
        </p:spPr>
        <p:txBody>
          <a:bodyPr wrap="square" lIns="0" tIns="0" rIns="0" bIns="0" rtlCol="0" anchor="ctr"/>
          <a:lstStyle/>
          <a:p>
            <a:pPr rtl="1" algn="ctr" indent="0" marL="0">
              <a:buNone/>
            </a:pPr>
            <a:r>
              <a:rPr lang="en-US" sz="1400" b="1" dirty="0">
                <a:solidFill>
                  <a:srgbClr val="0A1B6E"/>
                </a:solidFill>
                <a:latin typeface="Arial" pitchFamily="34" charset="0"/>
                <a:ea typeface="Arial" pitchFamily="34" charset="-122"/>
                <a:cs typeface="Arial" pitchFamily="34" charset="-120"/>
              </a:rPr>
              <a:t>6</a:t>
            </a:r>
            <a:endParaRPr lang="en-US" sz="1400" dirty="0"/>
          </a:p>
        </p:txBody>
      </p:sp>
      <p:sp>
        <p:nvSpPr>
          <p:cNvPr id="312" name="wk7"/>
          <p:cNvSpPr/>
          <p:nvPr/>
        </p:nvSpPr>
        <p:spPr>
          <a:xfrm>
            <a:off x="1369657" y="1417320"/>
            <a:ext cx="821017" cy="384048"/>
          </a:xfrm>
          <a:prstGeom prst="rect">
            <a:avLst/>
          </a:prstGeom>
          <a:solidFill>
            <a:srgbClr val="EEF4FA"/>
          </a:solidFill>
          <a:ln w="12700">
            <a:solidFill>
              <a:srgbClr val="FFFFFF"/>
            </a:solidFill>
            <a:prstDash val="solid"/>
          </a:ln>
        </p:spPr>
      </p:sp>
      <p:sp>
        <p:nvSpPr>
          <p:cNvPr id="313" name="Text 14"/>
          <p:cNvSpPr txBox="1"/>
          <p:nvPr/>
        </p:nvSpPr>
        <p:spPr>
          <a:xfrm>
            <a:off x="1369657" y="1417320"/>
            <a:ext cx="821017" cy="384048"/>
          </a:xfrm>
          <a:prstGeom prst="rect">
            <a:avLst/>
          </a:prstGeom>
          <a:noFill/>
          <a:ln/>
        </p:spPr>
        <p:txBody>
          <a:bodyPr wrap="square" lIns="0" tIns="0" rIns="0" bIns="0" rtlCol="0" anchor="ctr"/>
          <a:lstStyle/>
          <a:p>
            <a:pPr rtl="1" algn="ctr" indent="0" marL="0">
              <a:buNone/>
            </a:pPr>
            <a:r>
              <a:rPr lang="en-US" sz="1400" b="1" dirty="0">
                <a:solidFill>
                  <a:srgbClr val="0A1B6E"/>
                </a:solidFill>
                <a:latin typeface="Arial" pitchFamily="34" charset="0"/>
                <a:ea typeface="Arial" pitchFamily="34" charset="-122"/>
                <a:cs typeface="Arial" pitchFamily="34" charset="-120"/>
              </a:rPr>
              <a:t>7</a:t>
            </a:r>
            <a:endParaRPr lang="en-US" sz="1400" dirty="0"/>
          </a:p>
        </p:txBody>
      </p:sp>
      <p:sp>
        <p:nvSpPr>
          <p:cNvPr id="314" name="wk8"/>
          <p:cNvSpPr/>
          <p:nvPr/>
        </p:nvSpPr>
        <p:spPr>
          <a:xfrm>
            <a:off x="548640" y="1417320"/>
            <a:ext cx="821017" cy="384048"/>
          </a:xfrm>
          <a:prstGeom prst="rect">
            <a:avLst/>
          </a:prstGeom>
          <a:solidFill>
            <a:srgbClr val="E2EAF4"/>
          </a:solidFill>
          <a:ln w="12700">
            <a:solidFill>
              <a:srgbClr val="FFFFFF"/>
            </a:solidFill>
            <a:prstDash val="solid"/>
          </a:ln>
        </p:spPr>
      </p:sp>
      <p:sp>
        <p:nvSpPr>
          <p:cNvPr id="315" name="Text 16"/>
          <p:cNvSpPr txBox="1"/>
          <p:nvPr/>
        </p:nvSpPr>
        <p:spPr>
          <a:xfrm>
            <a:off x="548640" y="1417320"/>
            <a:ext cx="821017" cy="384048"/>
          </a:xfrm>
          <a:prstGeom prst="rect">
            <a:avLst/>
          </a:prstGeom>
          <a:noFill/>
          <a:ln/>
        </p:spPr>
        <p:txBody>
          <a:bodyPr wrap="square" lIns="0" tIns="0" rIns="0" bIns="0" rtlCol="0" anchor="ctr"/>
          <a:lstStyle/>
          <a:p>
            <a:pPr rtl="1" algn="ctr" indent="0" marL="0">
              <a:buNone/>
            </a:pPr>
            <a:r>
              <a:rPr lang="en-US" sz="1400" b="1" dirty="0">
                <a:solidFill>
                  <a:srgbClr val="0A1B6E"/>
                </a:solidFill>
                <a:latin typeface="Arial" pitchFamily="34" charset="0"/>
                <a:ea typeface="Arial" pitchFamily="34" charset="-122"/>
                <a:cs typeface="Arial" pitchFamily="34" charset="-120"/>
              </a:rPr>
              <a:t>8</a:t>
            </a:r>
            <a:endParaRPr lang="en-US" sz="1400" dirty="0"/>
          </a:p>
        </p:txBody>
      </p:sp>
      <p:sp>
        <p:nvSpPr>
          <p:cNvPr id="316" name="Text 17"/>
          <p:cNvSpPr txBox="1"/>
          <p:nvPr/>
        </p:nvSpPr>
        <p:spPr>
          <a:xfrm>
            <a:off x="7253935" y="1417320"/>
            <a:ext cx="4480560" cy="384048"/>
          </a:xfrm>
          <a:prstGeom prst="rect">
            <a:avLst/>
          </a:prstGeom>
          <a:noFill/>
          <a:ln/>
        </p:spPr>
        <p:txBody>
          <a:bodyPr wrap="square" lIns="0" tIns="0" rIns="0" bIns="0" rtlCol="0" anchor="ctr"/>
          <a:lstStyle/>
          <a:p>
            <a:pPr rtl="1" algn="r" indent="0" marL="0">
              <a:buNone/>
            </a:pPr>
            <a:r>
              <a:rPr lang="en-US" sz="1400" b="1" dirty="0">
                <a:solidFill>
                  <a:srgbClr val="0A1B6E"/>
                </a:solidFill>
                <a:latin typeface="Arial" pitchFamily="34" charset="0"/>
                <a:ea typeface="Arial" pitchFamily="34" charset="-122"/>
                <a:cs typeface="Arial" pitchFamily="34" charset="-120"/>
              </a:rPr>
              <a:t>الأسبوع</a:t>
            </a:r>
            <a:endParaRPr lang="en-US" sz="1400" dirty="0"/>
          </a:p>
        </p:txBody>
      </p:sp>
      <p:sp>
        <p:nvSpPr>
          <p:cNvPr id="317" name="band0"/>
          <p:cNvSpPr/>
          <p:nvPr/>
        </p:nvSpPr>
        <p:spPr>
          <a:xfrm>
            <a:off x="548640" y="1920240"/>
            <a:ext cx="11185855" cy="457200"/>
          </a:xfrm>
          <a:prstGeom prst="rect">
            <a:avLst/>
          </a:prstGeom>
          <a:solidFill>
            <a:srgbClr val="F7F9FC"/>
          </a:solidFill>
          <a:ln w="12700">
            <a:solidFill>
              <a:srgbClr val="FFFFFF"/>
            </a:solidFill>
            <a:prstDash val="solid"/>
          </a:ln>
        </p:spPr>
      </p:sp>
      <p:sp>
        <p:nvSpPr>
          <p:cNvPr id="318" name="Text 19"/>
          <p:cNvSpPr txBox="1"/>
          <p:nvPr/>
        </p:nvSpPr>
        <p:spPr>
          <a:xfrm>
            <a:off x="7253935" y="1920240"/>
            <a:ext cx="4480560" cy="457200"/>
          </a:xfrm>
          <a:prstGeom prst="rect">
            <a:avLst/>
          </a:prstGeom>
          <a:noFill/>
          <a:ln/>
        </p:spPr>
        <p:txBody>
          <a:bodyPr wrap="square" lIns="0" tIns="0" rIns="0" bIns="0" rtlCol="0" anchor="ctr"/>
          <a:lstStyle/>
          <a:p>
            <a:pPr rtl="1" algn="r" indent="0" marL="0">
              <a:buNone/>
            </a:pPr>
            <a:r>
              <a:rPr lang="en-US" sz="1400" dirty="0">
                <a:solidFill>
                  <a:srgbClr val="1B2540"/>
                </a:solidFill>
                <a:latin typeface="Arial" pitchFamily="34" charset="0"/>
                <a:ea typeface="Arial" pitchFamily="34" charset="-122"/>
                <a:cs typeface="Arial" pitchFamily="34" charset="-120"/>
              </a:rPr>
              <a:t>الانطلاق، ونظام الترميز، وإنشاء المستودع</a:t>
            </a:r>
            <a:endParaRPr lang="en-US" sz="1400" dirty="0"/>
          </a:p>
        </p:txBody>
      </p:sp>
      <p:sp>
        <p:nvSpPr>
          <p:cNvPr id="319" name="bar0"/>
          <p:cNvSpPr/>
          <p:nvPr/>
        </p:nvSpPr>
        <p:spPr>
          <a:xfrm>
            <a:off x="6341478" y="2011680"/>
            <a:ext cx="729577" cy="274320"/>
          </a:xfrm>
          <a:prstGeom prst="roundRect">
            <a:avLst>
              <a:gd name="adj" fmla="val 40000"/>
            </a:avLst>
          </a:prstGeom>
          <a:solidFill>
            <a:srgbClr val="0A1B6E"/>
          </a:solidFill>
          <a:ln w="12700">
            <a:solidFill>
              <a:srgbClr val="0A1B6E"/>
            </a:solidFill>
            <a:prstDash val="solid"/>
          </a:ln>
        </p:spPr>
      </p:sp>
      <p:sp>
        <p:nvSpPr>
          <p:cNvPr id="320" name="band1"/>
          <p:cNvSpPr/>
          <p:nvPr/>
        </p:nvSpPr>
        <p:spPr>
          <a:xfrm>
            <a:off x="548640" y="2432304"/>
            <a:ext cx="11185855" cy="457200"/>
          </a:xfrm>
          <a:prstGeom prst="rect">
            <a:avLst/>
          </a:prstGeom>
          <a:solidFill>
            <a:srgbClr val="FFFFFF"/>
          </a:solidFill>
          <a:ln w="12700">
            <a:solidFill>
              <a:srgbClr val="FFFFFF"/>
            </a:solidFill>
            <a:prstDash val="solid"/>
          </a:ln>
        </p:spPr>
      </p:sp>
      <p:sp>
        <p:nvSpPr>
          <p:cNvPr id="321" name="Text 22"/>
          <p:cNvSpPr txBox="1"/>
          <p:nvPr/>
        </p:nvSpPr>
        <p:spPr>
          <a:xfrm>
            <a:off x="7253935" y="2432304"/>
            <a:ext cx="4480560" cy="457200"/>
          </a:xfrm>
          <a:prstGeom prst="rect">
            <a:avLst/>
          </a:prstGeom>
          <a:noFill/>
          <a:ln/>
        </p:spPr>
        <p:txBody>
          <a:bodyPr wrap="square" lIns="0" tIns="0" rIns="0" bIns="0" rtlCol="0" anchor="ctr"/>
          <a:lstStyle/>
          <a:p>
            <a:pPr rtl="1" algn="r" indent="0" marL="0">
              <a:buNone/>
            </a:pPr>
            <a:r>
              <a:rPr lang="en-US" sz="1400" dirty="0">
                <a:solidFill>
                  <a:srgbClr val="1B2540"/>
                </a:solidFill>
                <a:latin typeface="Arial" pitchFamily="34" charset="0"/>
                <a:ea typeface="Arial" pitchFamily="34" charset="-122"/>
                <a:cs typeface="Arial" pitchFamily="34" charset="-120"/>
              </a:rPr>
              <a:t>جمع الأدلة وتقييمها وتسجيل الفجوات (الأعضاء)</a:t>
            </a:r>
            <a:endParaRPr lang="en-US" sz="1400" dirty="0"/>
          </a:p>
        </p:txBody>
      </p:sp>
      <p:sp>
        <p:nvSpPr>
          <p:cNvPr id="322" name="bar1"/>
          <p:cNvSpPr/>
          <p:nvPr/>
        </p:nvSpPr>
        <p:spPr>
          <a:xfrm>
            <a:off x="2236394" y="2523744"/>
            <a:ext cx="4013645" cy="274320"/>
          </a:xfrm>
          <a:prstGeom prst="roundRect">
            <a:avLst>
              <a:gd name="adj" fmla="val 40000"/>
            </a:avLst>
          </a:prstGeom>
          <a:solidFill>
            <a:srgbClr val="0072BC"/>
          </a:solidFill>
          <a:ln w="12700">
            <a:solidFill>
              <a:srgbClr val="0072BC"/>
            </a:solidFill>
            <a:prstDash val="solid"/>
          </a:ln>
        </p:spPr>
      </p:sp>
      <p:sp>
        <p:nvSpPr>
          <p:cNvPr id="323" name="band2"/>
          <p:cNvSpPr/>
          <p:nvPr/>
        </p:nvSpPr>
        <p:spPr>
          <a:xfrm>
            <a:off x="548640" y="2944368"/>
            <a:ext cx="11185855" cy="457200"/>
          </a:xfrm>
          <a:prstGeom prst="rect">
            <a:avLst/>
          </a:prstGeom>
          <a:solidFill>
            <a:srgbClr val="F7F9FC"/>
          </a:solidFill>
          <a:ln w="12700">
            <a:solidFill>
              <a:srgbClr val="FFFFFF"/>
            </a:solidFill>
            <a:prstDash val="solid"/>
          </a:ln>
        </p:spPr>
      </p:sp>
      <p:sp>
        <p:nvSpPr>
          <p:cNvPr id="324" name="Text 25"/>
          <p:cNvSpPr txBox="1"/>
          <p:nvPr/>
        </p:nvSpPr>
        <p:spPr>
          <a:xfrm>
            <a:off x="7253935" y="2944368"/>
            <a:ext cx="4480560" cy="457200"/>
          </a:xfrm>
          <a:prstGeom prst="rect">
            <a:avLst/>
          </a:prstGeom>
          <a:noFill/>
          <a:ln/>
        </p:spPr>
        <p:txBody>
          <a:bodyPr wrap="square" lIns="0" tIns="0" rIns="0" bIns="0" rtlCol="0" anchor="ctr"/>
          <a:lstStyle/>
          <a:p>
            <a:pPr rtl="1" algn="r" indent="0" marL="0">
              <a:buNone/>
            </a:pPr>
            <a:r>
              <a:rPr lang="en-US" sz="1400" dirty="0">
                <a:solidFill>
                  <a:srgbClr val="1B2540"/>
                </a:solidFill>
                <a:latin typeface="Arial" pitchFamily="34" charset="0"/>
                <a:ea typeface="Arial" pitchFamily="34" charset="-122"/>
                <a:cs typeface="Arial" pitchFamily="34" charset="-120"/>
              </a:rPr>
              <a:t>المراجعة الأسبوعية للأدلة (أ. فاطمة)</a:t>
            </a:r>
            <a:endParaRPr lang="en-US" sz="1400" dirty="0"/>
          </a:p>
        </p:txBody>
      </p:sp>
      <p:sp>
        <p:nvSpPr>
          <p:cNvPr id="325" name="bar2"/>
          <p:cNvSpPr/>
          <p:nvPr/>
        </p:nvSpPr>
        <p:spPr>
          <a:xfrm>
            <a:off x="2236394" y="3035808"/>
            <a:ext cx="4013645" cy="274320"/>
          </a:xfrm>
          <a:prstGeom prst="roundRect">
            <a:avLst>
              <a:gd name="adj" fmla="val 40000"/>
            </a:avLst>
          </a:prstGeom>
          <a:solidFill>
            <a:srgbClr val="00A3C4"/>
          </a:solidFill>
          <a:ln w="12700">
            <a:solidFill>
              <a:srgbClr val="00A3C4"/>
            </a:solidFill>
            <a:prstDash val="solid"/>
          </a:ln>
        </p:spPr>
      </p:sp>
      <p:sp>
        <p:nvSpPr>
          <p:cNvPr id="326" name="band3"/>
          <p:cNvSpPr/>
          <p:nvPr/>
        </p:nvSpPr>
        <p:spPr>
          <a:xfrm>
            <a:off x="548640" y="3456432"/>
            <a:ext cx="11185855" cy="457200"/>
          </a:xfrm>
          <a:prstGeom prst="rect">
            <a:avLst/>
          </a:prstGeom>
          <a:solidFill>
            <a:srgbClr val="FFFFFF"/>
          </a:solidFill>
          <a:ln w="12700">
            <a:solidFill>
              <a:srgbClr val="FFFFFF"/>
            </a:solidFill>
            <a:prstDash val="solid"/>
          </a:ln>
        </p:spPr>
      </p:sp>
      <p:sp>
        <p:nvSpPr>
          <p:cNvPr id="327" name="Text 28"/>
          <p:cNvSpPr txBox="1"/>
          <p:nvPr/>
        </p:nvSpPr>
        <p:spPr>
          <a:xfrm>
            <a:off x="7253935" y="3456432"/>
            <a:ext cx="4480560" cy="457200"/>
          </a:xfrm>
          <a:prstGeom prst="rect">
            <a:avLst/>
          </a:prstGeom>
          <a:noFill/>
          <a:ln/>
        </p:spPr>
        <p:txBody>
          <a:bodyPr wrap="square" lIns="0" tIns="0" rIns="0" bIns="0" rtlCol="0" anchor="ctr"/>
          <a:lstStyle/>
          <a:p>
            <a:pPr rtl="1" algn="r" indent="0" marL="0">
              <a:buNone/>
            </a:pPr>
            <a:r>
              <a:rPr lang="en-US" sz="1400" dirty="0">
                <a:solidFill>
                  <a:srgbClr val="1B2540"/>
                </a:solidFill>
                <a:latin typeface="Arial" pitchFamily="34" charset="0"/>
                <a:ea typeface="Arial" pitchFamily="34" charset="-122"/>
                <a:cs typeface="Arial" pitchFamily="34" charset="-120"/>
              </a:rPr>
              <a:t>متابعة متطلبات التقدم مع لجنة الجودة (د. عبير)</a:t>
            </a:r>
            <a:endParaRPr lang="en-US" sz="1400" dirty="0"/>
          </a:p>
        </p:txBody>
      </p:sp>
      <p:sp>
        <p:nvSpPr>
          <p:cNvPr id="328" name="bar3"/>
          <p:cNvSpPr/>
          <p:nvPr/>
        </p:nvSpPr>
        <p:spPr>
          <a:xfrm>
            <a:off x="1415377" y="3547872"/>
            <a:ext cx="5655678" cy="274320"/>
          </a:xfrm>
          <a:prstGeom prst="roundRect">
            <a:avLst>
              <a:gd name="adj" fmla="val 40000"/>
            </a:avLst>
          </a:prstGeom>
          <a:solidFill>
            <a:srgbClr val="5E2B91"/>
          </a:solidFill>
          <a:ln w="12700">
            <a:solidFill>
              <a:srgbClr val="5E2B91"/>
            </a:solidFill>
            <a:prstDash val="solid"/>
          </a:ln>
        </p:spPr>
      </p:sp>
      <p:sp>
        <p:nvSpPr>
          <p:cNvPr id="329" name="band4"/>
          <p:cNvSpPr/>
          <p:nvPr/>
        </p:nvSpPr>
        <p:spPr>
          <a:xfrm>
            <a:off x="548640" y="3968496"/>
            <a:ext cx="11185855" cy="457200"/>
          </a:xfrm>
          <a:prstGeom prst="rect">
            <a:avLst/>
          </a:prstGeom>
          <a:solidFill>
            <a:srgbClr val="F7F9FC"/>
          </a:solidFill>
          <a:ln w="12700">
            <a:solidFill>
              <a:srgbClr val="FFFFFF"/>
            </a:solidFill>
            <a:prstDash val="solid"/>
          </a:ln>
        </p:spPr>
      </p:sp>
      <p:sp>
        <p:nvSpPr>
          <p:cNvPr id="330" name="Text 31"/>
          <p:cNvSpPr txBox="1"/>
          <p:nvPr/>
        </p:nvSpPr>
        <p:spPr>
          <a:xfrm>
            <a:off x="7253935" y="3968496"/>
            <a:ext cx="4480560" cy="457200"/>
          </a:xfrm>
          <a:prstGeom prst="rect">
            <a:avLst/>
          </a:prstGeom>
          <a:noFill/>
          <a:ln/>
        </p:spPr>
        <p:txBody>
          <a:bodyPr wrap="square" lIns="0" tIns="0" rIns="0" bIns="0" rtlCol="0" anchor="ctr"/>
          <a:lstStyle/>
          <a:p>
            <a:pPr rtl="1" algn="r" indent="0" marL="0">
              <a:buNone/>
            </a:pPr>
            <a:r>
              <a:rPr lang="en-US" sz="1400" dirty="0">
                <a:solidFill>
                  <a:srgbClr val="1B2540"/>
                </a:solidFill>
                <a:latin typeface="Arial" pitchFamily="34" charset="0"/>
                <a:ea typeface="Arial" pitchFamily="34" charset="-122"/>
                <a:cs typeface="Arial" pitchFamily="34" charset="-120"/>
              </a:rPr>
              <a:t>اجتماع منتصف الخطة</a:t>
            </a:r>
            <a:endParaRPr lang="en-US" sz="1400" dirty="0"/>
          </a:p>
        </p:txBody>
      </p:sp>
      <p:sp>
        <p:nvSpPr>
          <p:cNvPr id="331" name="bar4"/>
          <p:cNvSpPr/>
          <p:nvPr/>
        </p:nvSpPr>
        <p:spPr>
          <a:xfrm>
            <a:off x="3878428" y="4059936"/>
            <a:ext cx="729577" cy="274320"/>
          </a:xfrm>
          <a:prstGeom prst="roundRect">
            <a:avLst>
              <a:gd name="adj" fmla="val 40000"/>
            </a:avLst>
          </a:prstGeom>
          <a:solidFill>
            <a:srgbClr val="0A1B6E"/>
          </a:solidFill>
          <a:ln w="12700">
            <a:solidFill>
              <a:srgbClr val="0A1B6E"/>
            </a:solidFill>
            <a:prstDash val="solid"/>
          </a:ln>
        </p:spPr>
      </p:sp>
      <p:sp>
        <p:nvSpPr>
          <p:cNvPr id="332" name="band5"/>
          <p:cNvSpPr/>
          <p:nvPr/>
        </p:nvSpPr>
        <p:spPr>
          <a:xfrm>
            <a:off x="548640" y="4480560"/>
            <a:ext cx="11185855" cy="457200"/>
          </a:xfrm>
          <a:prstGeom prst="rect">
            <a:avLst/>
          </a:prstGeom>
          <a:solidFill>
            <a:srgbClr val="FFFFFF"/>
          </a:solidFill>
          <a:ln w="12700">
            <a:solidFill>
              <a:srgbClr val="FFFFFF"/>
            </a:solidFill>
            <a:prstDash val="solid"/>
          </a:ln>
        </p:spPr>
      </p:sp>
      <p:sp>
        <p:nvSpPr>
          <p:cNvPr id="333" name="Text 34"/>
          <p:cNvSpPr txBox="1"/>
          <p:nvPr/>
        </p:nvSpPr>
        <p:spPr>
          <a:xfrm>
            <a:off x="7253935" y="4480560"/>
            <a:ext cx="4480560" cy="457200"/>
          </a:xfrm>
          <a:prstGeom prst="rect">
            <a:avLst/>
          </a:prstGeom>
          <a:noFill/>
          <a:ln/>
        </p:spPr>
        <p:txBody>
          <a:bodyPr wrap="square" lIns="0" tIns="0" rIns="0" bIns="0" rtlCol="0" anchor="ctr"/>
          <a:lstStyle/>
          <a:p>
            <a:pPr rtl="1" algn="r" indent="0" marL="0">
              <a:buNone/>
            </a:pPr>
            <a:r>
              <a:rPr lang="en-US" sz="1400" dirty="0">
                <a:solidFill>
                  <a:srgbClr val="1B2540"/>
                </a:solidFill>
                <a:latin typeface="Arial" pitchFamily="34" charset="0"/>
                <a:ea typeface="Arial" pitchFamily="34" charset="-122"/>
                <a:cs typeface="Arial" pitchFamily="34" charset="-120"/>
              </a:rPr>
              <a:t>مراجعة كفاية المحكات الأساسية (د. نهلة)</a:t>
            </a:r>
            <a:endParaRPr lang="en-US" sz="1400" dirty="0"/>
          </a:p>
        </p:txBody>
      </p:sp>
      <p:sp>
        <p:nvSpPr>
          <p:cNvPr id="334" name="bar5"/>
          <p:cNvSpPr/>
          <p:nvPr/>
        </p:nvSpPr>
        <p:spPr>
          <a:xfrm>
            <a:off x="2236394" y="4572000"/>
            <a:ext cx="729577" cy="274320"/>
          </a:xfrm>
          <a:prstGeom prst="roundRect">
            <a:avLst>
              <a:gd name="adj" fmla="val 40000"/>
            </a:avLst>
          </a:prstGeom>
          <a:solidFill>
            <a:srgbClr val="0A1B6E"/>
          </a:solidFill>
          <a:ln w="12700">
            <a:solidFill>
              <a:srgbClr val="0A1B6E"/>
            </a:solidFill>
            <a:prstDash val="solid"/>
          </a:ln>
        </p:spPr>
      </p:sp>
      <p:sp>
        <p:nvSpPr>
          <p:cNvPr id="335" name="band6"/>
          <p:cNvSpPr/>
          <p:nvPr/>
        </p:nvSpPr>
        <p:spPr>
          <a:xfrm>
            <a:off x="548640" y="4992624"/>
            <a:ext cx="11185855" cy="457200"/>
          </a:xfrm>
          <a:prstGeom prst="rect">
            <a:avLst/>
          </a:prstGeom>
          <a:solidFill>
            <a:srgbClr val="F7F9FC"/>
          </a:solidFill>
          <a:ln w="12700">
            <a:solidFill>
              <a:srgbClr val="FFFFFF"/>
            </a:solidFill>
            <a:prstDash val="solid"/>
          </a:ln>
        </p:spPr>
      </p:sp>
      <p:sp>
        <p:nvSpPr>
          <p:cNvPr id="336" name="Text 37"/>
          <p:cNvSpPr txBox="1"/>
          <p:nvPr/>
        </p:nvSpPr>
        <p:spPr>
          <a:xfrm>
            <a:off x="7253935" y="4992624"/>
            <a:ext cx="4480560" cy="457200"/>
          </a:xfrm>
          <a:prstGeom prst="rect">
            <a:avLst/>
          </a:prstGeom>
          <a:noFill/>
          <a:ln/>
        </p:spPr>
        <p:txBody>
          <a:bodyPr wrap="square" lIns="0" tIns="0" rIns="0" bIns="0" rtlCol="0" anchor="ctr"/>
          <a:lstStyle/>
          <a:p>
            <a:pPr rtl="1" algn="r" indent="0" marL="0">
              <a:buNone/>
            </a:pPr>
            <a:r>
              <a:rPr lang="en-US" sz="1400" dirty="0">
                <a:solidFill>
                  <a:srgbClr val="1B2540"/>
                </a:solidFill>
                <a:latin typeface="Arial" pitchFamily="34" charset="0"/>
                <a:ea typeface="Arial" pitchFamily="34" charset="-122"/>
                <a:cs typeface="Arial" pitchFamily="34" charset="-120"/>
              </a:rPr>
              <a:t>اعتماد خطة الاستكمال وفهرس الأدلة</a:t>
            </a:r>
            <a:endParaRPr lang="en-US" sz="1400" dirty="0"/>
          </a:p>
        </p:txBody>
      </p:sp>
      <p:sp>
        <p:nvSpPr>
          <p:cNvPr id="337" name="bar6"/>
          <p:cNvSpPr/>
          <p:nvPr/>
        </p:nvSpPr>
        <p:spPr>
          <a:xfrm>
            <a:off x="1415377" y="5084064"/>
            <a:ext cx="729577" cy="274320"/>
          </a:xfrm>
          <a:prstGeom prst="roundRect">
            <a:avLst>
              <a:gd name="adj" fmla="val 40000"/>
            </a:avLst>
          </a:prstGeom>
          <a:solidFill>
            <a:srgbClr val="0072BC"/>
          </a:solidFill>
          <a:ln w="12700">
            <a:solidFill>
              <a:srgbClr val="0072BC"/>
            </a:solidFill>
            <a:prstDash val="solid"/>
          </a:ln>
        </p:spPr>
      </p:sp>
      <p:sp>
        <p:nvSpPr>
          <p:cNvPr id="338" name="band7"/>
          <p:cNvSpPr/>
          <p:nvPr/>
        </p:nvSpPr>
        <p:spPr>
          <a:xfrm>
            <a:off x="548640" y="5504688"/>
            <a:ext cx="11185855" cy="457200"/>
          </a:xfrm>
          <a:prstGeom prst="rect">
            <a:avLst/>
          </a:prstGeom>
          <a:solidFill>
            <a:srgbClr val="FFFFFF"/>
          </a:solidFill>
          <a:ln w="12700">
            <a:solidFill>
              <a:srgbClr val="FFFFFF"/>
            </a:solidFill>
            <a:prstDash val="solid"/>
          </a:ln>
        </p:spPr>
      </p:sp>
      <p:sp>
        <p:nvSpPr>
          <p:cNvPr id="339" name="Text 40"/>
          <p:cNvSpPr txBox="1"/>
          <p:nvPr/>
        </p:nvSpPr>
        <p:spPr>
          <a:xfrm>
            <a:off x="7253935" y="5504688"/>
            <a:ext cx="4480560" cy="457200"/>
          </a:xfrm>
          <a:prstGeom prst="rect">
            <a:avLst/>
          </a:prstGeom>
          <a:noFill/>
          <a:ln/>
        </p:spPr>
        <p:txBody>
          <a:bodyPr wrap="square" lIns="0" tIns="0" rIns="0" bIns="0" rtlCol="0" anchor="ctr"/>
          <a:lstStyle/>
          <a:p>
            <a:pPr rtl="1" algn="r" indent="0" marL="0">
              <a:buNone/>
            </a:pPr>
            <a:r>
              <a:rPr lang="en-US" sz="1400" dirty="0">
                <a:solidFill>
                  <a:srgbClr val="1B2540"/>
                </a:solidFill>
                <a:latin typeface="Arial" pitchFamily="34" charset="0"/>
                <a:ea typeface="Arial" pitchFamily="34" charset="-122"/>
                <a:cs typeface="Arial" pitchFamily="34" charset="-120"/>
              </a:rPr>
              <a:t>تقرير الجاهزية والعرض على إدارة الكلية</a:t>
            </a:r>
            <a:endParaRPr lang="en-US" sz="1400" dirty="0"/>
          </a:p>
        </p:txBody>
      </p:sp>
      <p:sp>
        <p:nvSpPr>
          <p:cNvPr id="340" name="bar7"/>
          <p:cNvSpPr/>
          <p:nvPr/>
        </p:nvSpPr>
        <p:spPr>
          <a:xfrm>
            <a:off x="594360" y="5596128"/>
            <a:ext cx="729577" cy="274320"/>
          </a:xfrm>
          <a:prstGeom prst="roundRect">
            <a:avLst>
              <a:gd name="adj" fmla="val 40000"/>
            </a:avLst>
          </a:prstGeom>
          <a:solidFill>
            <a:srgbClr val="5E2B91"/>
          </a:solidFill>
          <a:ln w="12700">
            <a:solidFill>
              <a:srgbClr val="5E2B91"/>
            </a:solidFill>
            <a:prstDash val="solid"/>
          </a:ln>
        </p:spPr>
      </p:sp>
      <p:sp>
        <p:nvSpPr>
          <p:cNvPr id="341" name="Text 42"/>
          <p:cNvSpPr txBox="1"/>
          <p:nvPr/>
        </p:nvSpPr>
        <p:spPr>
          <a:xfrm>
            <a:off x="548640" y="5989320"/>
            <a:ext cx="11201400" cy="274320"/>
          </a:xfrm>
          <a:prstGeom prst="rect">
            <a:avLst/>
          </a:prstGeom>
          <a:noFill/>
          <a:ln/>
        </p:spPr>
        <p:txBody>
          <a:bodyPr wrap="square" lIns="0" tIns="0" rIns="0" bIns="0" rtlCol="0" anchor="t"/>
          <a:lstStyle/>
          <a:p>
            <a:pPr rtl="1" algn="r" indent="0" marL="0">
              <a:buNone/>
            </a:pPr>
            <a:r>
              <a:rPr lang="en-US" sz="1200" dirty="0">
                <a:solidFill>
                  <a:srgbClr val="5A6478"/>
                </a:solidFill>
                <a:latin typeface="Arial" pitchFamily="34" charset="0"/>
                <a:ea typeface="Arial" pitchFamily="34" charset="-122"/>
                <a:cs typeface="Arial" pitchFamily="34" charset="-120"/>
              </a:rPr>
              <a:t>يبدأ الأسبوع الأول يوم الأحد 25 أكتوبر 2026  •  الاجتماعات في الأسابيع 1 و4 و7</a:t>
            </a:r>
            <a:endParaRPr lang="en-US" sz="1200" dirty="0"/>
          </a:p>
        </p:txBody>
      </p:sp>
    </p:spTree>
    <p:extLst>
      <p:ext uri="{BB962C8B-B14F-4D97-AF65-F5344CB8AC3E}">
        <p14:creationId xmlns:p14="http://schemas.microsoft.com/office/powerpoint/2010/main" val="2894989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آلية فحص الأدلة</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Text 1"/>
          <p:cNvSpPr txBox="1"/>
          <p:nvPr/>
        </p:nvSpPr>
        <p:spPr>
          <a:xfrm>
            <a:off x="6400800" y="1325880"/>
            <a:ext cx="5349240" cy="365760"/>
          </a:xfrm>
          <a:prstGeom prst="rect">
            <a:avLst/>
          </a:prstGeom>
          <a:noFill/>
          <a:ln/>
        </p:spPr>
        <p:txBody>
          <a:bodyPr wrap="square" lIns="0" tIns="0" rIns="0" bIns="0" rtlCol="0" anchor="t"/>
          <a:lstStyle/>
          <a:p>
            <a:pPr rtl="1" algn="r" indent="0" marL="0">
              <a:buNone/>
            </a:pPr>
            <a:r>
              <a:rPr lang="en-US" sz="1800" b="1" dirty="0">
                <a:solidFill>
                  <a:srgbClr val="0A1B6E"/>
                </a:solidFill>
                <a:latin typeface="Arial" pitchFamily="34" charset="0"/>
                <a:ea typeface="Arial" pitchFamily="34" charset="-122"/>
                <a:cs typeface="Arial" pitchFamily="34" charset="-120"/>
              </a:rPr>
              <a:t>بنود الفحص</a:t>
            </a:r>
            <a:endParaRPr lang="en-US" sz="1800" dirty="0"/>
          </a:p>
        </p:txBody>
      </p:sp>
      <p:sp>
        <p:nvSpPr>
          <p:cNvPr id="301" name="chk0"/>
          <p:cNvSpPr/>
          <p:nvPr/>
        </p:nvSpPr>
        <p:spPr>
          <a:xfrm>
            <a:off x="11201400" y="1828800"/>
            <a:ext cx="548640" cy="548640"/>
          </a:xfrm>
          <a:prstGeom prst="ellipse">
            <a:avLst/>
          </a:prstGeom>
          <a:solidFill>
            <a:srgbClr val="0A1B6E"/>
          </a:solidFill>
          <a:ln w="12700">
            <a:solidFill>
              <a:srgbClr val="0A1B6E"/>
            </a:solidFill>
            <a:prstDash val="solid"/>
          </a:ln>
        </p:spPr>
      </p:sp>
      <p:sp>
        <p:nvSpPr>
          <p:cNvPr id="302" name="Text 3"/>
          <p:cNvSpPr txBox="1"/>
          <p:nvPr/>
        </p:nvSpPr>
        <p:spPr>
          <a:xfrm>
            <a:off x="11201400" y="1828800"/>
            <a:ext cx="548640" cy="54864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303" name="Text 4"/>
          <p:cNvSpPr txBox="1"/>
          <p:nvPr/>
        </p:nvSpPr>
        <p:spPr>
          <a:xfrm>
            <a:off x="6400800" y="1783080"/>
            <a:ext cx="4663440" cy="320040"/>
          </a:xfrm>
          <a:prstGeom prst="rect">
            <a:avLst/>
          </a:prstGeom>
          <a:noFill/>
          <a:ln/>
        </p:spPr>
        <p:txBody>
          <a:bodyPr wrap="square" lIns="0" tIns="0" rIns="0" bIns="0" rtlCol="0" anchor="t"/>
          <a:lstStyle/>
          <a:p>
            <a:pPr rtl="1" algn="r" indent="0" marL="0">
              <a:buNone/>
            </a:pPr>
            <a:r>
              <a:rPr lang="en-US" sz="1600" b="1" dirty="0">
                <a:solidFill>
                  <a:srgbClr val="1B2540"/>
                </a:solidFill>
                <a:latin typeface="Arial" pitchFamily="34" charset="0"/>
                <a:ea typeface="Arial" pitchFamily="34" charset="-122"/>
                <a:cs typeface="Arial" pitchFamily="34" charset="-120"/>
              </a:rPr>
              <a:t>توفر الدليل</a:t>
            </a:r>
            <a:endParaRPr lang="en-US" sz="1600" dirty="0"/>
          </a:p>
        </p:txBody>
      </p:sp>
      <p:sp>
        <p:nvSpPr>
          <p:cNvPr id="304" name="Text 5"/>
          <p:cNvSpPr txBox="1"/>
          <p:nvPr/>
        </p:nvSpPr>
        <p:spPr>
          <a:xfrm>
            <a:off x="6400800" y="2112264"/>
            <a:ext cx="4663440" cy="365760"/>
          </a:xfrm>
          <a:prstGeom prst="rect">
            <a:avLst/>
          </a:prstGeom>
          <a:noFill/>
          <a:ln/>
        </p:spPr>
        <p:txBody>
          <a:bodyPr wrap="square" lIns="0" tIns="0" rIns="0" bIns="0" rtlCol="0" anchor="t"/>
          <a:lstStyle/>
          <a:p>
            <a:pPr rtl="1" algn="r" indent="0" marL="0">
              <a:buNone/>
            </a:pPr>
            <a:r>
              <a:rPr lang="en-US" sz="1350" dirty="0">
                <a:solidFill>
                  <a:srgbClr val="5A6478"/>
                </a:solidFill>
                <a:latin typeface="Arial" pitchFamily="34" charset="0"/>
                <a:ea typeface="Arial" pitchFamily="34" charset="-122"/>
                <a:cs typeface="Arial" pitchFamily="34" charset="-120"/>
              </a:rPr>
              <a:t>وجود الدليل المطلوب</a:t>
            </a:r>
            <a:endParaRPr lang="en-US" sz="1350" dirty="0"/>
          </a:p>
        </p:txBody>
      </p:sp>
      <p:sp>
        <p:nvSpPr>
          <p:cNvPr id="305" name="chk1"/>
          <p:cNvSpPr/>
          <p:nvPr/>
        </p:nvSpPr>
        <p:spPr>
          <a:xfrm>
            <a:off x="11201400" y="2633472"/>
            <a:ext cx="548640" cy="548640"/>
          </a:xfrm>
          <a:prstGeom prst="ellipse">
            <a:avLst/>
          </a:prstGeom>
          <a:solidFill>
            <a:srgbClr val="0072BC"/>
          </a:solidFill>
          <a:ln w="12700">
            <a:solidFill>
              <a:srgbClr val="0072BC"/>
            </a:solidFill>
            <a:prstDash val="solid"/>
          </a:ln>
        </p:spPr>
      </p:sp>
      <p:sp>
        <p:nvSpPr>
          <p:cNvPr id="306" name="Text 7"/>
          <p:cNvSpPr txBox="1"/>
          <p:nvPr/>
        </p:nvSpPr>
        <p:spPr>
          <a:xfrm>
            <a:off x="11201400" y="2633472"/>
            <a:ext cx="548640" cy="54864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307" name="Text 8"/>
          <p:cNvSpPr txBox="1"/>
          <p:nvPr/>
        </p:nvSpPr>
        <p:spPr>
          <a:xfrm>
            <a:off x="6400800" y="2587752"/>
            <a:ext cx="4663440" cy="320040"/>
          </a:xfrm>
          <a:prstGeom prst="rect">
            <a:avLst/>
          </a:prstGeom>
          <a:noFill/>
          <a:ln/>
        </p:spPr>
        <p:txBody>
          <a:bodyPr wrap="square" lIns="0" tIns="0" rIns="0" bIns="0" rtlCol="0" anchor="t"/>
          <a:lstStyle/>
          <a:p>
            <a:pPr rtl="1" algn="r" indent="0" marL="0">
              <a:buNone/>
            </a:pPr>
            <a:r>
              <a:rPr lang="en-US" sz="1600" b="1" dirty="0">
                <a:solidFill>
                  <a:srgbClr val="1B2540"/>
                </a:solidFill>
                <a:latin typeface="Arial" pitchFamily="34" charset="0"/>
                <a:ea typeface="Arial" pitchFamily="34" charset="-122"/>
                <a:cs typeface="Arial" pitchFamily="34" charset="-120"/>
              </a:rPr>
              <a:t>الاعتماد</a:t>
            </a:r>
            <a:endParaRPr lang="en-US" sz="1600" dirty="0"/>
          </a:p>
        </p:txBody>
      </p:sp>
      <p:sp>
        <p:nvSpPr>
          <p:cNvPr id="308" name="Text 9"/>
          <p:cNvSpPr txBox="1"/>
          <p:nvPr/>
        </p:nvSpPr>
        <p:spPr>
          <a:xfrm>
            <a:off x="6400800" y="2916936"/>
            <a:ext cx="4663440" cy="365760"/>
          </a:xfrm>
          <a:prstGeom prst="rect">
            <a:avLst/>
          </a:prstGeom>
          <a:noFill/>
          <a:ln/>
        </p:spPr>
        <p:txBody>
          <a:bodyPr wrap="square" lIns="0" tIns="0" rIns="0" bIns="0" rtlCol="0" anchor="t"/>
          <a:lstStyle/>
          <a:p>
            <a:pPr rtl="1" algn="r" indent="0" marL="0">
              <a:buNone/>
            </a:pPr>
            <a:r>
              <a:rPr lang="en-US" sz="1350" dirty="0">
                <a:solidFill>
                  <a:srgbClr val="5A6478"/>
                </a:solidFill>
                <a:latin typeface="Arial" pitchFamily="34" charset="0"/>
                <a:ea typeface="Arial" pitchFamily="34" charset="-122"/>
                <a:cs typeface="Arial" pitchFamily="34" charset="-120"/>
              </a:rPr>
              <a:t>معتمد من الجهة المختصة متى ما كان الاعتماد مطلوباً</a:t>
            </a:r>
            <a:endParaRPr lang="en-US" sz="1350" dirty="0"/>
          </a:p>
        </p:txBody>
      </p:sp>
      <p:sp>
        <p:nvSpPr>
          <p:cNvPr id="309" name="chk2"/>
          <p:cNvSpPr/>
          <p:nvPr/>
        </p:nvSpPr>
        <p:spPr>
          <a:xfrm>
            <a:off x="11201400" y="3438144"/>
            <a:ext cx="548640" cy="548640"/>
          </a:xfrm>
          <a:prstGeom prst="ellipse">
            <a:avLst/>
          </a:prstGeom>
          <a:solidFill>
            <a:srgbClr val="00A3C4"/>
          </a:solidFill>
          <a:ln w="12700">
            <a:solidFill>
              <a:srgbClr val="00A3C4"/>
            </a:solidFill>
            <a:prstDash val="solid"/>
          </a:ln>
        </p:spPr>
      </p:sp>
      <p:sp>
        <p:nvSpPr>
          <p:cNvPr id="310" name="Text 11"/>
          <p:cNvSpPr txBox="1"/>
          <p:nvPr/>
        </p:nvSpPr>
        <p:spPr>
          <a:xfrm>
            <a:off x="11201400" y="3438144"/>
            <a:ext cx="548640" cy="54864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311" name="Text 12"/>
          <p:cNvSpPr txBox="1"/>
          <p:nvPr/>
        </p:nvSpPr>
        <p:spPr>
          <a:xfrm>
            <a:off x="6400800" y="3392424"/>
            <a:ext cx="4663440" cy="320040"/>
          </a:xfrm>
          <a:prstGeom prst="rect">
            <a:avLst/>
          </a:prstGeom>
          <a:noFill/>
          <a:ln/>
        </p:spPr>
        <p:txBody>
          <a:bodyPr wrap="square" lIns="0" tIns="0" rIns="0" bIns="0" rtlCol="0" anchor="t"/>
          <a:lstStyle/>
          <a:p>
            <a:pPr rtl="1" algn="r" indent="0" marL="0">
              <a:buNone/>
            </a:pPr>
            <a:r>
              <a:rPr lang="en-US" sz="1600" b="1" dirty="0">
                <a:solidFill>
                  <a:srgbClr val="1B2540"/>
                </a:solidFill>
                <a:latin typeface="Arial" pitchFamily="34" charset="0"/>
                <a:ea typeface="Arial" pitchFamily="34" charset="-122"/>
                <a:cs typeface="Arial" pitchFamily="34" charset="-120"/>
              </a:rPr>
              <a:t>الحداثة</a:t>
            </a:r>
            <a:endParaRPr lang="en-US" sz="1600" dirty="0"/>
          </a:p>
        </p:txBody>
      </p:sp>
      <p:sp>
        <p:nvSpPr>
          <p:cNvPr id="312" name="Text 13"/>
          <p:cNvSpPr txBox="1"/>
          <p:nvPr/>
        </p:nvSpPr>
        <p:spPr>
          <a:xfrm>
            <a:off x="6400800" y="3721608"/>
            <a:ext cx="4663440" cy="365760"/>
          </a:xfrm>
          <a:prstGeom prst="rect">
            <a:avLst/>
          </a:prstGeom>
          <a:noFill/>
          <a:ln/>
        </p:spPr>
        <p:txBody>
          <a:bodyPr wrap="square" lIns="0" tIns="0" rIns="0" bIns="0" rtlCol="0" anchor="t"/>
          <a:lstStyle/>
          <a:p>
            <a:pPr rtl="1" algn="r" indent="0" marL="0">
              <a:buNone/>
            </a:pPr>
            <a:r>
              <a:rPr lang="en-US" sz="1350" dirty="0">
                <a:solidFill>
                  <a:srgbClr val="5A6478"/>
                </a:solidFill>
                <a:latin typeface="Arial" pitchFamily="34" charset="0"/>
                <a:ea typeface="Arial" pitchFamily="34" charset="-122"/>
                <a:cs typeface="Arial" pitchFamily="34" charset="-120"/>
              </a:rPr>
              <a:t>محدّث ويعكس الوضع الحالي والفترة المطلوبة</a:t>
            </a:r>
            <a:endParaRPr lang="en-US" sz="1350" dirty="0"/>
          </a:p>
        </p:txBody>
      </p:sp>
      <p:sp>
        <p:nvSpPr>
          <p:cNvPr id="313" name="chk3"/>
          <p:cNvSpPr/>
          <p:nvPr/>
        </p:nvSpPr>
        <p:spPr>
          <a:xfrm>
            <a:off x="11201400" y="4242816"/>
            <a:ext cx="548640" cy="548640"/>
          </a:xfrm>
          <a:prstGeom prst="ellipse">
            <a:avLst/>
          </a:prstGeom>
          <a:solidFill>
            <a:srgbClr val="0072BC"/>
          </a:solidFill>
          <a:ln w="12700">
            <a:solidFill>
              <a:srgbClr val="0072BC"/>
            </a:solidFill>
            <a:prstDash val="solid"/>
          </a:ln>
        </p:spPr>
      </p:sp>
      <p:sp>
        <p:nvSpPr>
          <p:cNvPr id="314" name="Text 15"/>
          <p:cNvSpPr txBox="1"/>
          <p:nvPr/>
        </p:nvSpPr>
        <p:spPr>
          <a:xfrm>
            <a:off x="11201400" y="4242816"/>
            <a:ext cx="548640" cy="54864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15" name="Text 16"/>
          <p:cNvSpPr txBox="1"/>
          <p:nvPr/>
        </p:nvSpPr>
        <p:spPr>
          <a:xfrm>
            <a:off x="6400800" y="4197096"/>
            <a:ext cx="4663440" cy="320040"/>
          </a:xfrm>
          <a:prstGeom prst="rect">
            <a:avLst/>
          </a:prstGeom>
          <a:noFill/>
          <a:ln/>
        </p:spPr>
        <p:txBody>
          <a:bodyPr wrap="square" lIns="0" tIns="0" rIns="0" bIns="0" rtlCol="0" anchor="t"/>
          <a:lstStyle/>
          <a:p>
            <a:pPr rtl="1" algn="r" indent="0" marL="0">
              <a:buNone/>
            </a:pPr>
            <a:r>
              <a:rPr lang="en-US" sz="1600" b="1" dirty="0">
                <a:solidFill>
                  <a:srgbClr val="1B2540"/>
                </a:solidFill>
                <a:latin typeface="Arial" pitchFamily="34" charset="0"/>
                <a:ea typeface="Arial" pitchFamily="34" charset="-122"/>
                <a:cs typeface="Arial" pitchFamily="34" charset="-120"/>
              </a:rPr>
              <a:t>الارتباط بالمحك</a:t>
            </a:r>
            <a:endParaRPr lang="en-US" sz="1600" dirty="0"/>
          </a:p>
        </p:txBody>
      </p:sp>
      <p:sp>
        <p:nvSpPr>
          <p:cNvPr id="316" name="Text 17"/>
          <p:cNvSpPr txBox="1"/>
          <p:nvPr/>
        </p:nvSpPr>
        <p:spPr>
          <a:xfrm>
            <a:off x="6400800" y="4526280"/>
            <a:ext cx="4663440" cy="365760"/>
          </a:xfrm>
          <a:prstGeom prst="rect">
            <a:avLst/>
          </a:prstGeom>
          <a:noFill/>
          <a:ln/>
        </p:spPr>
        <p:txBody>
          <a:bodyPr wrap="square" lIns="0" tIns="0" rIns="0" bIns="0" rtlCol="0" anchor="t"/>
          <a:lstStyle/>
          <a:p>
            <a:pPr rtl="1" algn="r" indent="0" marL="0">
              <a:buNone/>
            </a:pPr>
            <a:r>
              <a:rPr lang="en-US" sz="1350" dirty="0">
                <a:solidFill>
                  <a:srgbClr val="5A6478"/>
                </a:solidFill>
                <a:latin typeface="Arial" pitchFamily="34" charset="0"/>
                <a:ea typeface="Arial" pitchFamily="34" charset="-122"/>
                <a:cs typeface="Arial" pitchFamily="34" charset="-120"/>
              </a:rPr>
              <a:t>يغطي متطلبات المحك بصورة مباشرة وكافية</a:t>
            </a:r>
            <a:endParaRPr lang="en-US" sz="1350" dirty="0"/>
          </a:p>
        </p:txBody>
      </p:sp>
      <p:sp>
        <p:nvSpPr>
          <p:cNvPr id="317" name="chk4"/>
          <p:cNvSpPr/>
          <p:nvPr/>
        </p:nvSpPr>
        <p:spPr>
          <a:xfrm>
            <a:off x="11201400" y="5047488"/>
            <a:ext cx="548640" cy="548640"/>
          </a:xfrm>
          <a:prstGeom prst="ellipse">
            <a:avLst/>
          </a:prstGeom>
          <a:solidFill>
            <a:srgbClr val="5E2B91"/>
          </a:solidFill>
          <a:ln w="12700">
            <a:solidFill>
              <a:srgbClr val="5E2B91"/>
            </a:solidFill>
            <a:prstDash val="solid"/>
          </a:ln>
        </p:spPr>
      </p:sp>
      <p:sp>
        <p:nvSpPr>
          <p:cNvPr id="318" name="Text 19"/>
          <p:cNvSpPr txBox="1"/>
          <p:nvPr/>
        </p:nvSpPr>
        <p:spPr>
          <a:xfrm>
            <a:off x="11201400" y="5047488"/>
            <a:ext cx="548640" cy="54864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19" name="Text 20"/>
          <p:cNvSpPr txBox="1"/>
          <p:nvPr/>
        </p:nvSpPr>
        <p:spPr>
          <a:xfrm>
            <a:off x="6400800" y="5001768"/>
            <a:ext cx="4663440" cy="320040"/>
          </a:xfrm>
          <a:prstGeom prst="rect">
            <a:avLst/>
          </a:prstGeom>
          <a:noFill/>
          <a:ln/>
        </p:spPr>
        <p:txBody>
          <a:bodyPr wrap="square" lIns="0" tIns="0" rIns="0" bIns="0" rtlCol="0" anchor="t"/>
          <a:lstStyle/>
          <a:p>
            <a:pPr rtl="1" algn="r" indent="0" marL="0">
              <a:buNone/>
            </a:pPr>
            <a:r>
              <a:rPr lang="en-US" sz="1600" b="1" dirty="0">
                <a:solidFill>
                  <a:srgbClr val="1B2540"/>
                </a:solidFill>
                <a:latin typeface="Arial" pitchFamily="34" charset="0"/>
                <a:ea typeface="Arial" pitchFamily="34" charset="-122"/>
                <a:cs typeface="Arial" pitchFamily="34" charset="-120"/>
              </a:rPr>
              <a:t>إثبات التطبيق</a:t>
            </a:r>
            <a:endParaRPr lang="en-US" sz="1600" dirty="0"/>
          </a:p>
        </p:txBody>
      </p:sp>
      <p:sp>
        <p:nvSpPr>
          <p:cNvPr id="320" name="Text 21"/>
          <p:cNvSpPr txBox="1"/>
          <p:nvPr/>
        </p:nvSpPr>
        <p:spPr>
          <a:xfrm>
            <a:off x="6400800" y="5330952"/>
            <a:ext cx="4663440" cy="365760"/>
          </a:xfrm>
          <a:prstGeom prst="rect">
            <a:avLst/>
          </a:prstGeom>
          <a:noFill/>
          <a:ln/>
        </p:spPr>
        <p:txBody>
          <a:bodyPr wrap="square" lIns="0" tIns="0" rIns="0" bIns="0" rtlCol="0" anchor="t"/>
          <a:lstStyle/>
          <a:p>
            <a:pPr rtl="1" algn="r" indent="0" marL="0">
              <a:buNone/>
            </a:pPr>
            <a:r>
              <a:rPr lang="en-US" sz="1350" dirty="0">
                <a:solidFill>
                  <a:srgbClr val="5A6478"/>
                </a:solidFill>
                <a:latin typeface="Arial" pitchFamily="34" charset="0"/>
                <a:ea typeface="Arial" pitchFamily="34" charset="-122"/>
                <a:cs typeface="Arial" pitchFamily="34" charset="-120"/>
              </a:rPr>
              <a:t>يثبت التنفيذ الفعلي واستخدام النتائج في التحسين</a:t>
            </a:r>
            <a:endParaRPr lang="en-US" sz="1350" dirty="0"/>
          </a:p>
        </p:txBody>
      </p:sp>
      <p:sp>
        <p:nvSpPr>
          <p:cNvPr id="321" name="statusCard"/>
          <p:cNvSpPr/>
          <p:nvPr/>
        </p:nvSpPr>
        <p:spPr>
          <a:xfrm>
            <a:off x="548640" y="1325880"/>
            <a:ext cx="5486400" cy="2788920"/>
          </a:xfrm>
          <a:prstGeom prst="roundRect">
            <a:avLst>
              <a:gd name="adj" fmla="val 3934"/>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22" name="Text 23"/>
          <p:cNvSpPr txBox="1"/>
          <p:nvPr/>
        </p:nvSpPr>
        <p:spPr>
          <a:xfrm>
            <a:off x="777240" y="1463040"/>
            <a:ext cx="5029200" cy="365760"/>
          </a:xfrm>
          <a:prstGeom prst="rect">
            <a:avLst/>
          </a:prstGeom>
          <a:noFill/>
          <a:ln/>
        </p:spPr>
        <p:txBody>
          <a:bodyPr wrap="square" lIns="0" tIns="0" rIns="0" bIns="0" rtlCol="0" anchor="t"/>
          <a:lstStyle/>
          <a:p>
            <a:pPr rtl="1" algn="r" indent="0" marL="0">
              <a:buNone/>
            </a:pPr>
            <a:r>
              <a:rPr lang="en-US" sz="1800" b="1" dirty="0">
                <a:solidFill>
                  <a:srgbClr val="0A1B6E"/>
                </a:solidFill>
                <a:latin typeface="Arial" pitchFamily="34" charset="0"/>
                <a:ea typeface="Arial" pitchFamily="34" charset="-122"/>
                <a:cs typeface="Arial" pitchFamily="34" charset="-120"/>
              </a:rPr>
              <a:t>حالة الدليل</a:t>
            </a:r>
            <a:endParaRPr lang="en-US" sz="1800" dirty="0"/>
          </a:p>
        </p:txBody>
      </p:sp>
      <p:sp>
        <p:nvSpPr>
          <p:cNvPr id="323" name="st0"/>
          <p:cNvSpPr/>
          <p:nvPr/>
        </p:nvSpPr>
        <p:spPr>
          <a:xfrm>
            <a:off x="3749040" y="1965960"/>
            <a:ext cx="2057400" cy="457200"/>
          </a:xfrm>
          <a:prstGeom prst="roundRect">
            <a:avLst>
              <a:gd name="adj" fmla="val 50000"/>
            </a:avLst>
          </a:prstGeom>
          <a:solidFill>
            <a:srgbClr val="2E8B57"/>
          </a:solidFill>
          <a:ln w="12700">
            <a:solidFill>
              <a:srgbClr val="2E8B57"/>
            </a:solidFill>
            <a:prstDash val="solid"/>
          </a:ln>
        </p:spPr>
      </p:sp>
      <p:sp>
        <p:nvSpPr>
          <p:cNvPr id="324" name="Text 25"/>
          <p:cNvSpPr txBox="1"/>
          <p:nvPr/>
        </p:nvSpPr>
        <p:spPr>
          <a:xfrm>
            <a:off x="3749040" y="1965960"/>
            <a:ext cx="2057400" cy="457200"/>
          </a:xfrm>
          <a:prstGeom prst="rect">
            <a:avLst/>
          </a:prstGeom>
          <a:noFill/>
          <a:ln/>
        </p:spPr>
        <p:txBody>
          <a:bodyPr wrap="square" lIns="0" tIns="0" rIns="0" bIns="0" rtlCol="0" anchor="ctr"/>
          <a:lstStyle/>
          <a:p>
            <a:pPr rtl="1" algn="ctr" indent="0" marL="0">
              <a:buNone/>
            </a:pPr>
            <a:r>
              <a:rPr lang="en-US" sz="1350" b="1" dirty="0">
                <a:solidFill>
                  <a:srgbClr val="FFFFFF"/>
                </a:solidFill>
                <a:latin typeface="Arial" pitchFamily="34" charset="0"/>
                <a:ea typeface="Arial" pitchFamily="34" charset="-122"/>
                <a:cs typeface="Arial" pitchFamily="34" charset="-120"/>
              </a:rPr>
              <a:t>متوفر ومكتمل</a:t>
            </a:r>
            <a:endParaRPr lang="en-US" sz="1350" dirty="0"/>
          </a:p>
        </p:txBody>
      </p:sp>
      <p:sp>
        <p:nvSpPr>
          <p:cNvPr id="325" name="Text 26"/>
          <p:cNvSpPr txBox="1"/>
          <p:nvPr/>
        </p:nvSpPr>
        <p:spPr>
          <a:xfrm>
            <a:off x="777240" y="1965960"/>
            <a:ext cx="2834640" cy="548640"/>
          </a:xfrm>
          <a:prstGeom prst="rect">
            <a:avLst/>
          </a:prstGeom>
          <a:noFill/>
          <a:ln/>
        </p:spPr>
        <p:txBody>
          <a:bodyPr wrap="square" lIns="0" tIns="0" rIns="0" bIns="0" rtlCol="0" anchor="ctr"/>
          <a:lstStyle/>
          <a:p>
            <a:pPr rtl="1" algn="r" indent="0" marL="0">
              <a:buNone/>
            </a:pPr>
            <a:r>
              <a:rPr lang="en-US" sz="1300" dirty="0">
                <a:solidFill>
                  <a:srgbClr val="1B2540"/>
                </a:solidFill>
                <a:latin typeface="Arial" pitchFamily="34" charset="0"/>
                <a:ea typeface="Arial" pitchFamily="34" charset="-122"/>
                <a:cs typeface="Arial" pitchFamily="34" charset="-120"/>
              </a:rPr>
              <a:t>مستوفٍ لبنود الفحص</a:t>
            </a:r>
            <a:endParaRPr lang="en-US" sz="1300" dirty="0"/>
          </a:p>
        </p:txBody>
      </p:sp>
      <p:sp>
        <p:nvSpPr>
          <p:cNvPr id="326" name="st1"/>
          <p:cNvSpPr/>
          <p:nvPr/>
        </p:nvSpPr>
        <p:spPr>
          <a:xfrm>
            <a:off x="3749040" y="2651760"/>
            <a:ext cx="2057400" cy="457200"/>
          </a:xfrm>
          <a:prstGeom prst="roundRect">
            <a:avLst>
              <a:gd name="adj" fmla="val 50000"/>
            </a:avLst>
          </a:prstGeom>
          <a:solidFill>
            <a:srgbClr val="C98A00"/>
          </a:solidFill>
          <a:ln w="12700">
            <a:solidFill>
              <a:srgbClr val="C98A00"/>
            </a:solidFill>
            <a:prstDash val="solid"/>
          </a:ln>
        </p:spPr>
      </p:sp>
      <p:sp>
        <p:nvSpPr>
          <p:cNvPr id="327" name="Text 28"/>
          <p:cNvSpPr txBox="1"/>
          <p:nvPr/>
        </p:nvSpPr>
        <p:spPr>
          <a:xfrm>
            <a:off x="3749040" y="2651760"/>
            <a:ext cx="2057400" cy="457200"/>
          </a:xfrm>
          <a:prstGeom prst="rect">
            <a:avLst/>
          </a:prstGeom>
          <a:noFill/>
          <a:ln/>
        </p:spPr>
        <p:txBody>
          <a:bodyPr wrap="square" lIns="0" tIns="0" rIns="0" bIns="0" rtlCol="0" anchor="ctr"/>
          <a:lstStyle/>
          <a:p>
            <a:pPr rtl="1" algn="ctr" indent="0" marL="0">
              <a:buNone/>
            </a:pPr>
            <a:r>
              <a:rPr lang="en-US" sz="1350" b="1" dirty="0">
                <a:solidFill>
                  <a:srgbClr val="FFFFFF"/>
                </a:solidFill>
                <a:latin typeface="Arial" pitchFamily="34" charset="0"/>
                <a:ea typeface="Arial" pitchFamily="34" charset="-122"/>
                <a:cs typeface="Arial" pitchFamily="34" charset="-120"/>
              </a:rPr>
              <a:t>متوفر ويحتاج تحسين</a:t>
            </a:r>
            <a:endParaRPr lang="en-US" sz="1350" dirty="0"/>
          </a:p>
        </p:txBody>
      </p:sp>
      <p:sp>
        <p:nvSpPr>
          <p:cNvPr id="328" name="Text 29"/>
          <p:cNvSpPr txBox="1"/>
          <p:nvPr/>
        </p:nvSpPr>
        <p:spPr>
          <a:xfrm>
            <a:off x="777240" y="2651760"/>
            <a:ext cx="2834640" cy="548640"/>
          </a:xfrm>
          <a:prstGeom prst="rect">
            <a:avLst/>
          </a:prstGeom>
          <a:noFill/>
          <a:ln/>
        </p:spPr>
        <p:txBody>
          <a:bodyPr wrap="square" lIns="0" tIns="0" rIns="0" bIns="0" rtlCol="0" anchor="ctr"/>
          <a:lstStyle/>
          <a:p>
            <a:pPr rtl="1" algn="r" indent="0" marL="0">
              <a:buNone/>
            </a:pPr>
            <a:r>
              <a:rPr lang="en-US" sz="1300" dirty="0">
                <a:solidFill>
                  <a:srgbClr val="1B2540"/>
                </a:solidFill>
                <a:latin typeface="Arial" pitchFamily="34" charset="0"/>
                <a:ea typeface="Arial" pitchFamily="34" charset="-122"/>
                <a:cs typeface="Arial" pitchFamily="34" charset="-120"/>
              </a:rPr>
              <a:t>يحتاج استكمالاً أو تحديثاً أو اعتماداً أو إثبات تطبيق</a:t>
            </a:r>
            <a:endParaRPr lang="en-US" sz="1300" dirty="0"/>
          </a:p>
        </p:txBody>
      </p:sp>
      <p:sp>
        <p:nvSpPr>
          <p:cNvPr id="329" name="st2"/>
          <p:cNvSpPr/>
          <p:nvPr/>
        </p:nvSpPr>
        <p:spPr>
          <a:xfrm>
            <a:off x="3749040" y="3337560"/>
            <a:ext cx="2057400" cy="457200"/>
          </a:xfrm>
          <a:prstGeom prst="roundRect">
            <a:avLst>
              <a:gd name="adj" fmla="val 50000"/>
            </a:avLst>
          </a:prstGeom>
          <a:solidFill>
            <a:srgbClr val="C0392B"/>
          </a:solidFill>
          <a:ln w="12700">
            <a:solidFill>
              <a:srgbClr val="C0392B"/>
            </a:solidFill>
            <a:prstDash val="solid"/>
          </a:ln>
        </p:spPr>
      </p:sp>
      <p:sp>
        <p:nvSpPr>
          <p:cNvPr id="330" name="Text 31"/>
          <p:cNvSpPr txBox="1"/>
          <p:nvPr/>
        </p:nvSpPr>
        <p:spPr>
          <a:xfrm>
            <a:off x="3749040" y="3337560"/>
            <a:ext cx="2057400" cy="457200"/>
          </a:xfrm>
          <a:prstGeom prst="rect">
            <a:avLst/>
          </a:prstGeom>
          <a:noFill/>
          <a:ln/>
        </p:spPr>
        <p:txBody>
          <a:bodyPr wrap="square" lIns="0" tIns="0" rIns="0" bIns="0" rtlCol="0" anchor="ctr"/>
          <a:lstStyle/>
          <a:p>
            <a:pPr rtl="1" algn="ctr" indent="0" marL="0">
              <a:buNone/>
            </a:pPr>
            <a:r>
              <a:rPr lang="en-US" sz="1350" b="1" dirty="0">
                <a:solidFill>
                  <a:srgbClr val="FFFFFF"/>
                </a:solidFill>
                <a:latin typeface="Arial" pitchFamily="34" charset="0"/>
                <a:ea typeface="Arial" pitchFamily="34" charset="-122"/>
                <a:cs typeface="Arial" pitchFamily="34" charset="-120"/>
              </a:rPr>
              <a:t>غير متوفر</a:t>
            </a:r>
            <a:endParaRPr lang="en-US" sz="1350" dirty="0"/>
          </a:p>
        </p:txBody>
      </p:sp>
      <p:sp>
        <p:nvSpPr>
          <p:cNvPr id="331" name="Text 32"/>
          <p:cNvSpPr txBox="1"/>
          <p:nvPr/>
        </p:nvSpPr>
        <p:spPr>
          <a:xfrm>
            <a:off x="777240" y="3337560"/>
            <a:ext cx="2834640" cy="548640"/>
          </a:xfrm>
          <a:prstGeom prst="rect">
            <a:avLst/>
          </a:prstGeom>
          <a:noFill/>
          <a:ln/>
        </p:spPr>
        <p:txBody>
          <a:bodyPr wrap="square" lIns="0" tIns="0" rIns="0" bIns="0" rtlCol="0" anchor="ctr"/>
          <a:lstStyle/>
          <a:p>
            <a:pPr rtl="1" algn="r" indent="0" marL="0">
              <a:buNone/>
            </a:pPr>
            <a:r>
              <a:rPr lang="en-US" sz="1300" dirty="0">
                <a:solidFill>
                  <a:srgbClr val="1B2540"/>
                </a:solidFill>
                <a:latin typeface="Arial" pitchFamily="34" charset="0"/>
                <a:ea typeface="Arial" pitchFamily="34" charset="-122"/>
                <a:cs typeface="Arial" pitchFamily="34" charset="-120"/>
              </a:rPr>
              <a:t>لا يوجد دليل يثبت استيفاء المتطلب</a:t>
            </a:r>
            <a:endParaRPr lang="en-US" sz="1300" dirty="0"/>
          </a:p>
        </p:txBody>
      </p:sp>
      <p:sp>
        <p:nvSpPr>
          <p:cNvPr id="332" name="gapCard"/>
          <p:cNvSpPr/>
          <p:nvPr/>
        </p:nvSpPr>
        <p:spPr>
          <a:xfrm>
            <a:off x="548640" y="4343400"/>
            <a:ext cx="5486400" cy="1600200"/>
          </a:xfrm>
          <a:prstGeom prst="roundRect">
            <a:avLst>
              <a:gd name="adj" fmla="val 6857"/>
            </a:avLst>
          </a:prstGeom>
          <a:solidFill>
            <a:srgbClr val="EEF4FA"/>
          </a:solidFill>
          <a:ln w="12700">
            <a:solidFill>
              <a:srgbClr val="EEF4FA"/>
            </a:solidFill>
            <a:prstDash val="solid"/>
          </a:ln>
          <a:effectLst>
            <a:outerShdw sx="100000" sy="100000" kx="0" ky="0" algn="bl" rotWithShape="0" blurRad="76200" dist="25400" dir="5400000">
              <a:srgbClr val="9AA8C0">
                <a:alpha val="25000"/>
              </a:srgbClr>
            </a:outerShdw>
          </a:effectLst>
        </p:spPr>
      </p:sp>
      <p:sp>
        <p:nvSpPr>
          <p:cNvPr id="333" name="Text 34"/>
          <p:cNvSpPr txBox="1"/>
          <p:nvPr/>
        </p:nvSpPr>
        <p:spPr>
          <a:xfrm>
            <a:off x="777240" y="4480560"/>
            <a:ext cx="5029200" cy="1371600"/>
          </a:xfrm>
          <a:prstGeom prst="rect">
            <a:avLst/>
          </a:prstGeom>
          <a:noFill/>
          <a:ln/>
        </p:spPr>
        <p:txBody>
          <a:bodyPr wrap="square" lIns="0" tIns="0" rIns="0" bIns="0" rtlCol="0" anchor="t"/>
          <a:lstStyle/>
          <a:p>
            <a:pPr algn="r" indent="0" marL="0">
              <a:spcAft>
                <a:spcPts val="300"/>
              </a:spcAft>
              <a:buNone/>
            </a:pPr>
            <a:r>
              <a:rPr lang="en-US" sz="1500" b="1" dirty="0">
                <a:solidFill>
                  <a:srgbClr val="0A1B6E"/>
                </a:solidFill>
                <a:latin typeface="Arial" pitchFamily="34" charset="0"/>
                <a:ea typeface="Arial" pitchFamily="34" charset="-122"/>
                <a:cs typeface="Arial" pitchFamily="34" charset="-120"/>
              </a:rPr>
              <a:t>نوع الفجوة (للدليل الناقص): </a:t>
            </a:r>
            <a:endParaRPr lang="en-US" sz="1500" dirty="0"/>
          </a:p>
          <a:p>
            <a:pPr algn="r" indent="0" marL="0">
              <a:spcAft>
                <a:spcPts val="300"/>
              </a:spcAft>
              <a:buNone/>
            </a:pPr>
            <a:r>
              <a:rPr lang="en-US" sz="1500" b="1" dirty="0">
                <a:solidFill>
                  <a:srgbClr val="1B2540"/>
                </a:solidFill>
                <a:latin typeface="Arial" pitchFamily="34" charset="0"/>
                <a:ea typeface="Arial" pitchFamily="34" charset="-122"/>
                <a:cs typeface="Arial" pitchFamily="34" charset="-120"/>
              </a:rPr>
              <a:t>هل العمل يتم فعلاً؟</a:t>
            </a:r>
            <a:endParaRPr lang="en-US" sz="1500" dirty="0"/>
          </a:p>
          <a:p>
            <a:pPr algn="r" indent="0" marL="0">
              <a:spcAft>
                <a:spcPts val="300"/>
              </a:spcAft>
              <a:buNone/>
            </a:pPr>
            <a:r>
              <a:rPr lang="en-US" sz="1500" dirty="0">
                <a:solidFill>
                  <a:srgbClr val="1B2540"/>
                </a:solidFill>
                <a:latin typeface="Arial" pitchFamily="34" charset="0"/>
                <a:ea typeface="Arial" pitchFamily="34" charset="-122"/>
                <a:cs typeface="Arial" pitchFamily="34" charset="-120"/>
              </a:rPr>
              <a:t>نعم ← فجوة توثيق   •   لا أو جزئياً ← فجوة تطبيق</a:t>
            </a:r>
            <a:endParaRPr lang="en-US" sz="1500" dirty="0"/>
          </a:p>
          <a:p>
            <a:pPr algn="r" indent="0" marL="0">
              <a:spcAft>
                <a:spcPts val="300"/>
              </a:spcAft>
              <a:buNone/>
            </a:pPr>
            <a:r>
              <a:rPr lang="en-US" sz="1500" dirty="0">
                <a:solidFill>
                  <a:srgbClr val="5A6478"/>
                </a:solidFill>
                <a:latin typeface="Arial" pitchFamily="34" charset="0"/>
                <a:ea typeface="Arial" pitchFamily="34" charset="-122"/>
                <a:cs typeface="Arial" pitchFamily="34" charset="-120"/>
              </a:rPr>
              <a:t>ويُكتب معها الإجراء المطلوب والموعد</a:t>
            </a:r>
            <a:endParaRPr lang="en-US" sz="1500" dirty="0"/>
          </a:p>
        </p:txBody>
      </p:sp>
    </p:spTree>
    <p:extLst>
      <p:ext uri="{BB962C8B-B14F-4D97-AF65-F5344CB8AC3E}">
        <p14:creationId xmlns:p14="http://schemas.microsoft.com/office/powerpoint/2010/main" val="2894989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ملف العمل</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sheet0"/>
          <p:cNvSpPr/>
          <p:nvPr/>
        </p:nvSpPr>
        <p:spPr>
          <a:xfrm>
            <a:off x="9018727" y="1371600"/>
            <a:ext cx="2606040" cy="1600200"/>
          </a:xfrm>
          <a:prstGeom prst="roundRect">
            <a:avLst>
              <a:gd name="adj" fmla="val 6857"/>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1" name="shIcon0"/>
          <p:cNvSpPr/>
          <p:nvPr/>
        </p:nvSpPr>
        <p:spPr>
          <a:xfrm>
            <a:off x="10847527" y="1554480"/>
            <a:ext cx="594360" cy="594360"/>
          </a:xfrm>
          <a:prstGeom prst="ellipse">
            <a:avLst/>
          </a:prstGeom>
          <a:solidFill>
            <a:srgbClr val="0A1B6E"/>
          </a:solidFill>
          <a:ln w="12700">
            <a:solidFill>
              <a:srgbClr val="0A1B6E"/>
            </a:solidFill>
            <a:prstDash val="solid"/>
          </a:ln>
        </p:spPr>
      </p:sp>
      <p:pic>
        <p:nvPicPr>
          <p:cNvPr id="302" name="Image 0" descr="preencoded.png">    </p:cNvPr>
          <p:cNvPicPr>
            <a:picLocks noChangeAspect="1"/>
          </p:cNvPicPr>
          <p:nvPr/>
        </p:nvPicPr>
        <p:blipFill>
          <a:blip r:embed="rId200"/>
          <a:stretch>
            <a:fillRect/>
          </a:stretch>
        </p:blipFill>
        <p:spPr>
          <a:xfrm>
            <a:off x="10996117" y="1703070"/>
            <a:ext cx="297180" cy="297180"/>
          </a:xfrm>
          <a:prstGeom prst="rect">
            <a:avLst/>
          </a:prstGeom>
        </p:spPr>
      </p:pic>
      <p:sp>
        <p:nvSpPr>
          <p:cNvPr id="303" name="Text 3"/>
          <p:cNvSpPr txBox="1"/>
          <p:nvPr/>
        </p:nvSpPr>
        <p:spPr>
          <a:xfrm>
            <a:off x="9201607" y="1618488"/>
            <a:ext cx="1554480" cy="457200"/>
          </a:xfrm>
          <a:prstGeom prst="rect">
            <a:avLst/>
          </a:prstGeom>
          <a:noFill/>
          <a:ln/>
        </p:spPr>
        <p:txBody>
          <a:bodyPr wrap="square" lIns="0" tIns="0" rIns="0" bIns="0" rtlCol="0" anchor="ctr"/>
          <a:lstStyle/>
          <a:p>
            <a:pPr rtl="1" algn="r" indent="0" marL="0">
              <a:buNone/>
            </a:pPr>
            <a:r>
              <a:rPr lang="en-US" sz="1550" b="1" dirty="0">
                <a:solidFill>
                  <a:srgbClr val="0A1B6E"/>
                </a:solidFill>
                <a:latin typeface="Arial" pitchFamily="34" charset="0"/>
                <a:ea typeface="Arial" pitchFamily="34" charset="-122"/>
                <a:cs typeface="Arial" pitchFamily="34" charset="-120"/>
              </a:rPr>
              <a:t>أوراق الفحص (3)</a:t>
            </a:r>
            <a:endParaRPr lang="en-US" sz="1550" dirty="0"/>
          </a:p>
        </p:txBody>
      </p:sp>
      <p:sp>
        <p:nvSpPr>
          <p:cNvPr id="304" name="Text 4"/>
          <p:cNvSpPr txBox="1"/>
          <p:nvPr/>
        </p:nvSpPr>
        <p:spPr>
          <a:xfrm>
            <a:off x="9201607" y="2240280"/>
            <a:ext cx="2240280" cy="640080"/>
          </a:xfrm>
          <a:prstGeom prst="rect">
            <a:avLst/>
          </a:prstGeom>
          <a:noFill/>
          <a:ln/>
        </p:spPr>
        <p:txBody>
          <a:bodyPr wrap="square" lIns="0" tIns="0" rIns="0" bIns="0" rtlCol="0" anchor="t"/>
          <a:lstStyle/>
          <a:p>
            <a:pPr rtl="1" algn="r" indent="0" marL="0">
              <a:buNone/>
            </a:pPr>
            <a:r>
              <a:rPr lang="en-US" sz="1300" dirty="0">
                <a:solidFill>
                  <a:srgbClr val="5A6478"/>
                </a:solidFill>
                <a:latin typeface="Arial" pitchFamily="34" charset="0"/>
                <a:ea typeface="Arial" pitchFamily="34" charset="-122"/>
                <a:cs typeface="Arial" pitchFamily="34" charset="-120"/>
              </a:rPr>
              <a:t>ورقة لكل برنامج: يعبّئ فيها كل عضو أدلة معياره</a:t>
            </a:r>
            <a:endParaRPr lang="en-US" sz="1300" dirty="0"/>
          </a:p>
        </p:txBody>
      </p:sp>
      <p:sp>
        <p:nvSpPr>
          <p:cNvPr id="305" name="sheet1"/>
          <p:cNvSpPr/>
          <p:nvPr/>
        </p:nvSpPr>
        <p:spPr>
          <a:xfrm>
            <a:off x="6248095" y="1371600"/>
            <a:ext cx="2606040" cy="1600200"/>
          </a:xfrm>
          <a:prstGeom prst="roundRect">
            <a:avLst>
              <a:gd name="adj" fmla="val 6857"/>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6" name="shIcon1"/>
          <p:cNvSpPr/>
          <p:nvPr/>
        </p:nvSpPr>
        <p:spPr>
          <a:xfrm>
            <a:off x="8076895" y="1554480"/>
            <a:ext cx="594360" cy="594360"/>
          </a:xfrm>
          <a:prstGeom prst="ellipse">
            <a:avLst/>
          </a:prstGeom>
          <a:solidFill>
            <a:srgbClr val="0072BC"/>
          </a:solidFill>
          <a:ln w="12700">
            <a:solidFill>
              <a:srgbClr val="0072BC"/>
            </a:solidFill>
            <a:prstDash val="solid"/>
          </a:ln>
        </p:spPr>
      </p:sp>
      <p:pic>
        <p:nvPicPr>
          <p:cNvPr id="307" name="Image 1" descr="preencoded.png">    </p:cNvPr>
          <p:cNvPicPr>
            <a:picLocks noChangeAspect="1"/>
          </p:cNvPicPr>
          <p:nvPr/>
        </p:nvPicPr>
        <p:blipFill>
          <a:blip r:embed="rId201"/>
          <a:stretch>
            <a:fillRect/>
          </a:stretch>
        </p:blipFill>
        <p:spPr>
          <a:xfrm>
            <a:off x="8225485" y="1703070"/>
            <a:ext cx="297180" cy="297180"/>
          </a:xfrm>
          <a:prstGeom prst="rect">
            <a:avLst/>
          </a:prstGeom>
        </p:spPr>
      </p:pic>
      <p:sp>
        <p:nvSpPr>
          <p:cNvPr id="308" name="Text 7"/>
          <p:cNvSpPr txBox="1"/>
          <p:nvPr/>
        </p:nvSpPr>
        <p:spPr>
          <a:xfrm>
            <a:off x="6430975" y="1618488"/>
            <a:ext cx="1554480" cy="457200"/>
          </a:xfrm>
          <a:prstGeom prst="rect">
            <a:avLst/>
          </a:prstGeom>
          <a:noFill/>
          <a:ln/>
        </p:spPr>
        <p:txBody>
          <a:bodyPr wrap="square" lIns="0" tIns="0" rIns="0" bIns="0" rtlCol="0" anchor="ctr"/>
          <a:lstStyle/>
          <a:p>
            <a:pPr rtl="1" algn="r" indent="0" marL="0">
              <a:buNone/>
            </a:pPr>
            <a:r>
              <a:rPr lang="en-US" sz="1550" b="1" dirty="0">
                <a:solidFill>
                  <a:srgbClr val="0072BC"/>
                </a:solidFill>
                <a:latin typeface="Arial" pitchFamily="34" charset="0"/>
                <a:ea typeface="Arial" pitchFamily="34" charset="-122"/>
                <a:cs typeface="Arial" pitchFamily="34" charset="-120"/>
              </a:rPr>
              <a:t>أمثلة التصنيف</a:t>
            </a:r>
            <a:endParaRPr lang="en-US" sz="1550" dirty="0"/>
          </a:p>
        </p:txBody>
      </p:sp>
      <p:sp>
        <p:nvSpPr>
          <p:cNvPr id="309" name="Text 8"/>
          <p:cNvSpPr txBox="1"/>
          <p:nvPr/>
        </p:nvSpPr>
        <p:spPr>
          <a:xfrm>
            <a:off x="6430975" y="2240280"/>
            <a:ext cx="2240280" cy="640080"/>
          </a:xfrm>
          <a:prstGeom prst="rect">
            <a:avLst/>
          </a:prstGeom>
          <a:noFill/>
          <a:ln/>
        </p:spPr>
        <p:txBody>
          <a:bodyPr wrap="square" lIns="0" tIns="0" rIns="0" bIns="0" rtlCol="0" anchor="t"/>
          <a:lstStyle/>
          <a:p>
            <a:pPr rtl="1" algn="r" indent="0" marL="0">
              <a:buNone/>
            </a:pPr>
            <a:r>
              <a:rPr lang="en-US" sz="1300" dirty="0">
                <a:solidFill>
                  <a:srgbClr val="5A6478"/>
                </a:solidFill>
                <a:latin typeface="Arial" pitchFamily="34" charset="0"/>
                <a:ea typeface="Arial" pitchFamily="34" charset="-122"/>
                <a:cs typeface="Arial" pitchFamily="34" charset="-120"/>
              </a:rPr>
              <a:t>أمثلة من المحكات على كل حالة</a:t>
            </a:r>
            <a:endParaRPr lang="en-US" sz="1300" dirty="0"/>
          </a:p>
        </p:txBody>
      </p:sp>
      <p:sp>
        <p:nvSpPr>
          <p:cNvPr id="310" name="sheet2"/>
          <p:cNvSpPr/>
          <p:nvPr/>
        </p:nvSpPr>
        <p:spPr>
          <a:xfrm>
            <a:off x="3477463" y="1371600"/>
            <a:ext cx="2606040" cy="1600200"/>
          </a:xfrm>
          <a:prstGeom prst="roundRect">
            <a:avLst>
              <a:gd name="adj" fmla="val 6857"/>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11" name="shIcon2"/>
          <p:cNvSpPr/>
          <p:nvPr/>
        </p:nvSpPr>
        <p:spPr>
          <a:xfrm>
            <a:off x="5306263" y="1554480"/>
            <a:ext cx="594360" cy="594360"/>
          </a:xfrm>
          <a:prstGeom prst="ellipse">
            <a:avLst/>
          </a:prstGeom>
          <a:solidFill>
            <a:srgbClr val="00A3C4"/>
          </a:solidFill>
          <a:ln w="12700">
            <a:solidFill>
              <a:srgbClr val="00A3C4"/>
            </a:solidFill>
            <a:prstDash val="solid"/>
          </a:ln>
        </p:spPr>
      </p:sp>
      <p:pic>
        <p:nvPicPr>
          <p:cNvPr id="312" name="Image 2" descr="preencoded.png">    </p:cNvPr>
          <p:cNvPicPr>
            <a:picLocks noChangeAspect="1"/>
          </p:cNvPicPr>
          <p:nvPr/>
        </p:nvPicPr>
        <p:blipFill>
          <a:blip r:embed="rId202"/>
          <a:stretch>
            <a:fillRect/>
          </a:stretch>
        </p:blipFill>
        <p:spPr>
          <a:xfrm>
            <a:off x="5454853" y="1703070"/>
            <a:ext cx="297180" cy="297180"/>
          </a:xfrm>
          <a:prstGeom prst="rect">
            <a:avLst/>
          </a:prstGeom>
        </p:spPr>
      </p:pic>
      <p:sp>
        <p:nvSpPr>
          <p:cNvPr id="313" name="Text 11"/>
          <p:cNvSpPr txBox="1"/>
          <p:nvPr/>
        </p:nvSpPr>
        <p:spPr>
          <a:xfrm>
            <a:off x="3660343" y="1618488"/>
            <a:ext cx="1554480" cy="457200"/>
          </a:xfrm>
          <a:prstGeom prst="rect">
            <a:avLst/>
          </a:prstGeom>
          <a:noFill/>
          <a:ln/>
        </p:spPr>
        <p:txBody>
          <a:bodyPr wrap="square" lIns="0" tIns="0" rIns="0" bIns="0" rtlCol="0" anchor="ctr"/>
          <a:lstStyle/>
          <a:p>
            <a:pPr rtl="1" algn="r" indent="0" marL="0">
              <a:buNone/>
            </a:pPr>
            <a:r>
              <a:rPr lang="en-US" sz="1550" b="1" dirty="0">
                <a:solidFill>
                  <a:srgbClr val="00A3C4"/>
                </a:solidFill>
                <a:latin typeface="Arial" pitchFamily="34" charset="0"/>
                <a:ea typeface="Arial" pitchFamily="34" charset="-122"/>
                <a:cs typeface="Arial" pitchFamily="34" charset="-120"/>
              </a:rPr>
              <a:t>تقرير الأدلة</a:t>
            </a:r>
            <a:endParaRPr lang="en-US" sz="1550" dirty="0"/>
          </a:p>
        </p:txBody>
      </p:sp>
      <p:sp>
        <p:nvSpPr>
          <p:cNvPr id="314" name="Text 12"/>
          <p:cNvSpPr txBox="1"/>
          <p:nvPr/>
        </p:nvSpPr>
        <p:spPr>
          <a:xfrm>
            <a:off x="3660343" y="2240280"/>
            <a:ext cx="2240280" cy="640080"/>
          </a:xfrm>
          <a:prstGeom prst="rect">
            <a:avLst/>
          </a:prstGeom>
          <a:noFill/>
          <a:ln/>
        </p:spPr>
        <p:txBody>
          <a:bodyPr wrap="square" lIns="0" tIns="0" rIns="0" bIns="0" rtlCol="0" anchor="t"/>
          <a:lstStyle/>
          <a:p>
            <a:pPr rtl="1" algn="r" indent="0" marL="0">
              <a:buNone/>
            </a:pPr>
            <a:r>
              <a:rPr lang="en-US" sz="1300" dirty="0">
                <a:solidFill>
                  <a:srgbClr val="5A6478"/>
                </a:solidFill>
                <a:latin typeface="Arial" pitchFamily="34" charset="0"/>
                <a:ea typeface="Arial" pitchFamily="34" charset="-122"/>
                <a:cs typeface="Arial" pitchFamily="34" charset="-120"/>
              </a:rPr>
              <a:t>قائمة الأدلة حسب البرنامج والحالة</a:t>
            </a:r>
            <a:endParaRPr lang="en-US" sz="1300" dirty="0"/>
          </a:p>
        </p:txBody>
      </p:sp>
      <p:sp>
        <p:nvSpPr>
          <p:cNvPr id="315" name="sheet3"/>
          <p:cNvSpPr/>
          <p:nvPr/>
        </p:nvSpPr>
        <p:spPr>
          <a:xfrm>
            <a:off x="706831" y="1371600"/>
            <a:ext cx="2606040" cy="1600200"/>
          </a:xfrm>
          <a:prstGeom prst="roundRect">
            <a:avLst>
              <a:gd name="adj" fmla="val 6857"/>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16" name="shIcon3"/>
          <p:cNvSpPr/>
          <p:nvPr/>
        </p:nvSpPr>
        <p:spPr>
          <a:xfrm>
            <a:off x="2535631" y="1554480"/>
            <a:ext cx="594360" cy="594360"/>
          </a:xfrm>
          <a:prstGeom prst="ellipse">
            <a:avLst/>
          </a:prstGeom>
          <a:solidFill>
            <a:srgbClr val="5E2B91"/>
          </a:solidFill>
          <a:ln w="12700">
            <a:solidFill>
              <a:srgbClr val="5E2B91"/>
            </a:solidFill>
            <a:prstDash val="solid"/>
          </a:ln>
        </p:spPr>
      </p:sp>
      <p:pic>
        <p:nvPicPr>
          <p:cNvPr id="317" name="Image 3" descr="preencoded.png">    </p:cNvPr>
          <p:cNvPicPr>
            <a:picLocks noChangeAspect="1"/>
          </p:cNvPicPr>
          <p:nvPr/>
        </p:nvPicPr>
        <p:blipFill>
          <a:blip r:embed="rId203"/>
          <a:stretch>
            <a:fillRect/>
          </a:stretch>
        </p:blipFill>
        <p:spPr>
          <a:xfrm>
            <a:off x="2684221" y="1703070"/>
            <a:ext cx="297180" cy="297180"/>
          </a:xfrm>
          <a:prstGeom prst="rect">
            <a:avLst/>
          </a:prstGeom>
        </p:spPr>
      </p:pic>
      <p:sp>
        <p:nvSpPr>
          <p:cNvPr id="318" name="Text 15"/>
          <p:cNvSpPr txBox="1"/>
          <p:nvPr/>
        </p:nvSpPr>
        <p:spPr>
          <a:xfrm>
            <a:off x="889711" y="1618488"/>
            <a:ext cx="1554480" cy="457200"/>
          </a:xfrm>
          <a:prstGeom prst="rect">
            <a:avLst/>
          </a:prstGeom>
          <a:noFill/>
          <a:ln/>
        </p:spPr>
        <p:txBody>
          <a:bodyPr wrap="square" lIns="0" tIns="0" rIns="0" bIns="0" rtlCol="0" anchor="ctr"/>
          <a:lstStyle/>
          <a:p>
            <a:pPr rtl="1" algn="r" indent="0" marL="0">
              <a:buNone/>
            </a:pPr>
            <a:r>
              <a:rPr lang="en-US" sz="1550" b="1" dirty="0">
                <a:solidFill>
                  <a:srgbClr val="5E2B91"/>
                </a:solidFill>
                <a:latin typeface="Arial" pitchFamily="34" charset="0"/>
                <a:ea typeface="Arial" pitchFamily="34" charset="-122"/>
                <a:cs typeface="Arial" pitchFamily="34" charset="-120"/>
              </a:rPr>
              <a:t>لوحة المتابعة</a:t>
            </a:r>
            <a:endParaRPr lang="en-US" sz="1550" dirty="0"/>
          </a:p>
        </p:txBody>
      </p:sp>
      <p:sp>
        <p:nvSpPr>
          <p:cNvPr id="319" name="Text 16"/>
          <p:cNvSpPr txBox="1"/>
          <p:nvPr/>
        </p:nvSpPr>
        <p:spPr>
          <a:xfrm>
            <a:off x="889711" y="2240280"/>
            <a:ext cx="2240280" cy="640080"/>
          </a:xfrm>
          <a:prstGeom prst="rect">
            <a:avLst/>
          </a:prstGeom>
          <a:noFill/>
          <a:ln/>
        </p:spPr>
        <p:txBody>
          <a:bodyPr wrap="square" lIns="0" tIns="0" rIns="0" bIns="0" rtlCol="0" anchor="t"/>
          <a:lstStyle/>
          <a:p>
            <a:pPr rtl="1" algn="r" indent="0" marL="0">
              <a:buNone/>
            </a:pPr>
            <a:r>
              <a:rPr lang="en-US" sz="1300" dirty="0">
                <a:solidFill>
                  <a:srgbClr val="5A6478"/>
                </a:solidFill>
                <a:latin typeface="Arial" pitchFamily="34" charset="0"/>
                <a:ea typeface="Arial" pitchFamily="34" charset="-122"/>
                <a:cs typeface="Arial" pitchFamily="34" charset="-120"/>
              </a:rPr>
              <a:t>نسب الإنجاز والجاهزية تتحدث تلقائياً</a:t>
            </a:r>
            <a:endParaRPr lang="en-US" sz="1300" dirty="0"/>
          </a:p>
        </p:txBody>
      </p:sp>
      <p:sp>
        <p:nvSpPr>
          <p:cNvPr id="320" name="sheet4"/>
          <p:cNvSpPr/>
          <p:nvPr/>
        </p:nvSpPr>
        <p:spPr>
          <a:xfrm>
            <a:off x="9018727" y="3154680"/>
            <a:ext cx="2606040" cy="1600200"/>
          </a:xfrm>
          <a:prstGeom prst="roundRect">
            <a:avLst>
              <a:gd name="adj" fmla="val 6857"/>
            </a:avLst>
          </a:prstGeom>
          <a:solidFill>
            <a:srgbClr val="F7F9FC"/>
          </a:solidFill>
          <a:ln w="12700">
            <a:solidFill>
              <a:srgbClr val="F7F9FC"/>
            </a:solidFill>
            <a:prstDash val="solid"/>
          </a:ln>
          <a:effectLst>
            <a:outerShdw sx="100000" sy="100000" kx="0" ky="0" algn="bl" rotWithShape="0" blurRad="76200" dist="25400" dir="5400000">
              <a:srgbClr val="9AA8C0">
                <a:alpha val="25000"/>
              </a:srgbClr>
            </a:outerShdw>
          </a:effectLst>
        </p:spPr>
      </p:sp>
      <p:sp>
        <p:nvSpPr>
          <p:cNvPr id="321" name="shIcon4"/>
          <p:cNvSpPr/>
          <p:nvPr/>
        </p:nvSpPr>
        <p:spPr>
          <a:xfrm>
            <a:off x="10847527" y="3337560"/>
            <a:ext cx="594360" cy="594360"/>
          </a:xfrm>
          <a:prstGeom prst="ellipse">
            <a:avLst/>
          </a:prstGeom>
          <a:solidFill>
            <a:srgbClr val="0A1B6E"/>
          </a:solidFill>
          <a:ln w="12700">
            <a:solidFill>
              <a:srgbClr val="0A1B6E"/>
            </a:solidFill>
            <a:prstDash val="solid"/>
          </a:ln>
        </p:spPr>
      </p:sp>
      <p:pic>
        <p:nvPicPr>
          <p:cNvPr id="322" name="Image 4" descr="preencoded.png">    </p:cNvPr>
          <p:cNvPicPr>
            <a:picLocks noChangeAspect="1"/>
          </p:cNvPicPr>
          <p:nvPr/>
        </p:nvPicPr>
        <p:blipFill>
          <a:blip r:embed="rId204"/>
          <a:stretch>
            <a:fillRect/>
          </a:stretch>
        </p:blipFill>
        <p:spPr>
          <a:xfrm>
            <a:off x="10996117" y="3486150"/>
            <a:ext cx="297180" cy="297180"/>
          </a:xfrm>
          <a:prstGeom prst="rect">
            <a:avLst/>
          </a:prstGeom>
        </p:spPr>
      </p:pic>
      <p:sp>
        <p:nvSpPr>
          <p:cNvPr id="323" name="Text 19"/>
          <p:cNvSpPr txBox="1"/>
          <p:nvPr/>
        </p:nvSpPr>
        <p:spPr>
          <a:xfrm>
            <a:off x="9201607" y="3401568"/>
            <a:ext cx="1554480" cy="457200"/>
          </a:xfrm>
          <a:prstGeom prst="rect">
            <a:avLst/>
          </a:prstGeom>
          <a:noFill/>
          <a:ln/>
        </p:spPr>
        <p:txBody>
          <a:bodyPr wrap="square" lIns="0" tIns="0" rIns="0" bIns="0" rtlCol="0" anchor="ctr"/>
          <a:lstStyle/>
          <a:p>
            <a:pPr rtl="1" algn="r" indent="0" marL="0">
              <a:buNone/>
            </a:pPr>
            <a:r>
              <a:rPr lang="en-US" sz="1550" b="1" dirty="0">
                <a:solidFill>
                  <a:srgbClr val="0A1B6E"/>
                </a:solidFill>
                <a:latin typeface="Arial" pitchFamily="34" charset="0"/>
                <a:ea typeface="Arial" pitchFamily="34" charset="-122"/>
                <a:cs typeface="Arial" pitchFamily="34" charset="-120"/>
              </a:rPr>
              <a:t>خطة العمل</a:t>
            </a:r>
            <a:endParaRPr lang="en-US" sz="1550" dirty="0"/>
          </a:p>
        </p:txBody>
      </p:sp>
      <p:sp>
        <p:nvSpPr>
          <p:cNvPr id="324" name="Text 20"/>
          <p:cNvSpPr txBox="1"/>
          <p:nvPr/>
        </p:nvSpPr>
        <p:spPr>
          <a:xfrm>
            <a:off x="9201607" y="4023360"/>
            <a:ext cx="2240280" cy="640080"/>
          </a:xfrm>
          <a:prstGeom prst="rect">
            <a:avLst/>
          </a:prstGeom>
          <a:noFill/>
          <a:ln/>
        </p:spPr>
        <p:txBody>
          <a:bodyPr wrap="square" lIns="0" tIns="0" rIns="0" bIns="0" rtlCol="0" anchor="t"/>
          <a:lstStyle/>
          <a:p>
            <a:pPr rtl="1" algn="r" indent="0" marL="0">
              <a:buNone/>
            </a:pPr>
            <a:r>
              <a:rPr lang="en-US" sz="1300" dirty="0">
                <a:solidFill>
                  <a:srgbClr val="5A6478"/>
                </a:solidFill>
                <a:latin typeface="Arial" pitchFamily="34" charset="0"/>
                <a:ea typeface="Arial" pitchFamily="34" charset="-122"/>
                <a:cs typeface="Arial" pitchFamily="34" charset="-120"/>
              </a:rPr>
              <a:t>الخطة التنفيذية وآلية الفحص</a:t>
            </a:r>
            <a:endParaRPr lang="en-US" sz="1300" dirty="0"/>
          </a:p>
        </p:txBody>
      </p:sp>
      <p:sp>
        <p:nvSpPr>
          <p:cNvPr id="325" name="sheet5"/>
          <p:cNvSpPr/>
          <p:nvPr/>
        </p:nvSpPr>
        <p:spPr>
          <a:xfrm>
            <a:off x="6248095" y="3154680"/>
            <a:ext cx="2606040" cy="1600200"/>
          </a:xfrm>
          <a:prstGeom prst="roundRect">
            <a:avLst>
              <a:gd name="adj" fmla="val 6857"/>
            </a:avLst>
          </a:prstGeom>
          <a:solidFill>
            <a:srgbClr val="F7F9FC"/>
          </a:solidFill>
          <a:ln w="12700">
            <a:solidFill>
              <a:srgbClr val="F7F9FC"/>
            </a:solidFill>
            <a:prstDash val="solid"/>
          </a:ln>
          <a:effectLst>
            <a:outerShdw sx="100000" sy="100000" kx="0" ky="0" algn="bl" rotWithShape="0" blurRad="76200" dist="25400" dir="5400000">
              <a:srgbClr val="9AA8C0">
                <a:alpha val="25000"/>
              </a:srgbClr>
            </a:outerShdw>
          </a:effectLst>
        </p:spPr>
      </p:sp>
      <p:sp>
        <p:nvSpPr>
          <p:cNvPr id="326" name="shIcon5"/>
          <p:cNvSpPr/>
          <p:nvPr/>
        </p:nvSpPr>
        <p:spPr>
          <a:xfrm>
            <a:off x="8076895" y="3337560"/>
            <a:ext cx="594360" cy="594360"/>
          </a:xfrm>
          <a:prstGeom prst="ellipse">
            <a:avLst/>
          </a:prstGeom>
          <a:solidFill>
            <a:srgbClr val="0072BC"/>
          </a:solidFill>
          <a:ln w="12700">
            <a:solidFill>
              <a:srgbClr val="0072BC"/>
            </a:solidFill>
            <a:prstDash val="solid"/>
          </a:ln>
        </p:spPr>
      </p:sp>
      <p:pic>
        <p:nvPicPr>
          <p:cNvPr id="327" name="Image 5" descr="preencoded.png">    </p:cNvPr>
          <p:cNvPicPr>
            <a:picLocks noChangeAspect="1"/>
          </p:cNvPicPr>
          <p:nvPr/>
        </p:nvPicPr>
        <p:blipFill>
          <a:blip r:embed="rId205"/>
          <a:stretch>
            <a:fillRect/>
          </a:stretch>
        </p:blipFill>
        <p:spPr>
          <a:xfrm>
            <a:off x="8225485" y="3486150"/>
            <a:ext cx="297180" cy="297180"/>
          </a:xfrm>
          <a:prstGeom prst="rect">
            <a:avLst/>
          </a:prstGeom>
        </p:spPr>
      </p:pic>
      <p:sp>
        <p:nvSpPr>
          <p:cNvPr id="328" name="Text 23"/>
          <p:cNvSpPr txBox="1"/>
          <p:nvPr/>
        </p:nvSpPr>
        <p:spPr>
          <a:xfrm>
            <a:off x="6430975" y="3401568"/>
            <a:ext cx="1554480" cy="457200"/>
          </a:xfrm>
          <a:prstGeom prst="rect">
            <a:avLst/>
          </a:prstGeom>
          <a:noFill/>
          <a:ln/>
        </p:spPr>
        <p:txBody>
          <a:bodyPr wrap="square" lIns="0" tIns="0" rIns="0" bIns="0" rtlCol="0" anchor="ctr"/>
          <a:lstStyle/>
          <a:p>
            <a:pPr rtl="1" algn="r" indent="0" marL="0">
              <a:buNone/>
            </a:pPr>
            <a:r>
              <a:rPr lang="en-US" sz="1550" b="1" dirty="0">
                <a:solidFill>
                  <a:srgbClr val="0072BC"/>
                </a:solidFill>
                <a:latin typeface="Arial" pitchFamily="34" charset="0"/>
                <a:ea typeface="Arial" pitchFamily="34" charset="-122"/>
                <a:cs typeface="Arial" pitchFamily="34" charset="-120"/>
              </a:rPr>
              <a:t>الإعدادات واللجنة</a:t>
            </a:r>
            <a:endParaRPr lang="en-US" sz="1550" dirty="0"/>
          </a:p>
        </p:txBody>
      </p:sp>
      <p:sp>
        <p:nvSpPr>
          <p:cNvPr id="329" name="Text 24"/>
          <p:cNvSpPr txBox="1"/>
          <p:nvPr/>
        </p:nvSpPr>
        <p:spPr>
          <a:xfrm>
            <a:off x="6430975" y="4023360"/>
            <a:ext cx="2240280" cy="640080"/>
          </a:xfrm>
          <a:prstGeom prst="rect">
            <a:avLst/>
          </a:prstGeom>
          <a:noFill/>
          <a:ln/>
        </p:spPr>
        <p:txBody>
          <a:bodyPr wrap="square" lIns="0" tIns="0" rIns="0" bIns="0" rtlCol="0" anchor="t"/>
          <a:lstStyle/>
          <a:p>
            <a:pPr rtl="1" algn="r" indent="0" marL="0">
              <a:buNone/>
            </a:pPr>
            <a:r>
              <a:rPr lang="en-US" sz="1300" dirty="0">
                <a:solidFill>
                  <a:srgbClr val="5A6478"/>
                </a:solidFill>
                <a:latin typeface="Arial" pitchFamily="34" charset="0"/>
                <a:ea typeface="Arial" pitchFamily="34" charset="-122"/>
                <a:cs typeface="Arial" pitchFamily="34" charset="-120"/>
              </a:rPr>
              <a:t>الأعضاء وتوزيع المعايير</a:t>
            </a:r>
            <a:endParaRPr lang="en-US" sz="1300" dirty="0"/>
          </a:p>
        </p:txBody>
      </p:sp>
      <p:sp>
        <p:nvSpPr>
          <p:cNvPr id="330" name="sheet6"/>
          <p:cNvSpPr/>
          <p:nvPr/>
        </p:nvSpPr>
        <p:spPr>
          <a:xfrm>
            <a:off x="3477463" y="3154680"/>
            <a:ext cx="2606040" cy="1600200"/>
          </a:xfrm>
          <a:prstGeom prst="roundRect">
            <a:avLst>
              <a:gd name="adj" fmla="val 6857"/>
            </a:avLst>
          </a:prstGeom>
          <a:solidFill>
            <a:srgbClr val="F7F9FC"/>
          </a:solidFill>
          <a:ln w="12700">
            <a:solidFill>
              <a:srgbClr val="F7F9FC"/>
            </a:solidFill>
            <a:prstDash val="solid"/>
          </a:ln>
          <a:effectLst>
            <a:outerShdw sx="100000" sy="100000" kx="0" ky="0" algn="bl" rotWithShape="0" blurRad="76200" dist="25400" dir="5400000">
              <a:srgbClr val="9AA8C0">
                <a:alpha val="25000"/>
              </a:srgbClr>
            </a:outerShdw>
          </a:effectLst>
        </p:spPr>
      </p:sp>
      <p:sp>
        <p:nvSpPr>
          <p:cNvPr id="331" name="shIcon6"/>
          <p:cNvSpPr/>
          <p:nvPr/>
        </p:nvSpPr>
        <p:spPr>
          <a:xfrm>
            <a:off x="5306263" y="3337560"/>
            <a:ext cx="594360" cy="594360"/>
          </a:xfrm>
          <a:prstGeom prst="ellipse">
            <a:avLst/>
          </a:prstGeom>
          <a:solidFill>
            <a:srgbClr val="00A3C4"/>
          </a:solidFill>
          <a:ln w="12700">
            <a:solidFill>
              <a:srgbClr val="00A3C4"/>
            </a:solidFill>
            <a:prstDash val="solid"/>
          </a:ln>
        </p:spPr>
      </p:sp>
      <p:pic>
        <p:nvPicPr>
          <p:cNvPr id="332" name="Image 6" descr="preencoded.png">    </p:cNvPr>
          <p:cNvPicPr>
            <a:picLocks noChangeAspect="1"/>
          </p:cNvPicPr>
          <p:nvPr/>
        </p:nvPicPr>
        <p:blipFill>
          <a:blip r:embed="rId206"/>
          <a:stretch>
            <a:fillRect/>
          </a:stretch>
        </p:blipFill>
        <p:spPr>
          <a:xfrm>
            <a:off x="5454853" y="3486150"/>
            <a:ext cx="297180" cy="297180"/>
          </a:xfrm>
          <a:prstGeom prst="rect">
            <a:avLst/>
          </a:prstGeom>
        </p:spPr>
      </p:pic>
      <p:sp>
        <p:nvSpPr>
          <p:cNvPr id="333" name="Text 27"/>
          <p:cNvSpPr txBox="1"/>
          <p:nvPr/>
        </p:nvSpPr>
        <p:spPr>
          <a:xfrm>
            <a:off x="3660343" y="3401568"/>
            <a:ext cx="1554480" cy="457200"/>
          </a:xfrm>
          <a:prstGeom prst="rect">
            <a:avLst/>
          </a:prstGeom>
          <a:noFill/>
          <a:ln/>
        </p:spPr>
        <p:txBody>
          <a:bodyPr wrap="square" lIns="0" tIns="0" rIns="0" bIns="0" rtlCol="0" anchor="ctr"/>
          <a:lstStyle/>
          <a:p>
            <a:pPr rtl="1" algn="r" indent="0" marL="0">
              <a:buNone/>
            </a:pPr>
            <a:r>
              <a:rPr lang="en-US" sz="1550" b="1" dirty="0">
                <a:solidFill>
                  <a:srgbClr val="00A3C4"/>
                </a:solidFill>
                <a:latin typeface="Arial" pitchFamily="34" charset="0"/>
                <a:ea typeface="Arial" pitchFamily="34" charset="-122"/>
                <a:cs typeface="Arial" pitchFamily="34" charset="-120"/>
              </a:rPr>
              <a:t>متطلبات التقدم</a:t>
            </a:r>
            <a:endParaRPr lang="en-US" sz="1550" dirty="0"/>
          </a:p>
        </p:txBody>
      </p:sp>
      <p:sp>
        <p:nvSpPr>
          <p:cNvPr id="334" name="Text 28"/>
          <p:cNvSpPr txBox="1"/>
          <p:nvPr/>
        </p:nvSpPr>
        <p:spPr>
          <a:xfrm>
            <a:off x="3660343" y="4023360"/>
            <a:ext cx="2240280" cy="640080"/>
          </a:xfrm>
          <a:prstGeom prst="rect">
            <a:avLst/>
          </a:prstGeom>
          <a:noFill/>
          <a:ln/>
        </p:spPr>
        <p:txBody>
          <a:bodyPr wrap="square" lIns="0" tIns="0" rIns="0" bIns="0" rtlCol="0" anchor="t"/>
          <a:lstStyle/>
          <a:p>
            <a:pPr rtl="1" algn="r" indent="0" marL="0">
              <a:buNone/>
            </a:pPr>
            <a:r>
              <a:rPr lang="en-US" sz="1300" dirty="0">
                <a:solidFill>
                  <a:srgbClr val="5A6478"/>
                </a:solidFill>
                <a:latin typeface="Arial" pitchFamily="34" charset="0"/>
                <a:ea typeface="Arial" pitchFamily="34" charset="-122"/>
                <a:cs typeface="Arial" pitchFamily="34" charset="-120"/>
              </a:rPr>
              <a:t>متطلبات الاعتماد ومكان معالجتها</a:t>
            </a:r>
            <a:endParaRPr lang="en-US" sz="1300" dirty="0"/>
          </a:p>
        </p:txBody>
      </p:sp>
      <p:sp>
        <p:nvSpPr>
          <p:cNvPr id="335" name="sheet7"/>
          <p:cNvSpPr/>
          <p:nvPr/>
        </p:nvSpPr>
        <p:spPr>
          <a:xfrm>
            <a:off x="706831" y="3154680"/>
            <a:ext cx="2606040" cy="1600200"/>
          </a:xfrm>
          <a:prstGeom prst="roundRect">
            <a:avLst>
              <a:gd name="adj" fmla="val 6857"/>
            </a:avLst>
          </a:prstGeom>
          <a:solidFill>
            <a:srgbClr val="F7F9FC"/>
          </a:solidFill>
          <a:ln w="12700">
            <a:solidFill>
              <a:srgbClr val="F7F9FC"/>
            </a:solidFill>
            <a:prstDash val="solid"/>
          </a:ln>
          <a:effectLst>
            <a:outerShdw sx="100000" sy="100000" kx="0" ky="0" algn="bl" rotWithShape="0" blurRad="76200" dist="25400" dir="5400000">
              <a:srgbClr val="9AA8C0">
                <a:alpha val="25000"/>
              </a:srgbClr>
            </a:outerShdw>
          </a:effectLst>
        </p:spPr>
      </p:sp>
      <p:sp>
        <p:nvSpPr>
          <p:cNvPr id="336" name="shIcon7"/>
          <p:cNvSpPr/>
          <p:nvPr/>
        </p:nvSpPr>
        <p:spPr>
          <a:xfrm>
            <a:off x="2535631" y="3337560"/>
            <a:ext cx="594360" cy="594360"/>
          </a:xfrm>
          <a:prstGeom prst="ellipse">
            <a:avLst/>
          </a:prstGeom>
          <a:solidFill>
            <a:srgbClr val="5E2B91"/>
          </a:solidFill>
          <a:ln w="12700">
            <a:solidFill>
              <a:srgbClr val="5E2B91"/>
            </a:solidFill>
            <a:prstDash val="solid"/>
          </a:ln>
        </p:spPr>
      </p:sp>
      <p:pic>
        <p:nvPicPr>
          <p:cNvPr id="337" name="Image 7" descr="preencoded.png">    </p:cNvPr>
          <p:cNvPicPr>
            <a:picLocks noChangeAspect="1"/>
          </p:cNvPicPr>
          <p:nvPr/>
        </p:nvPicPr>
        <p:blipFill>
          <a:blip r:embed="rId207"/>
          <a:stretch>
            <a:fillRect/>
          </a:stretch>
        </p:blipFill>
        <p:spPr>
          <a:xfrm>
            <a:off x="2684221" y="3486150"/>
            <a:ext cx="297180" cy="297180"/>
          </a:xfrm>
          <a:prstGeom prst="rect">
            <a:avLst/>
          </a:prstGeom>
        </p:spPr>
      </p:pic>
      <p:sp>
        <p:nvSpPr>
          <p:cNvPr id="338" name="Text 31"/>
          <p:cNvSpPr txBox="1"/>
          <p:nvPr/>
        </p:nvSpPr>
        <p:spPr>
          <a:xfrm>
            <a:off x="889711" y="3401568"/>
            <a:ext cx="1554480" cy="457200"/>
          </a:xfrm>
          <a:prstGeom prst="rect">
            <a:avLst/>
          </a:prstGeom>
          <a:noFill/>
          <a:ln/>
        </p:spPr>
        <p:txBody>
          <a:bodyPr wrap="square" lIns="0" tIns="0" rIns="0" bIns="0" rtlCol="0" anchor="ctr"/>
          <a:lstStyle/>
          <a:p>
            <a:pPr rtl="1" algn="r" indent="0" marL="0">
              <a:buNone/>
            </a:pPr>
            <a:r>
              <a:rPr lang="en-US" sz="1550" b="1" dirty="0">
                <a:solidFill>
                  <a:srgbClr val="5E2B91"/>
                </a:solidFill>
                <a:latin typeface="Arial" pitchFamily="34" charset="0"/>
                <a:ea typeface="Arial" pitchFamily="34" charset="-122"/>
                <a:cs typeface="Arial" pitchFamily="34" charset="-120"/>
              </a:rPr>
              <a:t>مراجعة الرسالة</a:t>
            </a:r>
            <a:endParaRPr lang="en-US" sz="1550" dirty="0"/>
          </a:p>
        </p:txBody>
      </p:sp>
      <p:sp>
        <p:nvSpPr>
          <p:cNvPr id="339" name="Text 32"/>
          <p:cNvSpPr txBox="1"/>
          <p:nvPr/>
        </p:nvSpPr>
        <p:spPr>
          <a:xfrm>
            <a:off x="889711" y="4023360"/>
            <a:ext cx="2240280" cy="640080"/>
          </a:xfrm>
          <a:prstGeom prst="rect">
            <a:avLst/>
          </a:prstGeom>
          <a:noFill/>
          <a:ln/>
        </p:spPr>
        <p:txBody>
          <a:bodyPr wrap="square" lIns="0" tIns="0" rIns="0" bIns="0" rtlCol="0" anchor="t"/>
          <a:lstStyle/>
          <a:p>
            <a:pPr rtl="1" algn="r" indent="0" marL="0">
              <a:buNone/>
            </a:pPr>
            <a:r>
              <a:rPr lang="en-US" sz="1300" dirty="0">
                <a:solidFill>
                  <a:srgbClr val="5A6478"/>
                </a:solidFill>
                <a:latin typeface="Arial" pitchFamily="34" charset="0"/>
                <a:ea typeface="Arial" pitchFamily="34" charset="-122"/>
                <a:cs typeface="Arial" pitchFamily="34" charset="-120"/>
              </a:rPr>
              <a:t>نموذج مقترح للقسم العلمي</a:t>
            </a:r>
            <a:endParaRPr lang="en-US" sz="1300" dirty="0"/>
          </a:p>
        </p:txBody>
      </p:sp>
      <p:sp>
        <p:nvSpPr>
          <p:cNvPr id="340" name="fill"/>
          <p:cNvSpPr/>
          <p:nvPr/>
        </p:nvSpPr>
        <p:spPr>
          <a:xfrm>
            <a:off x="548640" y="5029200"/>
            <a:ext cx="11201400" cy="914400"/>
          </a:xfrm>
          <a:prstGeom prst="roundRect">
            <a:avLst>
              <a:gd name="adj" fmla="val 12000"/>
            </a:avLst>
          </a:prstGeom>
          <a:solidFill>
            <a:srgbClr val="0A1B6E"/>
          </a:solidFill>
          <a:ln w="12700">
            <a:solidFill>
              <a:srgbClr val="0A1B6E"/>
            </a:solidFill>
            <a:prstDash val="solid"/>
          </a:ln>
          <a:effectLst>
            <a:outerShdw sx="100000" sy="100000" kx="0" ky="0" algn="bl" rotWithShape="0" blurRad="76200" dist="25400" dir="5400000">
              <a:srgbClr val="9AA8C0">
                <a:alpha val="25000"/>
              </a:srgbClr>
            </a:outerShdw>
          </a:effectLst>
        </p:spPr>
      </p:sp>
      <p:sp>
        <p:nvSpPr>
          <p:cNvPr id="341" name="Text 34"/>
          <p:cNvSpPr txBox="1"/>
          <p:nvPr/>
        </p:nvSpPr>
        <p:spPr>
          <a:xfrm>
            <a:off x="822960" y="5029200"/>
            <a:ext cx="10652760" cy="914400"/>
          </a:xfrm>
          <a:prstGeom prst="rect">
            <a:avLst/>
          </a:prstGeom>
          <a:noFill/>
          <a:ln/>
        </p:spPr>
        <p:txBody>
          <a:bodyPr wrap="square" lIns="0" tIns="0" rIns="0" bIns="0" rtlCol="0" anchor="ctr"/>
          <a:lstStyle/>
          <a:p>
            <a:pPr algn="r" indent="0" marL="0">
              <a:buNone/>
            </a:pPr>
            <a:r>
              <a:rPr lang="en-US" sz="1700" b="1" dirty="0">
                <a:solidFill>
                  <a:srgbClr val="9FE3F0"/>
                </a:solidFill>
                <a:latin typeface="Arial" pitchFamily="34" charset="0"/>
                <a:ea typeface="Arial" pitchFamily="34" charset="-122"/>
                <a:cs typeface="Arial" pitchFamily="34" charset="-120"/>
              </a:rPr>
              <a:t>ما يعبّئه العضو:  </a:t>
            </a:r>
            <a:pPr algn="r" indent="0" marL="0">
              <a:buNone/>
            </a:pPr>
            <a:r>
              <a:rPr lang="en-US" sz="1700" dirty="0">
                <a:solidFill>
                  <a:srgbClr val="FFFFFF"/>
                </a:solidFill>
                <a:latin typeface="Arial" pitchFamily="34" charset="0"/>
                <a:ea typeface="Arial" pitchFamily="34" charset="-122"/>
                <a:cs typeface="Arial" pitchFamily="34" charset="-120"/>
              </a:rPr>
              <a:t>حالة الدليل  •  نوع الفجوة  •  الإجراء المطلوب  •  الموعد  •  رابط الدليل في المستودع</a:t>
            </a:r>
            <a:endParaRPr lang="en-US" sz="1700" dirty="0"/>
          </a:p>
        </p:txBody>
      </p:sp>
    </p:spTree>
    <p:extLst>
      <p:ext uri="{BB962C8B-B14F-4D97-AF65-F5344CB8AC3E}">
        <p14:creationId xmlns:p14="http://schemas.microsoft.com/office/powerpoint/2010/main" val="2894989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كيف نتابع العمل؟</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fu0"/>
          <p:cNvSpPr/>
          <p:nvPr/>
        </p:nvSpPr>
        <p:spPr>
          <a:xfrm>
            <a:off x="8214055" y="1554480"/>
            <a:ext cx="3474720" cy="3291840"/>
          </a:xfrm>
          <a:prstGeom prst="roundRect">
            <a:avLst>
              <a:gd name="adj" fmla="val 3333"/>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1" name="fuIcon0"/>
          <p:cNvSpPr/>
          <p:nvPr/>
        </p:nvSpPr>
        <p:spPr>
          <a:xfrm>
            <a:off x="9402775" y="1874520"/>
            <a:ext cx="1097280" cy="1097280"/>
          </a:xfrm>
          <a:prstGeom prst="ellipse">
            <a:avLst/>
          </a:prstGeom>
          <a:solidFill>
            <a:srgbClr val="0A1B6E"/>
          </a:solidFill>
          <a:ln w="12700">
            <a:solidFill>
              <a:srgbClr val="0A1B6E"/>
            </a:solidFill>
            <a:prstDash val="solid"/>
          </a:ln>
        </p:spPr>
      </p:sp>
      <p:pic>
        <p:nvPicPr>
          <p:cNvPr id="302" name="Image 0" descr="preencoded.png">    </p:cNvPr>
          <p:cNvPicPr>
            <a:picLocks noChangeAspect="1"/>
          </p:cNvPicPr>
          <p:nvPr/>
        </p:nvPicPr>
        <p:blipFill>
          <a:blip r:embed="rId200"/>
          <a:stretch>
            <a:fillRect/>
          </a:stretch>
        </p:blipFill>
        <p:spPr>
          <a:xfrm>
            <a:off x="9677095" y="2148840"/>
            <a:ext cx="548640" cy="548640"/>
          </a:xfrm>
          <a:prstGeom prst="rect">
            <a:avLst/>
          </a:prstGeom>
        </p:spPr>
      </p:pic>
      <p:sp>
        <p:nvSpPr>
          <p:cNvPr id="303" name="Text 3"/>
          <p:cNvSpPr txBox="1"/>
          <p:nvPr/>
        </p:nvSpPr>
        <p:spPr>
          <a:xfrm>
            <a:off x="8442655" y="3154680"/>
            <a:ext cx="3017520" cy="457200"/>
          </a:xfrm>
          <a:prstGeom prst="rect">
            <a:avLst/>
          </a:prstGeom>
          <a:noFill/>
          <a:ln/>
        </p:spPr>
        <p:txBody>
          <a:bodyPr wrap="square" lIns="0" tIns="0" rIns="0" bIns="0" rtlCol="0" anchor="t"/>
          <a:lstStyle/>
          <a:p>
            <a:pPr rtl="1" algn="ctr" indent="0" marL="0">
              <a:buNone/>
            </a:pPr>
            <a:r>
              <a:rPr lang="en-US" sz="2000" b="1" dirty="0">
                <a:solidFill>
                  <a:srgbClr val="0A1B6E"/>
                </a:solidFill>
                <a:latin typeface="Arial" pitchFamily="34" charset="0"/>
                <a:ea typeface="Arial" pitchFamily="34" charset="-122"/>
                <a:cs typeface="Arial" pitchFamily="34" charset="-120"/>
              </a:rPr>
              <a:t>ملف مشترك</a:t>
            </a:r>
            <a:endParaRPr lang="en-US" sz="2000" dirty="0"/>
          </a:p>
        </p:txBody>
      </p:sp>
      <p:sp>
        <p:nvSpPr>
          <p:cNvPr id="304" name="Text 4"/>
          <p:cNvSpPr txBox="1"/>
          <p:nvPr/>
        </p:nvSpPr>
        <p:spPr>
          <a:xfrm>
            <a:off x="8488375" y="3703320"/>
            <a:ext cx="2926080" cy="1005840"/>
          </a:xfrm>
          <a:prstGeom prst="rect">
            <a:avLst/>
          </a:prstGeom>
          <a:noFill/>
          <a:ln/>
        </p:spPr>
        <p:txBody>
          <a:bodyPr wrap="square" lIns="0" tIns="0" rIns="0" bIns="0" rtlCol="0" anchor="t"/>
          <a:lstStyle/>
          <a:p>
            <a:pPr rtl="1" algn="ctr" indent="0" marL="0">
              <a:buNone/>
            </a:pPr>
            <a:r>
              <a:rPr lang="en-US" sz="1450" dirty="0">
                <a:solidFill>
                  <a:srgbClr val="5A6478"/>
                </a:solidFill>
                <a:latin typeface="Arial" pitchFamily="34" charset="0"/>
                <a:ea typeface="Arial" pitchFamily="34" charset="-122"/>
                <a:cs typeface="Arial" pitchFamily="34" charset="-120"/>
              </a:rPr>
              <a:t>يعبّئ كل عضو ورقته مباشرة، ولوحة المتابعة تعرض الإنجاز أولاً بأول</a:t>
            </a:r>
            <a:endParaRPr lang="en-US" sz="1450" dirty="0"/>
          </a:p>
        </p:txBody>
      </p:sp>
      <p:sp>
        <p:nvSpPr>
          <p:cNvPr id="305" name="fu1"/>
          <p:cNvSpPr/>
          <p:nvPr/>
        </p:nvSpPr>
        <p:spPr>
          <a:xfrm>
            <a:off x="4510735" y="1554480"/>
            <a:ext cx="3474720" cy="3291840"/>
          </a:xfrm>
          <a:prstGeom prst="roundRect">
            <a:avLst>
              <a:gd name="adj" fmla="val 3333"/>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6" name="fuIcon1"/>
          <p:cNvSpPr/>
          <p:nvPr/>
        </p:nvSpPr>
        <p:spPr>
          <a:xfrm>
            <a:off x="5699455" y="1874520"/>
            <a:ext cx="1097280" cy="1097280"/>
          </a:xfrm>
          <a:prstGeom prst="ellipse">
            <a:avLst/>
          </a:prstGeom>
          <a:solidFill>
            <a:srgbClr val="00A3C4"/>
          </a:solidFill>
          <a:ln w="12700">
            <a:solidFill>
              <a:srgbClr val="00A3C4"/>
            </a:solidFill>
            <a:prstDash val="solid"/>
          </a:ln>
        </p:spPr>
      </p:sp>
      <p:pic>
        <p:nvPicPr>
          <p:cNvPr id="307" name="Image 1" descr="preencoded.png">    </p:cNvPr>
          <p:cNvPicPr>
            <a:picLocks noChangeAspect="1"/>
          </p:cNvPicPr>
          <p:nvPr/>
        </p:nvPicPr>
        <p:blipFill>
          <a:blip r:embed="rId201"/>
          <a:stretch>
            <a:fillRect/>
          </a:stretch>
        </p:blipFill>
        <p:spPr>
          <a:xfrm>
            <a:off x="5973775" y="2148840"/>
            <a:ext cx="548640" cy="548640"/>
          </a:xfrm>
          <a:prstGeom prst="rect">
            <a:avLst/>
          </a:prstGeom>
        </p:spPr>
      </p:pic>
      <p:sp>
        <p:nvSpPr>
          <p:cNvPr id="308" name="Text 7"/>
          <p:cNvSpPr txBox="1"/>
          <p:nvPr/>
        </p:nvSpPr>
        <p:spPr>
          <a:xfrm>
            <a:off x="4739335" y="3154680"/>
            <a:ext cx="3017520" cy="457200"/>
          </a:xfrm>
          <a:prstGeom prst="rect">
            <a:avLst/>
          </a:prstGeom>
          <a:noFill/>
          <a:ln/>
        </p:spPr>
        <p:txBody>
          <a:bodyPr wrap="square" lIns="0" tIns="0" rIns="0" bIns="0" rtlCol="0" anchor="t"/>
          <a:lstStyle/>
          <a:p>
            <a:pPr rtl="1" algn="ctr" indent="0" marL="0">
              <a:buNone/>
            </a:pPr>
            <a:r>
              <a:rPr lang="en-US" sz="2000" b="1" dirty="0">
                <a:solidFill>
                  <a:srgbClr val="00A3C4"/>
                </a:solidFill>
                <a:latin typeface="Arial" pitchFamily="34" charset="0"/>
                <a:ea typeface="Arial" pitchFamily="34" charset="-122"/>
                <a:cs typeface="Arial" pitchFamily="34" charset="-120"/>
              </a:rPr>
              <a:t>رسالة أسبوعية</a:t>
            </a:r>
            <a:endParaRPr lang="en-US" sz="2000" dirty="0"/>
          </a:p>
        </p:txBody>
      </p:sp>
      <p:sp>
        <p:nvSpPr>
          <p:cNvPr id="309" name="Text 8"/>
          <p:cNvSpPr txBox="1"/>
          <p:nvPr/>
        </p:nvSpPr>
        <p:spPr>
          <a:xfrm>
            <a:off x="4785055" y="3703320"/>
            <a:ext cx="2926080" cy="1005840"/>
          </a:xfrm>
          <a:prstGeom prst="rect">
            <a:avLst/>
          </a:prstGeom>
          <a:noFill/>
          <a:ln/>
        </p:spPr>
        <p:txBody>
          <a:bodyPr wrap="square" lIns="0" tIns="0" rIns="0" bIns="0" rtlCol="0" anchor="t"/>
          <a:lstStyle/>
          <a:p>
            <a:pPr rtl="1" algn="ctr" indent="0" marL="0">
              <a:buNone/>
            </a:pPr>
            <a:r>
              <a:rPr lang="en-US" sz="1450" dirty="0">
                <a:solidFill>
                  <a:srgbClr val="5A6478"/>
                </a:solidFill>
                <a:latin typeface="Arial" pitchFamily="34" charset="0"/>
                <a:ea typeface="Arial" pitchFamily="34" charset="-122"/>
                <a:cs typeface="Arial" pitchFamily="34" charset="-120"/>
              </a:rPr>
              <a:t>كل خميس في قروب اللجنة: نسبة الإنجاز لكل برنامج، ومعالجة أي تحديات</a:t>
            </a:r>
            <a:endParaRPr lang="en-US" sz="1450" dirty="0"/>
          </a:p>
        </p:txBody>
      </p:sp>
      <p:sp>
        <p:nvSpPr>
          <p:cNvPr id="310" name="fu2"/>
          <p:cNvSpPr/>
          <p:nvPr/>
        </p:nvSpPr>
        <p:spPr>
          <a:xfrm>
            <a:off x="807415" y="1554480"/>
            <a:ext cx="3474720" cy="3291840"/>
          </a:xfrm>
          <a:prstGeom prst="roundRect">
            <a:avLst>
              <a:gd name="adj" fmla="val 3333"/>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11" name="fuIcon2"/>
          <p:cNvSpPr/>
          <p:nvPr/>
        </p:nvSpPr>
        <p:spPr>
          <a:xfrm>
            <a:off x="1996135" y="1874520"/>
            <a:ext cx="1097280" cy="1097280"/>
          </a:xfrm>
          <a:prstGeom prst="ellipse">
            <a:avLst/>
          </a:prstGeom>
          <a:solidFill>
            <a:srgbClr val="5E2B91"/>
          </a:solidFill>
          <a:ln w="12700">
            <a:solidFill>
              <a:srgbClr val="5E2B91"/>
            </a:solidFill>
            <a:prstDash val="solid"/>
          </a:ln>
        </p:spPr>
      </p:sp>
      <p:pic>
        <p:nvPicPr>
          <p:cNvPr id="312" name="Image 2" descr="preencoded.png">    </p:cNvPr>
          <p:cNvPicPr>
            <a:picLocks noChangeAspect="1"/>
          </p:cNvPicPr>
          <p:nvPr/>
        </p:nvPicPr>
        <p:blipFill>
          <a:blip r:embed="rId202"/>
          <a:stretch>
            <a:fillRect/>
          </a:stretch>
        </p:blipFill>
        <p:spPr>
          <a:xfrm>
            <a:off x="2270455" y="2148840"/>
            <a:ext cx="548640" cy="548640"/>
          </a:xfrm>
          <a:prstGeom prst="rect">
            <a:avLst/>
          </a:prstGeom>
        </p:spPr>
      </p:pic>
      <p:sp>
        <p:nvSpPr>
          <p:cNvPr id="313" name="Text 11"/>
          <p:cNvSpPr txBox="1"/>
          <p:nvPr/>
        </p:nvSpPr>
        <p:spPr>
          <a:xfrm>
            <a:off x="1036015" y="3154680"/>
            <a:ext cx="3017520" cy="457200"/>
          </a:xfrm>
          <a:prstGeom prst="rect">
            <a:avLst/>
          </a:prstGeom>
          <a:noFill/>
          <a:ln/>
        </p:spPr>
        <p:txBody>
          <a:bodyPr wrap="square" lIns="0" tIns="0" rIns="0" bIns="0" rtlCol="0" anchor="t"/>
          <a:lstStyle/>
          <a:p>
            <a:pPr rtl="1" algn="ctr" indent="0" marL="0">
              <a:buNone/>
            </a:pPr>
            <a:r>
              <a:rPr lang="en-US" sz="2000" b="1" dirty="0">
                <a:solidFill>
                  <a:srgbClr val="5E2B91"/>
                </a:solidFill>
                <a:latin typeface="Arial" pitchFamily="34" charset="0"/>
                <a:ea typeface="Arial" pitchFamily="34" charset="-122"/>
                <a:cs typeface="Arial" pitchFamily="34" charset="-120"/>
              </a:rPr>
              <a:t>ثلاثة اجتماعات فقط</a:t>
            </a:r>
            <a:endParaRPr lang="en-US" sz="2000" dirty="0"/>
          </a:p>
        </p:txBody>
      </p:sp>
      <p:sp>
        <p:nvSpPr>
          <p:cNvPr id="314" name="Text 12"/>
          <p:cNvSpPr txBox="1"/>
          <p:nvPr/>
        </p:nvSpPr>
        <p:spPr>
          <a:xfrm>
            <a:off x="1081735" y="3703320"/>
            <a:ext cx="2926080" cy="1005840"/>
          </a:xfrm>
          <a:prstGeom prst="rect">
            <a:avLst/>
          </a:prstGeom>
          <a:noFill/>
          <a:ln/>
        </p:spPr>
        <p:txBody>
          <a:bodyPr wrap="square" lIns="0" tIns="0" rIns="0" bIns="0" rtlCol="0" anchor="t"/>
          <a:lstStyle/>
          <a:p>
            <a:pPr rtl="1" algn="ctr" indent="0" marL="0">
              <a:buNone/>
            </a:pPr>
            <a:r>
              <a:rPr lang="en-US" sz="1450" dirty="0">
                <a:solidFill>
                  <a:srgbClr val="5A6478"/>
                </a:solidFill>
                <a:latin typeface="Arial" pitchFamily="34" charset="0"/>
                <a:ea typeface="Arial" pitchFamily="34" charset="-122"/>
                <a:cs typeface="Arial" pitchFamily="34" charset="-120"/>
              </a:rPr>
              <a:t>الانطلاق في الأسبوع 1 • منتصف الخطة في الأسبوع 4 • مناقشة الفجوات في الأسبوع 7</a:t>
            </a:r>
            <a:endParaRPr lang="en-US" sz="1450" dirty="0"/>
          </a:p>
        </p:txBody>
      </p:sp>
      <p:sp>
        <p:nvSpPr>
          <p:cNvPr id="315" name="contact"/>
          <p:cNvSpPr/>
          <p:nvPr/>
        </p:nvSpPr>
        <p:spPr>
          <a:xfrm>
            <a:off x="914400" y="5166360"/>
            <a:ext cx="10835640" cy="822960"/>
          </a:xfrm>
          <a:prstGeom prst="roundRect">
            <a:avLst>
              <a:gd name="adj" fmla="val 13333"/>
            </a:avLst>
          </a:prstGeom>
          <a:solidFill>
            <a:srgbClr val="EEF4FA"/>
          </a:solidFill>
          <a:ln w="12700">
            <a:solidFill>
              <a:srgbClr val="EEF4FA"/>
            </a:solidFill>
            <a:prstDash val="solid"/>
          </a:ln>
          <a:effectLst>
            <a:outerShdw sx="100000" sy="100000" kx="0" ky="0" algn="bl" rotWithShape="0" blurRad="76200" dist="25400" dir="5400000">
              <a:srgbClr val="9AA8C0">
                <a:alpha val="25000"/>
              </a:srgbClr>
            </a:outerShdw>
          </a:effectLst>
        </p:spPr>
      </p:sp>
      <p:sp>
        <p:nvSpPr>
          <p:cNvPr id="316" name="Text 14"/>
          <p:cNvSpPr txBox="1"/>
          <p:nvPr/>
        </p:nvSpPr>
        <p:spPr>
          <a:xfrm>
            <a:off x="1188720" y="5166360"/>
            <a:ext cx="10287000" cy="822960"/>
          </a:xfrm>
          <a:prstGeom prst="rect">
            <a:avLst/>
          </a:prstGeom>
          <a:noFill/>
          <a:ln/>
        </p:spPr>
        <p:txBody>
          <a:bodyPr wrap="square" lIns="0" tIns="0" rIns="0" bIns="0" rtlCol="0" anchor="ctr"/>
          <a:lstStyle/>
          <a:p>
            <a:pPr rtl="1" algn="ctr" indent="0" marL="0">
              <a:buNone/>
            </a:pPr>
            <a:r>
              <a:rPr lang="en-US" sz="1600" b="1" dirty="0">
                <a:solidFill>
                  <a:srgbClr val="0A1B6E"/>
                </a:solidFill>
                <a:latin typeface="Arial" pitchFamily="34" charset="0"/>
                <a:ea typeface="Arial" pitchFamily="34" charset="-122"/>
                <a:cs typeface="Arial" pitchFamily="34" charset="-120"/>
              </a:rPr>
              <a:t>من لديه استفسار أو تردد في أي دليل، يتواصل مع الرئيسة أو الأمينة مباشرة دون انتظار الاجتماع</a:t>
            </a:r>
            <a:endParaRPr lang="en-US" sz="1600" dirty="0"/>
          </a:p>
        </p:txBody>
      </p:sp>
    </p:spTree>
    <p:extLst>
      <p:ext uri="{BB962C8B-B14F-4D97-AF65-F5344CB8AC3E}">
        <p14:creationId xmlns:p14="http://schemas.microsoft.com/office/powerpoint/2010/main" val="2894989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E6DD31-4882-1A6D-BF83-82E5E8E9073A}"/>
              </a:ext>
            </a:extLst>
          </p:cNvPr>
          <p:cNvSpPr txBox="1"/>
          <p:nvPr/>
        </p:nvSpPr>
        <p:spPr>
          <a:xfrm>
            <a:off x="1143000" y="237325"/>
            <a:ext cx="10521149" cy="523220"/>
          </a:xfrm>
          <a:prstGeom prst="rect">
            <a:avLst/>
          </a:prstGeom>
          <a:noFill/>
        </p:spPr>
        <p:txBody>
          <a:bodyPr wrap="square" rtlCol="0">
            <a:spAutoFit/>
          </a:bodyPr>
          <a:lstStyle/>
          <a:p>
            <a:pPr algn="r">
              <a:buClr>
                <a:srgbClr val="4D3897"/>
              </a:buClr>
            </a:pPr>
            <a:r>
              <a:rPr lang="ar-SA" sz="2800" b="1" dirty="0">
                <a:solidFill>
                  <a:srgbClr val="1F60A6"/>
                </a:solidFill>
                <a:latin typeface="Frutiger LT Arabic 45 Light" pitchFamily="2" charset="-78"/>
                <a:cs typeface="Frutiger LT Arabic 45 Light" pitchFamily="2" charset="-78"/>
              </a:rPr>
              <a:t>الخطوات القادمة</a:t>
            </a:r>
          </a:p>
        </p:txBody>
      </p:sp>
      <p:sp>
        <p:nvSpPr>
          <p:cNvPr id="50" name="Slide Number Placeholder 168">
            <a:extLst>
              <a:ext uri="{FF2B5EF4-FFF2-40B4-BE49-F238E27FC236}">
                <a16:creationId xmlns:a16="http://schemas.microsoft.com/office/drawing/2014/main" id="{BBB952C5-5C50-F056-C216-2842F26F555E}"/>
              </a:ext>
            </a:extLst>
          </p:cNvPr>
          <p:cNvSpPr txBox="1">
            <a:spLocks/>
          </p:cNvSpPr>
          <p:nvPr/>
        </p:nvSpPr>
        <p:spPr>
          <a:xfrm>
            <a:off x="395844" y="6324610"/>
            <a:ext cx="825564" cy="276999"/>
          </a:xfrm>
          <a:prstGeom prst="rect">
            <a:avLst/>
          </a:prstGeom>
        </p:spPr>
        <p:txBody>
          <a:bodyPr wrap="square">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1" fontAlgn="auto" latinLnBrk="0" hangingPunct="0">
              <a:lnSpc>
                <a:spcPct val="100000"/>
              </a:lnSpc>
              <a:spcBef>
                <a:spcPts val="0"/>
              </a:spcBef>
              <a:spcAft>
                <a:spcPts val="0"/>
              </a:spcAft>
              <a:buClrTx/>
              <a:buSzTx/>
              <a:buFontTx/>
              <a:buNone/>
              <a:tabLst/>
              <a:defRPr kumimoji="0" lang="x-none" sz="2000" b="1" i="0" u="none" strike="noStrike" cap="none" spc="0" normalizeH="0" baseline="0" smtClean="0">
                <a:ln>
                  <a:noFill/>
                </a:ln>
                <a:solidFill>
                  <a:srgbClr val="93CDDD"/>
                </a:solidFill>
                <a:effectLst/>
                <a:uFillTx/>
                <a:latin typeface="Frutiger LT Arabic 55 Roman" pitchFamily="2" charset="-78"/>
                <a:ea typeface="+mj-ea"/>
                <a:cs typeface="Frutiger LT Arabic 55 Roman" pitchFamily="2" charset="-78"/>
                <a:sym typeface="Helvetica"/>
              </a:defRPr>
            </a:lvl1pPr>
            <a:lvl2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1"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a:lstStyle>
          <a:p>
            <a:fld id="{B6F15528-21DE-4FAA-801E-634DDDAF4B2B}" type="slidenum">
              <a:rPr lang="x-none" sz="1200" smtClean="0">
                <a:solidFill>
                  <a:srgbClr val="5B9BD5"/>
                </a:solidFill>
              </a:rPr>
              <a:pPr/>
              <a:t>2</a:t>
            </a:fld>
            <a:endParaRPr lang="x-none" sz="1200" dirty="0">
              <a:solidFill>
                <a:srgbClr val="5B9BD5"/>
              </a:solidFill>
            </a:endParaRPr>
          </a:p>
        </p:txBody>
      </p:sp>
      <p:sp>
        <p:nvSpPr>
          <p:cNvPr id="16" name="Rectangle 15">
            <a:extLst>
              <a:ext uri="{FF2B5EF4-FFF2-40B4-BE49-F238E27FC236}">
                <a16:creationId xmlns:a16="http://schemas.microsoft.com/office/drawing/2014/main" id="{37F2D919-B871-CF0D-A0B6-CCEA0A4131A0}"/>
              </a:ext>
            </a:extLst>
          </p:cNvPr>
          <p:cNvSpPr/>
          <p:nvPr/>
        </p:nvSpPr>
        <p:spPr>
          <a:xfrm>
            <a:off x="685800" y="6324610"/>
            <a:ext cx="3991974" cy="40011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ar-SA" sz="1200" b="1" dirty="0">
                <a:solidFill>
                  <a:srgbClr val="7030A0"/>
                </a:solidFill>
                <a:latin typeface="Frutiger LT Arabic 45 Light" pitchFamily="2" charset="-78"/>
                <a:cs typeface="Frutiger LT Arabic 45 Light" pitchFamily="2" charset="-78"/>
              </a:rPr>
              <a:t>لجنة الاعتماد البرامجي | </a:t>
            </a:r>
            <a:r>
              <a:rPr lang="ar-SA" sz="1200" dirty="0">
                <a:solidFill>
                  <a:srgbClr val="5B9BD5"/>
                </a:solidFill>
                <a:latin typeface="Frutiger LT Arabic 45 Light" pitchFamily="2" charset="-78"/>
                <a:cs typeface="Frutiger LT Arabic 45 Light" pitchFamily="2" charset="-78"/>
              </a:rPr>
              <a:t>اجتماع الانطلاق</a:t>
            </a:r>
            <a:endParaRPr lang="en-SA" sz="1200" dirty="0">
              <a:solidFill>
                <a:srgbClr val="5B9BD5"/>
              </a:solidFill>
              <a:latin typeface="Frutiger LT Arabic 45 Light" pitchFamily="2" charset="-78"/>
              <a:cs typeface="Frutiger LT Arabic 45 Light" pitchFamily="2" charset="-78"/>
            </a:endParaRPr>
          </a:p>
        </p:txBody>
      </p:sp>
      <p:sp>
        <p:nvSpPr>
          <p:cNvPr id="300" name="nx0"/>
          <p:cNvSpPr/>
          <p:nvPr/>
        </p:nvSpPr>
        <p:spPr>
          <a:xfrm>
            <a:off x="1097280" y="1463040"/>
            <a:ext cx="10652760" cy="841248"/>
          </a:xfrm>
          <a:prstGeom prst="roundRect">
            <a:avLst>
              <a:gd name="adj" fmla="val 13043"/>
            </a:avLst>
          </a:prstGeom>
          <a:solidFill>
            <a:srgbClr val="EEF4FA"/>
          </a:solidFill>
          <a:ln w="12700">
            <a:solidFill>
              <a:srgbClr val="EEF4FA"/>
            </a:solidFill>
            <a:prstDash val="solid"/>
          </a:ln>
          <a:effectLst>
            <a:outerShdw sx="100000" sy="100000" kx="0" ky="0" algn="bl" rotWithShape="0" blurRad="76200" dist="25400" dir="5400000">
              <a:srgbClr val="9AA8C0">
                <a:alpha val="25000"/>
              </a:srgbClr>
            </a:outerShdw>
          </a:effectLst>
        </p:spPr>
      </p:sp>
      <p:sp>
        <p:nvSpPr>
          <p:cNvPr id="301" name="nxc0"/>
          <p:cNvSpPr/>
          <p:nvPr/>
        </p:nvSpPr>
        <p:spPr>
          <a:xfrm>
            <a:off x="10881360" y="1581912"/>
            <a:ext cx="603504" cy="603504"/>
          </a:xfrm>
          <a:prstGeom prst="ellipse">
            <a:avLst/>
          </a:prstGeom>
          <a:solidFill>
            <a:srgbClr val="00A3C4"/>
          </a:solidFill>
          <a:ln w="12700">
            <a:solidFill>
              <a:srgbClr val="00A3C4"/>
            </a:solidFill>
            <a:prstDash val="solid"/>
          </a:ln>
        </p:spPr>
      </p:sp>
      <p:sp>
        <p:nvSpPr>
          <p:cNvPr id="302" name="Text 3"/>
          <p:cNvSpPr txBox="1"/>
          <p:nvPr/>
        </p:nvSpPr>
        <p:spPr>
          <a:xfrm>
            <a:off x="10881360" y="1581912"/>
            <a:ext cx="603504" cy="603504"/>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303" name="Text 4"/>
          <p:cNvSpPr txBox="1"/>
          <p:nvPr/>
        </p:nvSpPr>
        <p:spPr>
          <a:xfrm>
            <a:off x="3291840" y="1463040"/>
            <a:ext cx="7406640" cy="841248"/>
          </a:xfrm>
          <a:prstGeom prst="rect">
            <a:avLst/>
          </a:prstGeom>
          <a:noFill/>
          <a:ln/>
        </p:spPr>
        <p:txBody>
          <a:bodyPr wrap="square" lIns="0" tIns="0" rIns="0" bIns="0" rtlCol="0" anchor="ctr"/>
          <a:lstStyle/>
          <a:p>
            <a:pPr rtl="1" algn="r" indent="0" marL="0">
              <a:buNone/>
            </a:pPr>
            <a:r>
              <a:rPr lang="en-US" sz="1900" b="1" dirty="0">
                <a:solidFill>
                  <a:srgbClr val="1B2540"/>
                </a:solidFill>
                <a:latin typeface="Arial" pitchFamily="34" charset="0"/>
                <a:ea typeface="Arial" pitchFamily="34" charset="-122"/>
                <a:cs typeface="Arial" pitchFamily="34" charset="-120"/>
              </a:rPr>
              <a:t>استلام رابط الملف المشترك والمستودع</a:t>
            </a:r>
            <a:endParaRPr lang="en-US" sz="1900" dirty="0"/>
          </a:p>
        </p:txBody>
      </p:sp>
      <p:sp>
        <p:nvSpPr>
          <p:cNvPr id="304" name="when0"/>
          <p:cNvSpPr/>
          <p:nvPr/>
        </p:nvSpPr>
        <p:spPr>
          <a:xfrm>
            <a:off x="1325880" y="1682496"/>
            <a:ext cx="1828800" cy="402336"/>
          </a:xfrm>
          <a:prstGeom prst="roundRect">
            <a:avLst>
              <a:gd name="adj" fmla="val 50000"/>
            </a:avLst>
          </a:prstGeom>
          <a:solidFill>
            <a:srgbClr val="00A3C4"/>
          </a:solidFill>
          <a:ln w="12700">
            <a:solidFill>
              <a:srgbClr val="00A3C4"/>
            </a:solidFill>
            <a:prstDash val="solid"/>
          </a:ln>
        </p:spPr>
      </p:sp>
      <p:sp>
        <p:nvSpPr>
          <p:cNvPr id="305" name="Text 6"/>
          <p:cNvSpPr txBox="1"/>
          <p:nvPr/>
        </p:nvSpPr>
        <p:spPr>
          <a:xfrm>
            <a:off x="1325880" y="1682496"/>
            <a:ext cx="1828800" cy="402336"/>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هذا الأسبوع</a:t>
            </a:r>
            <a:endParaRPr lang="en-US" sz="1300" dirty="0"/>
          </a:p>
        </p:txBody>
      </p:sp>
      <p:sp>
        <p:nvSpPr>
          <p:cNvPr id="306" name="nx1"/>
          <p:cNvSpPr/>
          <p:nvPr/>
        </p:nvSpPr>
        <p:spPr>
          <a:xfrm>
            <a:off x="1097280" y="2487168"/>
            <a:ext cx="10652760" cy="841248"/>
          </a:xfrm>
          <a:prstGeom prst="roundRect">
            <a:avLst>
              <a:gd name="adj" fmla="val 13043"/>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07" name="nxc1"/>
          <p:cNvSpPr/>
          <p:nvPr/>
        </p:nvSpPr>
        <p:spPr>
          <a:xfrm>
            <a:off x="10881360" y="2606040"/>
            <a:ext cx="603504" cy="603504"/>
          </a:xfrm>
          <a:prstGeom prst="ellipse">
            <a:avLst/>
          </a:prstGeom>
          <a:solidFill>
            <a:srgbClr val="0072BC"/>
          </a:solidFill>
          <a:ln w="12700">
            <a:solidFill>
              <a:srgbClr val="0072BC"/>
            </a:solidFill>
            <a:prstDash val="solid"/>
          </a:ln>
        </p:spPr>
      </p:sp>
      <p:sp>
        <p:nvSpPr>
          <p:cNvPr id="308" name="Text 9"/>
          <p:cNvSpPr txBox="1"/>
          <p:nvPr/>
        </p:nvSpPr>
        <p:spPr>
          <a:xfrm>
            <a:off x="10881360" y="2606040"/>
            <a:ext cx="603504" cy="603504"/>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309" name="Text 10"/>
          <p:cNvSpPr txBox="1"/>
          <p:nvPr/>
        </p:nvSpPr>
        <p:spPr>
          <a:xfrm>
            <a:off x="3291840" y="2487168"/>
            <a:ext cx="7406640" cy="841248"/>
          </a:xfrm>
          <a:prstGeom prst="rect">
            <a:avLst/>
          </a:prstGeom>
          <a:noFill/>
          <a:ln/>
        </p:spPr>
        <p:txBody>
          <a:bodyPr wrap="square" lIns="0" tIns="0" rIns="0" bIns="0" rtlCol="0" anchor="ctr"/>
          <a:lstStyle/>
          <a:p>
            <a:pPr rtl="1" algn="r" indent="0" marL="0">
              <a:buNone/>
            </a:pPr>
            <a:r>
              <a:rPr lang="en-US" sz="1900" b="1" dirty="0">
                <a:solidFill>
                  <a:srgbClr val="1B2540"/>
                </a:solidFill>
                <a:latin typeface="Arial" pitchFamily="34" charset="0"/>
                <a:ea typeface="Arial" pitchFamily="34" charset="-122"/>
                <a:cs typeface="Arial" pitchFamily="34" charset="-120"/>
              </a:rPr>
              <a:t>الاطلاع على آلية الفحص وورقة أمثلة التصنيف</a:t>
            </a:r>
            <a:endParaRPr lang="en-US" sz="1900" dirty="0"/>
          </a:p>
        </p:txBody>
      </p:sp>
      <p:sp>
        <p:nvSpPr>
          <p:cNvPr id="310" name="when1"/>
          <p:cNvSpPr/>
          <p:nvPr/>
        </p:nvSpPr>
        <p:spPr>
          <a:xfrm>
            <a:off x="1325880" y="2706624"/>
            <a:ext cx="1828800" cy="402336"/>
          </a:xfrm>
          <a:prstGeom prst="roundRect">
            <a:avLst>
              <a:gd name="adj" fmla="val 50000"/>
            </a:avLst>
          </a:prstGeom>
          <a:solidFill>
            <a:srgbClr val="0072BC"/>
          </a:solidFill>
          <a:ln w="12700">
            <a:solidFill>
              <a:srgbClr val="0072BC"/>
            </a:solidFill>
            <a:prstDash val="solid"/>
          </a:ln>
        </p:spPr>
      </p:sp>
      <p:sp>
        <p:nvSpPr>
          <p:cNvPr id="311" name="Text 12"/>
          <p:cNvSpPr txBox="1"/>
          <p:nvPr/>
        </p:nvSpPr>
        <p:spPr>
          <a:xfrm>
            <a:off x="1325880" y="2706624"/>
            <a:ext cx="1828800" cy="402336"/>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هذا الأسبوع</a:t>
            </a:r>
            <a:endParaRPr lang="en-US" sz="1300" dirty="0"/>
          </a:p>
        </p:txBody>
      </p:sp>
      <p:sp>
        <p:nvSpPr>
          <p:cNvPr id="312" name="nx2"/>
          <p:cNvSpPr/>
          <p:nvPr/>
        </p:nvSpPr>
        <p:spPr>
          <a:xfrm>
            <a:off x="1097280" y="3511296"/>
            <a:ext cx="10652760" cy="841248"/>
          </a:xfrm>
          <a:prstGeom prst="roundRect">
            <a:avLst>
              <a:gd name="adj" fmla="val 13043"/>
            </a:avLst>
          </a:prstGeom>
          <a:solidFill>
            <a:srgbClr val="EEF4FA"/>
          </a:solidFill>
          <a:ln w="12700">
            <a:solidFill>
              <a:srgbClr val="EEF4FA"/>
            </a:solidFill>
            <a:prstDash val="solid"/>
          </a:ln>
          <a:effectLst>
            <a:outerShdw sx="100000" sy="100000" kx="0" ky="0" algn="bl" rotWithShape="0" blurRad="76200" dist="25400" dir="5400000">
              <a:srgbClr val="9AA8C0">
                <a:alpha val="25000"/>
              </a:srgbClr>
            </a:outerShdw>
          </a:effectLst>
        </p:spPr>
      </p:sp>
      <p:sp>
        <p:nvSpPr>
          <p:cNvPr id="313" name="nxc2"/>
          <p:cNvSpPr/>
          <p:nvPr/>
        </p:nvSpPr>
        <p:spPr>
          <a:xfrm>
            <a:off x="10881360" y="3630168"/>
            <a:ext cx="603504" cy="603504"/>
          </a:xfrm>
          <a:prstGeom prst="ellipse">
            <a:avLst/>
          </a:prstGeom>
          <a:solidFill>
            <a:srgbClr val="5E2B91"/>
          </a:solidFill>
          <a:ln w="12700">
            <a:solidFill>
              <a:srgbClr val="5E2B91"/>
            </a:solidFill>
            <a:prstDash val="solid"/>
          </a:ln>
        </p:spPr>
      </p:sp>
      <p:sp>
        <p:nvSpPr>
          <p:cNvPr id="314" name="Text 15"/>
          <p:cNvSpPr txBox="1"/>
          <p:nvPr/>
        </p:nvSpPr>
        <p:spPr>
          <a:xfrm>
            <a:off x="10881360" y="3630168"/>
            <a:ext cx="603504" cy="603504"/>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315" name="Text 16"/>
          <p:cNvSpPr txBox="1"/>
          <p:nvPr/>
        </p:nvSpPr>
        <p:spPr>
          <a:xfrm>
            <a:off x="3291840" y="3511296"/>
            <a:ext cx="7406640" cy="841248"/>
          </a:xfrm>
          <a:prstGeom prst="rect">
            <a:avLst/>
          </a:prstGeom>
          <a:noFill/>
          <a:ln/>
        </p:spPr>
        <p:txBody>
          <a:bodyPr wrap="square" lIns="0" tIns="0" rIns="0" bIns="0" rtlCol="0" anchor="ctr"/>
          <a:lstStyle/>
          <a:p>
            <a:pPr rtl="1" algn="r" indent="0" marL="0">
              <a:buNone/>
            </a:pPr>
            <a:r>
              <a:rPr lang="en-US" sz="1900" b="1" dirty="0">
                <a:solidFill>
                  <a:srgbClr val="1B2540"/>
                </a:solidFill>
                <a:latin typeface="Arial" pitchFamily="34" charset="0"/>
                <a:ea typeface="Arial" pitchFamily="34" charset="-122"/>
                <a:cs typeface="Arial" pitchFamily="34" charset="-120"/>
              </a:rPr>
              <a:t>اعتماد نظام ترميز الأدلة (د. عبدالله البركاتي)</a:t>
            </a:r>
            <a:endParaRPr lang="en-US" sz="1900" dirty="0"/>
          </a:p>
        </p:txBody>
      </p:sp>
      <p:sp>
        <p:nvSpPr>
          <p:cNvPr id="316" name="when2"/>
          <p:cNvSpPr/>
          <p:nvPr/>
        </p:nvSpPr>
        <p:spPr>
          <a:xfrm>
            <a:off x="1325880" y="3730752"/>
            <a:ext cx="1828800" cy="402336"/>
          </a:xfrm>
          <a:prstGeom prst="roundRect">
            <a:avLst>
              <a:gd name="adj" fmla="val 50000"/>
            </a:avLst>
          </a:prstGeom>
          <a:solidFill>
            <a:srgbClr val="5E2B91"/>
          </a:solidFill>
          <a:ln w="12700">
            <a:solidFill>
              <a:srgbClr val="5E2B91"/>
            </a:solidFill>
            <a:prstDash val="solid"/>
          </a:ln>
        </p:spPr>
      </p:sp>
      <p:sp>
        <p:nvSpPr>
          <p:cNvPr id="317" name="Text 18"/>
          <p:cNvSpPr txBox="1"/>
          <p:nvPr/>
        </p:nvSpPr>
        <p:spPr>
          <a:xfrm>
            <a:off x="1325880" y="3730752"/>
            <a:ext cx="1828800" cy="402336"/>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قبل نهاية الأسبوع</a:t>
            </a:r>
            <a:endParaRPr lang="en-US" sz="1300" dirty="0"/>
          </a:p>
        </p:txBody>
      </p:sp>
      <p:sp>
        <p:nvSpPr>
          <p:cNvPr id="318" name="nx3"/>
          <p:cNvSpPr/>
          <p:nvPr/>
        </p:nvSpPr>
        <p:spPr>
          <a:xfrm>
            <a:off x="1097280" y="4535424"/>
            <a:ext cx="10652760" cy="841248"/>
          </a:xfrm>
          <a:prstGeom prst="roundRect">
            <a:avLst>
              <a:gd name="adj" fmla="val 13043"/>
            </a:avLst>
          </a:prstGeom>
          <a:solidFill>
            <a:srgbClr val="FFFFFF"/>
          </a:solidFill>
          <a:ln w="12700">
            <a:solidFill>
              <a:srgbClr val="FFFFFF"/>
            </a:solidFill>
            <a:prstDash val="solid"/>
          </a:ln>
          <a:effectLst>
            <a:outerShdw sx="100000" sy="100000" kx="0" ky="0" algn="bl" rotWithShape="0" blurRad="76200" dist="25400" dir="5400000">
              <a:srgbClr val="9AA8C0">
                <a:alpha val="25000"/>
              </a:srgbClr>
            </a:outerShdw>
          </a:effectLst>
        </p:spPr>
      </p:sp>
      <p:sp>
        <p:nvSpPr>
          <p:cNvPr id="319" name="nxc3"/>
          <p:cNvSpPr/>
          <p:nvPr/>
        </p:nvSpPr>
        <p:spPr>
          <a:xfrm>
            <a:off x="10881360" y="4654296"/>
            <a:ext cx="603504" cy="603504"/>
          </a:xfrm>
          <a:prstGeom prst="ellipse">
            <a:avLst/>
          </a:prstGeom>
          <a:solidFill>
            <a:srgbClr val="0A1B6E"/>
          </a:solidFill>
          <a:ln w="12700">
            <a:solidFill>
              <a:srgbClr val="0A1B6E"/>
            </a:solidFill>
            <a:prstDash val="solid"/>
          </a:ln>
        </p:spPr>
      </p:sp>
      <p:sp>
        <p:nvSpPr>
          <p:cNvPr id="320" name="Text 21"/>
          <p:cNvSpPr txBox="1"/>
          <p:nvPr/>
        </p:nvSpPr>
        <p:spPr>
          <a:xfrm>
            <a:off x="10881360" y="4654296"/>
            <a:ext cx="603504" cy="603504"/>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321" name="Text 22"/>
          <p:cNvSpPr txBox="1"/>
          <p:nvPr/>
        </p:nvSpPr>
        <p:spPr>
          <a:xfrm>
            <a:off x="3291840" y="4535424"/>
            <a:ext cx="7406640" cy="841248"/>
          </a:xfrm>
          <a:prstGeom prst="rect">
            <a:avLst/>
          </a:prstGeom>
          <a:noFill/>
          <a:ln/>
        </p:spPr>
        <p:txBody>
          <a:bodyPr wrap="square" lIns="0" tIns="0" rIns="0" bIns="0" rtlCol="0" anchor="ctr"/>
          <a:lstStyle/>
          <a:p>
            <a:pPr rtl="1" algn="r" indent="0" marL="0">
              <a:buNone/>
            </a:pPr>
            <a:r>
              <a:rPr lang="en-US" sz="1900" b="1" dirty="0">
                <a:solidFill>
                  <a:srgbClr val="1B2540"/>
                </a:solidFill>
                <a:latin typeface="Arial" pitchFamily="34" charset="0"/>
                <a:ea typeface="Arial" pitchFamily="34" charset="-122"/>
                <a:cs typeface="Arial" pitchFamily="34" charset="-120"/>
              </a:rPr>
              <a:t>البدء بجمع الأدلة وتقييمها في أوراق الفحص</a:t>
            </a:r>
            <a:endParaRPr lang="en-US" sz="1900" dirty="0"/>
          </a:p>
        </p:txBody>
      </p:sp>
      <p:sp>
        <p:nvSpPr>
          <p:cNvPr id="322" name="when3"/>
          <p:cNvSpPr/>
          <p:nvPr/>
        </p:nvSpPr>
        <p:spPr>
          <a:xfrm>
            <a:off x="1325880" y="4754880"/>
            <a:ext cx="1828800" cy="402336"/>
          </a:xfrm>
          <a:prstGeom prst="roundRect">
            <a:avLst>
              <a:gd name="adj" fmla="val 50000"/>
            </a:avLst>
          </a:prstGeom>
          <a:solidFill>
            <a:srgbClr val="0A1B6E"/>
          </a:solidFill>
          <a:ln w="12700">
            <a:solidFill>
              <a:srgbClr val="0A1B6E"/>
            </a:solidFill>
            <a:prstDash val="solid"/>
          </a:ln>
        </p:spPr>
      </p:sp>
      <p:sp>
        <p:nvSpPr>
          <p:cNvPr id="323" name="Text 24"/>
          <p:cNvSpPr txBox="1"/>
          <p:nvPr/>
        </p:nvSpPr>
        <p:spPr>
          <a:xfrm>
            <a:off x="1325880" y="4754880"/>
            <a:ext cx="1828800" cy="402336"/>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من الأسبوع الثاني</a:t>
            </a:r>
            <a:endParaRPr lang="en-US" sz="1300" dirty="0"/>
          </a:p>
        </p:txBody>
      </p:sp>
    </p:spTree>
    <p:extLst>
      <p:ext uri="{BB962C8B-B14F-4D97-AF65-F5344CB8AC3E}">
        <p14:creationId xmlns:p14="http://schemas.microsoft.com/office/powerpoint/2010/main" val="2894989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72BBACC-7332-454F-9CDB-841FF7E36723}"/>
              </a:ext>
            </a:extLst>
          </p:cNvPr>
          <p:cNvSpPr txBox="1"/>
          <p:nvPr/>
        </p:nvSpPr>
        <p:spPr>
          <a:xfrm>
            <a:off x="560831" y="3048000"/>
            <a:ext cx="5334000" cy="1323439"/>
          </a:xfrm>
          <a:prstGeom prst="rect">
            <a:avLst/>
          </a:prstGeom>
          <a:noFill/>
        </p:spPr>
        <p:txBody>
          <a:bodyPr wrap="square" rtlCol="0">
            <a:spAutoFit/>
          </a:bodyPr>
          <a:lstStyle/>
          <a:p>
            <a:pPr marL="0" algn="ctr" defTabSz="914400" rtl="1" eaLnBrk="1" latinLnBrk="0" hangingPunct="1"/>
            <a:r>
              <a:rPr lang="ar-SA" sz="8000" dirty="0">
                <a:solidFill>
                  <a:schemeClr val="bg1"/>
                </a:solidFill>
                <a:latin typeface="Frutiger LT Arabic 45 Light" panose="01000000000000000000" pitchFamily="2" charset="-78"/>
                <a:cs typeface="Frutiger LT Arabic 45 Light" panose="01000000000000000000" pitchFamily="2" charset="-78"/>
              </a:rPr>
              <a:t>شُكْرًا </a:t>
            </a:r>
          </a:p>
        </p:txBody>
      </p:sp>
    </p:spTree>
    <p:extLst>
      <p:ext uri="{BB962C8B-B14F-4D97-AF65-F5344CB8AC3E}">
        <p14:creationId xmlns:p14="http://schemas.microsoft.com/office/powerpoint/2010/main" val="3063023257"/>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1169A6BC-92FD-564D-94DF-45D574C55F7F}" vid="{B3970849-249C-EE49-BEE9-8DBBEEA6A49E}"/>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Theme1</Template>
  <TotalTime>19031</TotalTime>
  <Words>402</Words>
  <Application>Microsoft Macintosh PowerPoint</Application>
  <PresentationFormat>Widescreen</PresentationFormat>
  <Paragraphs>143</Paragraphs>
  <Slides>6</Slides>
  <Notes>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vt:i4>
      </vt:variant>
    </vt:vector>
  </HeadingPairs>
  <TitlesOfParts>
    <vt:vector size="16" baseType="lpstr">
      <vt:lpstr>Aptos Display</vt:lpstr>
      <vt:lpstr>Arial</vt:lpstr>
      <vt:lpstr>Calibri</vt:lpstr>
      <vt:lpstr>Calibri Light</vt:lpstr>
      <vt:lpstr>Frutiger LT Arabic 45 Light</vt:lpstr>
      <vt:lpstr>Frutiger LT Arabic 55 Roman</vt:lpstr>
      <vt:lpstr>Sakkal Majalla</vt:lpstr>
      <vt:lpstr>Theme1</vt:lpstr>
      <vt:lpstr>Custom Design</vt:lpstr>
      <vt:lpstr>1_Custom Design</vt:lpstr>
      <vt:lpstr>اجتماع سعادة عميد كليه الحوسبة والمعلوماتية مع طلبة  البكالوريوس والماجستير</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Nouf AlOmair</dc:creator>
  <cp:lastModifiedBy>نهلة سعد عويض القثامي</cp:lastModifiedBy>
  <cp:revision>348</cp:revision>
  <cp:lastPrinted>2024-01-21T08:08:55Z</cp:lastPrinted>
  <dcterms:created xsi:type="dcterms:W3CDTF">2022-01-03T21:34:47Z</dcterms:created>
  <dcterms:modified xsi:type="dcterms:W3CDTF">2026-10-26T07:50:57Z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2021-11-18T00:00:00Z</vt:filetime>
  </property>
  <property fmtid="{D5CDD505-2E9C-101B-9397-08002B2CF9AE}" pid="3" name="Creator">
    <vt:lpwstr>Microsoft® PowerPoint® for Microsoft 365</vt:lpwstr>
  </property>
  <property fmtid="{D5CDD505-2E9C-101B-9397-08002B2CF9AE}" pid="4" name="LastSaved">
    <vt:filetime>2022-01-03T00:00:00Z</vt:filetime>
  </property>
  <property fmtid="{D5CDD505-2E9C-101B-9397-08002B2CF9AE}" pid="5" name="MSIP_Label_b437834d-a884-421a-b14d-4e9522201396_Enabled">
    <vt:lpwstr>true</vt:lpwstr>
  </property>
  <property fmtid="{D5CDD505-2E9C-101B-9397-08002B2CF9AE}" pid="6" name="MSIP_Label_b437834d-a884-421a-b14d-4e9522201396_SetDate">
    <vt:lpwstr>2024-08-25T18:28:02Z</vt:lpwstr>
  </property>
  <property fmtid="{D5CDD505-2E9C-101B-9397-08002B2CF9AE}" pid="7" name="MSIP_Label_b437834d-a884-421a-b14d-4e9522201396_Method">
    <vt:lpwstr>Standard</vt:lpwstr>
  </property>
  <property fmtid="{D5CDD505-2E9C-101B-9397-08002B2CF9AE}" pid="8" name="MSIP_Label_b437834d-a884-421a-b14d-4e9522201396_Name">
    <vt:lpwstr>Data classification -not allowed</vt:lpwstr>
  </property>
  <property fmtid="{D5CDD505-2E9C-101B-9397-08002B2CF9AE}" pid="9" name="MSIP_Label_b437834d-a884-421a-b14d-4e9522201396_SiteId">
    <vt:lpwstr>1f00763a-1f87-473b-bba1-b6c746af03e4</vt:lpwstr>
  </property>
  <property fmtid="{D5CDD505-2E9C-101B-9397-08002B2CF9AE}" pid="10" name="MSIP_Label_b437834d-a884-421a-b14d-4e9522201396_ActionId">
    <vt:lpwstr>745b78b3-2df8-4d22-843f-9034ca73c1d3</vt:lpwstr>
  </property>
  <property fmtid="{D5CDD505-2E9C-101B-9397-08002B2CF9AE}" pid="11" name="MSIP_Label_b437834d-a884-421a-b14d-4e9522201396_ContentBits">
    <vt:lpwstr>2</vt:lpwstr>
  </property>
  <property fmtid="{D5CDD505-2E9C-101B-9397-08002B2CF9AE}" pid="12" name="ClassificationContentMarkingFooterLocations">
    <vt:lpwstr>Theme1:3\Custom Design:3\1_Custom Design:3</vt:lpwstr>
  </property>
  <property fmtid="{D5CDD505-2E9C-101B-9397-08002B2CF9AE}" pid="13" name="ClassificationContentMarkingFooterText">
    <vt:lpwstr>Restricted - مقيد </vt:lpwstr>
  </property>
</Properties>
</file>